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libri (MS) Bold" charset="1" panose="020F0702030404030204"/>
      <p:regular r:id="rId17"/>
    </p:embeddedFont>
    <p:embeddedFont>
      <p:font typeface="Georgia Bold" charset="1" panose="02040802050405020203"/>
      <p:regular r:id="rId18"/>
    </p:embeddedFont>
    <p:embeddedFont>
      <p:font typeface="TT Rounds Condensed Italics" charset="1" panose="02000506030000090003"/>
      <p:regular r:id="rId19"/>
    </p:embeddedFont>
    <p:embeddedFont>
      <p:font typeface="Calibri (MS)" charset="1" panose="020F0502020204030204"/>
      <p:regular r:id="rId20"/>
    </p:embeddedFont>
    <p:embeddedFont>
      <p:font typeface="TT Rounds Condensed" charset="1" panose="02000506030000020003"/>
      <p:regular r:id="rId22"/>
    </p:embeddedFont>
    <p:embeddedFont>
      <p:font typeface="Calibri (MS) Italics" charset="1" panose="020F05020202040A0204"/>
      <p:regular r:id="rId24"/>
    </p:embeddedFont>
    <p:embeddedFont>
      <p:font typeface="TT Rounds Condensed Bold" charset="1" panose="02000806030000020003"/>
      <p:regular r:id="rId25"/>
    </p:embeddedFont>
    <p:embeddedFont>
      <p:font typeface="TT Rounds Condensed Bold Italics" charset="1" panose="020008060300000900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fonts/font22.fntdata" Type="http://schemas.openxmlformats.org/officeDocument/2006/relationships/font"/><Relationship Id="rId23" Target="notesSlides/notesSlide3.xml" Type="http://schemas.openxmlformats.org/officeDocument/2006/relationships/notesSlide"/><Relationship Id="rId24" Target="fonts/font24.fntdata" Type="http://schemas.openxmlformats.org/officeDocument/2006/relationships/font"/><Relationship Id="rId25" Target="fonts/font25.fntdata" Type="http://schemas.openxmlformats.org/officeDocument/2006/relationships/font"/><Relationship Id="rId26" Target="notesSlides/notesSlide4.xml" Type="http://schemas.openxmlformats.org/officeDocument/2006/relationships/notesSlide"/><Relationship Id="rId27" Target="notesSlides/notesSlide5.xml" Type="http://schemas.openxmlformats.org/officeDocument/2006/relationships/notesSlide"/><Relationship Id="rId28" Target="notesSlides/notesSlide6.xml" Type="http://schemas.openxmlformats.org/officeDocument/2006/relationships/notesSlide"/><Relationship Id="rId29" Target="fonts/font29.fntdata" Type="http://schemas.openxmlformats.org/officeDocument/2006/relationships/font"/><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 Id="rId4"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B4332"/>
        </a:solidFill>
      </p:bgPr>
    </p:bg>
    <p:spTree>
      <p:nvGrpSpPr>
        <p:cNvPr id="1" name=""/>
        <p:cNvGrpSpPr/>
        <p:nvPr/>
      </p:nvGrpSpPr>
      <p:grpSpPr>
        <a:xfrm>
          <a:off x="0" y="0"/>
          <a:ext cx="0" cy="0"/>
          <a:chOff x="0" y="0"/>
          <a:chExt cx="0" cy="0"/>
        </a:xfrm>
      </p:grpSpPr>
      <p:grpSp>
        <p:nvGrpSpPr>
          <p:cNvPr name="Group 2" id="2"/>
          <p:cNvGrpSpPr/>
          <p:nvPr/>
        </p:nvGrpSpPr>
        <p:grpSpPr>
          <a:xfrm rot="0">
            <a:off x="1097280" y="2468880"/>
            <a:ext cx="548640" cy="109728"/>
            <a:chOff x="0" y="0"/>
            <a:chExt cx="731520" cy="146304"/>
          </a:xfrm>
        </p:grpSpPr>
        <p:sp>
          <p:nvSpPr>
            <p:cNvPr name="Freeform 3" id="3"/>
            <p:cNvSpPr/>
            <p:nvPr/>
          </p:nvSpPr>
          <p:spPr>
            <a:xfrm flipH="false" flipV="false" rot="0">
              <a:off x="0" y="0"/>
              <a:ext cx="731520" cy="146304"/>
            </a:xfrm>
            <a:custGeom>
              <a:avLst/>
              <a:gdLst/>
              <a:ahLst/>
              <a:cxnLst/>
              <a:rect r="r" b="b" t="t" l="l"/>
              <a:pathLst>
                <a:path h="146304" w="731520">
                  <a:moveTo>
                    <a:pt x="0" y="0"/>
                  </a:moveTo>
                  <a:lnTo>
                    <a:pt x="731520" y="0"/>
                  </a:lnTo>
                  <a:lnTo>
                    <a:pt x="731520" y="146304"/>
                  </a:lnTo>
                  <a:lnTo>
                    <a:pt x="0" y="146304"/>
                  </a:lnTo>
                  <a:close/>
                </a:path>
              </a:pathLst>
            </a:custGeom>
            <a:solidFill>
              <a:srgbClr val="F4A261"/>
            </a:solidFill>
          </p:spPr>
        </p:sp>
      </p:grpSp>
      <p:grpSp>
        <p:nvGrpSpPr>
          <p:cNvPr name="Group 4" id="4"/>
          <p:cNvGrpSpPr/>
          <p:nvPr/>
        </p:nvGrpSpPr>
        <p:grpSpPr>
          <a:xfrm rot="0">
            <a:off x="1097280" y="2743200"/>
            <a:ext cx="15087600" cy="548640"/>
            <a:chOff x="0" y="0"/>
            <a:chExt cx="20116800" cy="731520"/>
          </a:xfrm>
        </p:grpSpPr>
        <p:sp>
          <p:nvSpPr>
            <p:cNvPr name="Freeform 5" id="5"/>
            <p:cNvSpPr/>
            <p:nvPr/>
          </p:nvSpPr>
          <p:spPr>
            <a:xfrm flipH="false" flipV="false" rot="0">
              <a:off x="0" y="0"/>
              <a:ext cx="20116800" cy="731520"/>
            </a:xfrm>
            <a:custGeom>
              <a:avLst/>
              <a:gdLst/>
              <a:ahLst/>
              <a:cxnLst/>
              <a:rect r="r" b="b" t="t" l="l"/>
              <a:pathLst>
                <a:path h="731520" w="20116800">
                  <a:moveTo>
                    <a:pt x="0" y="0"/>
                  </a:moveTo>
                  <a:lnTo>
                    <a:pt x="20116800" y="0"/>
                  </a:lnTo>
                  <a:lnTo>
                    <a:pt x="20116800" y="731520"/>
                  </a:lnTo>
                  <a:lnTo>
                    <a:pt x="0" y="731520"/>
                  </a:lnTo>
                  <a:close/>
                </a:path>
              </a:pathLst>
            </a:custGeom>
            <a:blipFill>
              <a:blip r:embed="rId3">
                <a:alphaModFix amt="0"/>
              </a:blip>
              <a:stretch>
                <a:fillRect l="0" t="-485838" r="0" b="-485838"/>
              </a:stretch>
            </a:blipFill>
          </p:spPr>
        </p:sp>
        <p:sp>
          <p:nvSpPr>
            <p:cNvPr name="TextBox 6" id="6"/>
            <p:cNvSpPr txBox="true"/>
            <p:nvPr/>
          </p:nvSpPr>
          <p:spPr>
            <a:xfrm>
              <a:off x="0" y="-47625"/>
              <a:ext cx="20116800" cy="779145"/>
            </a:xfrm>
            <a:prstGeom prst="rect">
              <a:avLst/>
            </a:prstGeom>
          </p:spPr>
          <p:txBody>
            <a:bodyPr anchor="ctr" rtlCol="false" tIns="0" lIns="0" bIns="0" rIns="0"/>
            <a:lstStyle/>
            <a:p>
              <a:pPr algn="l">
                <a:lnSpc>
                  <a:spcPts val="2340"/>
                </a:lnSpc>
              </a:pPr>
              <a:r>
                <a:rPr lang="en-US" b="true" sz="1950" spc="600">
                  <a:solidFill>
                    <a:srgbClr val="F4A261"/>
                  </a:solidFill>
                  <a:latin typeface="Calibri (MS) Bold"/>
                  <a:ea typeface="Calibri (MS) Bold"/>
                  <a:cs typeface="Calibri (MS) Bold"/>
                  <a:sym typeface="Calibri (MS) Bold"/>
                </a:rPr>
                <a:t>CASE STUDY  ·  DATA &amp; GROWTH ENGINEER</a:t>
              </a:r>
            </a:p>
          </p:txBody>
        </p:sp>
      </p:grpSp>
      <p:grpSp>
        <p:nvGrpSpPr>
          <p:cNvPr name="Group 7" id="7"/>
          <p:cNvGrpSpPr/>
          <p:nvPr/>
        </p:nvGrpSpPr>
        <p:grpSpPr>
          <a:xfrm rot="0">
            <a:off x="1097280" y="3429000"/>
            <a:ext cx="15773400" cy="1508760"/>
            <a:chOff x="0" y="0"/>
            <a:chExt cx="21031200" cy="2011680"/>
          </a:xfrm>
        </p:grpSpPr>
        <p:sp>
          <p:nvSpPr>
            <p:cNvPr name="Freeform 8" id="8"/>
            <p:cNvSpPr/>
            <p:nvPr/>
          </p:nvSpPr>
          <p:spPr>
            <a:xfrm flipH="false" flipV="false" rot="0">
              <a:off x="0" y="0"/>
              <a:ext cx="21031200" cy="2011680"/>
            </a:xfrm>
            <a:custGeom>
              <a:avLst/>
              <a:gdLst/>
              <a:ahLst/>
              <a:cxnLst/>
              <a:rect r="r" b="b" t="t" l="l"/>
              <a:pathLst>
                <a:path h="2011680" w="21031200">
                  <a:moveTo>
                    <a:pt x="0" y="0"/>
                  </a:moveTo>
                  <a:lnTo>
                    <a:pt x="21031200" y="0"/>
                  </a:lnTo>
                  <a:lnTo>
                    <a:pt x="21031200" y="2011680"/>
                  </a:lnTo>
                  <a:lnTo>
                    <a:pt x="0" y="2011680"/>
                  </a:lnTo>
                  <a:close/>
                </a:path>
              </a:pathLst>
            </a:custGeom>
            <a:blipFill>
              <a:blip r:embed="rId3">
                <a:alphaModFix amt="0"/>
              </a:blip>
              <a:stretch>
                <a:fillRect l="0" t="-153707" r="0" b="-153707"/>
              </a:stretch>
            </a:blipFill>
          </p:spPr>
        </p:sp>
        <p:sp>
          <p:nvSpPr>
            <p:cNvPr name="TextBox 9" id="9"/>
            <p:cNvSpPr txBox="true"/>
            <p:nvPr/>
          </p:nvSpPr>
          <p:spPr>
            <a:xfrm>
              <a:off x="0" y="0"/>
              <a:ext cx="21031200" cy="2011680"/>
            </a:xfrm>
            <a:prstGeom prst="rect">
              <a:avLst/>
            </a:prstGeom>
          </p:spPr>
          <p:txBody>
            <a:bodyPr anchor="ctr" rtlCol="false" tIns="0" lIns="0" bIns="0" rIns="0"/>
            <a:lstStyle/>
            <a:p>
              <a:pPr algn="l">
                <a:lnSpc>
                  <a:spcPts val="10080"/>
                </a:lnSpc>
              </a:pPr>
              <a:r>
                <a:rPr lang="en-US" sz="8400" b="true">
                  <a:solidFill>
                    <a:srgbClr val="FFFFFF"/>
                  </a:solidFill>
                  <a:latin typeface="Georgia Bold"/>
                  <a:ea typeface="Georgia Bold"/>
                  <a:cs typeface="Georgia Bold"/>
                  <a:sym typeface="Georgia Bold"/>
                </a:rPr>
                <a:t>Dental Bright → Norway</a:t>
              </a:r>
            </a:p>
          </p:txBody>
        </p:sp>
      </p:grpSp>
      <p:grpSp>
        <p:nvGrpSpPr>
          <p:cNvPr name="Group 10" id="10"/>
          <p:cNvGrpSpPr/>
          <p:nvPr/>
        </p:nvGrpSpPr>
        <p:grpSpPr>
          <a:xfrm rot="0">
            <a:off x="1097280" y="5074920"/>
            <a:ext cx="15773400" cy="822960"/>
            <a:chOff x="0" y="0"/>
            <a:chExt cx="21031200" cy="1097280"/>
          </a:xfrm>
        </p:grpSpPr>
        <p:sp>
          <p:nvSpPr>
            <p:cNvPr name="Freeform 11" id="11"/>
            <p:cNvSpPr/>
            <p:nvPr/>
          </p:nvSpPr>
          <p:spPr>
            <a:xfrm flipH="false" flipV="false" rot="0">
              <a:off x="0" y="0"/>
              <a:ext cx="21031200" cy="1097280"/>
            </a:xfrm>
            <a:custGeom>
              <a:avLst/>
              <a:gdLst/>
              <a:ahLst/>
              <a:cxnLst/>
              <a:rect r="r" b="b" t="t" l="l"/>
              <a:pathLst>
                <a:path h="1097280" w="21031200">
                  <a:moveTo>
                    <a:pt x="0" y="0"/>
                  </a:moveTo>
                  <a:lnTo>
                    <a:pt x="21031200" y="0"/>
                  </a:lnTo>
                  <a:lnTo>
                    <a:pt x="21031200" y="1097280"/>
                  </a:lnTo>
                  <a:lnTo>
                    <a:pt x="0" y="1097280"/>
                  </a:lnTo>
                  <a:close/>
                </a:path>
              </a:pathLst>
            </a:custGeom>
            <a:blipFill>
              <a:blip r:embed="rId3">
                <a:alphaModFix amt="0"/>
              </a:blip>
              <a:stretch>
                <a:fillRect l="0" t="-323463" r="0" b="-323463"/>
              </a:stretch>
            </a:blipFill>
          </p:spPr>
        </p:sp>
        <p:sp>
          <p:nvSpPr>
            <p:cNvPr name="TextBox 12" id="12"/>
            <p:cNvSpPr txBox="true"/>
            <p:nvPr/>
          </p:nvSpPr>
          <p:spPr>
            <a:xfrm>
              <a:off x="0" y="0"/>
              <a:ext cx="21031200" cy="1097280"/>
            </a:xfrm>
            <a:prstGeom prst="rect">
              <a:avLst/>
            </a:prstGeom>
          </p:spPr>
          <p:txBody>
            <a:bodyPr anchor="ctr" rtlCol="false" tIns="0" lIns="0" bIns="0" rIns="0"/>
            <a:lstStyle/>
            <a:p>
              <a:pPr algn="l">
                <a:lnSpc>
                  <a:spcPts val="3960"/>
                </a:lnSpc>
              </a:pPr>
              <a:r>
                <a:rPr lang="en-US" sz="3300" i="true" spc="-20">
                  <a:solidFill>
                    <a:srgbClr val="D8F3DC"/>
                  </a:solidFill>
                  <a:latin typeface="TT Rounds Condensed Italics"/>
                  <a:ea typeface="TT Rounds Condensed Italics"/>
                  <a:cs typeface="TT Rounds Condensed Italics"/>
                  <a:sym typeface="TT Rounds Condensed Italics"/>
                </a:rPr>
                <a:t>Three Google Search campaigns to €1k/day at 1.5× ROAS</a:t>
              </a:r>
            </a:p>
          </p:txBody>
        </p:sp>
      </p:grpSp>
      <p:grpSp>
        <p:nvGrpSpPr>
          <p:cNvPr name="Group 13" id="13"/>
          <p:cNvGrpSpPr/>
          <p:nvPr/>
        </p:nvGrpSpPr>
        <p:grpSpPr>
          <a:xfrm rot="0">
            <a:off x="1097280" y="7132320"/>
            <a:ext cx="3429000" cy="960120"/>
            <a:chOff x="0" y="0"/>
            <a:chExt cx="4572000" cy="1280160"/>
          </a:xfrm>
        </p:grpSpPr>
        <p:sp>
          <p:nvSpPr>
            <p:cNvPr name="Freeform 14" id="14"/>
            <p:cNvSpPr/>
            <p:nvPr/>
          </p:nvSpPr>
          <p:spPr>
            <a:xfrm flipH="false" flipV="false" rot="0">
              <a:off x="0" y="0"/>
              <a:ext cx="4572000" cy="1280160"/>
            </a:xfrm>
            <a:custGeom>
              <a:avLst/>
              <a:gdLst/>
              <a:ahLst/>
              <a:cxnLst/>
              <a:rect r="r" b="b" t="t" l="l"/>
              <a:pathLst>
                <a:path h="1280160" w="4572000">
                  <a:moveTo>
                    <a:pt x="0" y="0"/>
                  </a:moveTo>
                  <a:lnTo>
                    <a:pt x="4572000" y="0"/>
                  </a:lnTo>
                  <a:lnTo>
                    <a:pt x="4572000" y="1280160"/>
                  </a:lnTo>
                  <a:lnTo>
                    <a:pt x="0" y="1280160"/>
                  </a:lnTo>
                  <a:close/>
                </a:path>
              </a:pathLst>
            </a:custGeom>
            <a:blipFill>
              <a:blip r:embed="rId3">
                <a:alphaModFix amt="0"/>
              </a:blip>
              <a:stretch>
                <a:fillRect l="0" t="-19589" r="0" b="-19589"/>
              </a:stretch>
            </a:blipFill>
          </p:spPr>
        </p:sp>
        <p:sp>
          <p:nvSpPr>
            <p:cNvPr name="TextBox 15" id="15"/>
            <p:cNvSpPr txBox="true"/>
            <p:nvPr/>
          </p:nvSpPr>
          <p:spPr>
            <a:xfrm>
              <a:off x="0" y="0"/>
              <a:ext cx="4572000" cy="1280160"/>
            </a:xfrm>
            <a:prstGeom prst="rect">
              <a:avLst/>
            </a:prstGeom>
          </p:spPr>
          <p:txBody>
            <a:bodyPr anchor="ctr" rtlCol="false" tIns="0" lIns="0" bIns="0" rIns="0"/>
            <a:lstStyle/>
            <a:p>
              <a:pPr algn="l">
                <a:lnSpc>
                  <a:spcPts val="5759"/>
                </a:lnSpc>
              </a:pPr>
              <a:r>
                <a:rPr lang="en-US" sz="4800" b="true">
                  <a:solidFill>
                    <a:srgbClr val="FFFFFF"/>
                  </a:solidFill>
                  <a:latin typeface="Georgia Bold"/>
                  <a:ea typeface="Georgia Bold"/>
                  <a:cs typeface="Georgia Bold"/>
                  <a:sym typeface="Georgia Bold"/>
                </a:rPr>
                <a:t>€63k</a:t>
              </a:r>
            </a:p>
          </p:txBody>
        </p:sp>
      </p:grpSp>
      <p:grpSp>
        <p:nvGrpSpPr>
          <p:cNvPr name="Group 16" id="16"/>
          <p:cNvGrpSpPr/>
          <p:nvPr/>
        </p:nvGrpSpPr>
        <p:grpSpPr>
          <a:xfrm rot="0">
            <a:off x="1097280" y="8161020"/>
            <a:ext cx="3429000" cy="411480"/>
            <a:chOff x="0" y="0"/>
            <a:chExt cx="4572000" cy="548640"/>
          </a:xfrm>
        </p:grpSpPr>
        <p:sp>
          <p:nvSpPr>
            <p:cNvPr name="Freeform 17" id="17"/>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18" id="18"/>
            <p:cNvSpPr txBox="true"/>
            <p:nvPr/>
          </p:nvSpPr>
          <p:spPr>
            <a:xfrm>
              <a:off x="0" y="-28575"/>
              <a:ext cx="4572000" cy="577215"/>
            </a:xfrm>
            <a:prstGeom prst="rect">
              <a:avLst/>
            </a:prstGeom>
          </p:spPr>
          <p:txBody>
            <a:bodyPr anchor="ctr" rtlCol="false" tIns="0" lIns="0" bIns="0" rIns="0"/>
            <a:lstStyle/>
            <a:p>
              <a:pPr algn="l">
                <a:lnSpc>
                  <a:spcPts val="1980"/>
                </a:lnSpc>
              </a:pPr>
              <a:r>
                <a:rPr lang="en-US" sz="1650" spc="300">
                  <a:solidFill>
                    <a:srgbClr val="95D5B2"/>
                  </a:solidFill>
                  <a:latin typeface="Calibri (MS)"/>
                  <a:ea typeface="Calibri (MS)"/>
                  <a:cs typeface="Calibri (MS)"/>
                  <a:sym typeface="Calibri (MS)"/>
                </a:rPr>
                <a:t>NL spend analyzed</a:t>
              </a:r>
            </a:p>
          </p:txBody>
        </p:sp>
      </p:grpSp>
      <p:grpSp>
        <p:nvGrpSpPr>
          <p:cNvPr name="Group 19" id="19"/>
          <p:cNvGrpSpPr/>
          <p:nvPr/>
        </p:nvGrpSpPr>
        <p:grpSpPr>
          <a:xfrm rot="0">
            <a:off x="5074920" y="7132320"/>
            <a:ext cx="3429000" cy="960120"/>
            <a:chOff x="0" y="0"/>
            <a:chExt cx="4572000" cy="1280160"/>
          </a:xfrm>
        </p:grpSpPr>
        <p:sp>
          <p:nvSpPr>
            <p:cNvPr name="Freeform 20" id="20"/>
            <p:cNvSpPr/>
            <p:nvPr/>
          </p:nvSpPr>
          <p:spPr>
            <a:xfrm flipH="false" flipV="false" rot="0">
              <a:off x="0" y="0"/>
              <a:ext cx="4572000" cy="1280160"/>
            </a:xfrm>
            <a:custGeom>
              <a:avLst/>
              <a:gdLst/>
              <a:ahLst/>
              <a:cxnLst/>
              <a:rect r="r" b="b" t="t" l="l"/>
              <a:pathLst>
                <a:path h="1280160" w="4572000">
                  <a:moveTo>
                    <a:pt x="0" y="0"/>
                  </a:moveTo>
                  <a:lnTo>
                    <a:pt x="4572000" y="0"/>
                  </a:lnTo>
                  <a:lnTo>
                    <a:pt x="4572000" y="1280160"/>
                  </a:lnTo>
                  <a:lnTo>
                    <a:pt x="0" y="1280160"/>
                  </a:lnTo>
                  <a:close/>
                </a:path>
              </a:pathLst>
            </a:custGeom>
            <a:blipFill>
              <a:blip r:embed="rId3">
                <a:alphaModFix amt="0"/>
              </a:blip>
              <a:stretch>
                <a:fillRect l="0" t="-19589" r="0" b="-19589"/>
              </a:stretch>
            </a:blipFill>
          </p:spPr>
        </p:sp>
        <p:sp>
          <p:nvSpPr>
            <p:cNvPr name="TextBox 21" id="21"/>
            <p:cNvSpPr txBox="true"/>
            <p:nvPr/>
          </p:nvSpPr>
          <p:spPr>
            <a:xfrm>
              <a:off x="0" y="0"/>
              <a:ext cx="4572000" cy="1280160"/>
            </a:xfrm>
            <a:prstGeom prst="rect">
              <a:avLst/>
            </a:prstGeom>
          </p:spPr>
          <p:txBody>
            <a:bodyPr anchor="ctr" rtlCol="false" tIns="0" lIns="0" bIns="0" rIns="0"/>
            <a:lstStyle/>
            <a:p>
              <a:pPr algn="l">
                <a:lnSpc>
                  <a:spcPts val="5759"/>
                </a:lnSpc>
              </a:pPr>
              <a:r>
                <a:rPr lang="en-US" sz="4800" b="true">
                  <a:solidFill>
                    <a:srgbClr val="FFFFFF"/>
                  </a:solidFill>
                  <a:latin typeface="Georgia Bold"/>
                  <a:ea typeface="Georgia Bold"/>
                  <a:cs typeface="Georgia Bold"/>
                  <a:sym typeface="Georgia Bold"/>
                </a:rPr>
                <a:t>2,993</a:t>
              </a:r>
            </a:p>
          </p:txBody>
        </p:sp>
      </p:grpSp>
      <p:grpSp>
        <p:nvGrpSpPr>
          <p:cNvPr name="Group 22" id="22"/>
          <p:cNvGrpSpPr/>
          <p:nvPr/>
        </p:nvGrpSpPr>
        <p:grpSpPr>
          <a:xfrm rot="0">
            <a:off x="5074920" y="8161020"/>
            <a:ext cx="3429000" cy="411480"/>
            <a:chOff x="0" y="0"/>
            <a:chExt cx="4572000" cy="548640"/>
          </a:xfrm>
        </p:grpSpPr>
        <p:sp>
          <p:nvSpPr>
            <p:cNvPr name="Freeform 23" id="23"/>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24" id="24"/>
            <p:cNvSpPr txBox="true"/>
            <p:nvPr/>
          </p:nvSpPr>
          <p:spPr>
            <a:xfrm>
              <a:off x="0" y="-28575"/>
              <a:ext cx="4572000" cy="577215"/>
            </a:xfrm>
            <a:prstGeom prst="rect">
              <a:avLst/>
            </a:prstGeom>
          </p:spPr>
          <p:txBody>
            <a:bodyPr anchor="ctr" rtlCol="false" tIns="0" lIns="0" bIns="0" rIns="0"/>
            <a:lstStyle/>
            <a:p>
              <a:pPr algn="l">
                <a:lnSpc>
                  <a:spcPts val="1980"/>
                </a:lnSpc>
              </a:pPr>
              <a:r>
                <a:rPr lang="en-US" sz="1650" spc="300">
                  <a:solidFill>
                    <a:srgbClr val="95D5B2"/>
                  </a:solidFill>
                  <a:latin typeface="Calibri (MS)"/>
                  <a:ea typeface="Calibri (MS)"/>
                  <a:cs typeface="Calibri (MS)"/>
                  <a:sym typeface="Calibri (MS)"/>
                </a:rPr>
                <a:t>unique search terms</a:t>
              </a:r>
            </a:p>
          </p:txBody>
        </p:sp>
      </p:grpSp>
      <p:grpSp>
        <p:nvGrpSpPr>
          <p:cNvPr name="Group 25" id="25"/>
          <p:cNvGrpSpPr/>
          <p:nvPr/>
        </p:nvGrpSpPr>
        <p:grpSpPr>
          <a:xfrm rot="0">
            <a:off x="9052560" y="7132320"/>
            <a:ext cx="3429000" cy="960120"/>
            <a:chOff x="0" y="0"/>
            <a:chExt cx="4572000" cy="1280160"/>
          </a:xfrm>
        </p:grpSpPr>
        <p:sp>
          <p:nvSpPr>
            <p:cNvPr name="Freeform 26" id="26"/>
            <p:cNvSpPr/>
            <p:nvPr/>
          </p:nvSpPr>
          <p:spPr>
            <a:xfrm flipH="false" flipV="false" rot="0">
              <a:off x="0" y="0"/>
              <a:ext cx="4572000" cy="1280160"/>
            </a:xfrm>
            <a:custGeom>
              <a:avLst/>
              <a:gdLst/>
              <a:ahLst/>
              <a:cxnLst/>
              <a:rect r="r" b="b" t="t" l="l"/>
              <a:pathLst>
                <a:path h="1280160" w="4572000">
                  <a:moveTo>
                    <a:pt x="0" y="0"/>
                  </a:moveTo>
                  <a:lnTo>
                    <a:pt x="4572000" y="0"/>
                  </a:lnTo>
                  <a:lnTo>
                    <a:pt x="4572000" y="1280160"/>
                  </a:lnTo>
                  <a:lnTo>
                    <a:pt x="0" y="1280160"/>
                  </a:lnTo>
                  <a:close/>
                </a:path>
              </a:pathLst>
            </a:custGeom>
            <a:blipFill>
              <a:blip r:embed="rId3">
                <a:alphaModFix amt="0"/>
              </a:blip>
              <a:stretch>
                <a:fillRect l="0" t="-19589" r="0" b="-19589"/>
              </a:stretch>
            </a:blipFill>
          </p:spPr>
        </p:sp>
        <p:sp>
          <p:nvSpPr>
            <p:cNvPr name="TextBox 27" id="27"/>
            <p:cNvSpPr txBox="true"/>
            <p:nvPr/>
          </p:nvSpPr>
          <p:spPr>
            <a:xfrm>
              <a:off x="0" y="0"/>
              <a:ext cx="4572000" cy="1280160"/>
            </a:xfrm>
            <a:prstGeom prst="rect">
              <a:avLst/>
            </a:prstGeom>
          </p:spPr>
          <p:txBody>
            <a:bodyPr anchor="ctr" rtlCol="false" tIns="0" lIns="0" bIns="0" rIns="0"/>
            <a:lstStyle/>
            <a:p>
              <a:pPr algn="l">
                <a:lnSpc>
                  <a:spcPts val="5759"/>
                </a:lnSpc>
              </a:pPr>
              <a:r>
                <a:rPr lang="en-US" sz="4800" b="true">
                  <a:solidFill>
                    <a:srgbClr val="FFFFFF"/>
                  </a:solidFill>
                  <a:latin typeface="Georgia Bold"/>
                  <a:ea typeface="Georgia Bold"/>
                  <a:cs typeface="Georgia Bold"/>
                  <a:sym typeface="Georgia Bold"/>
                </a:rPr>
                <a:t>2.72×</a:t>
              </a:r>
            </a:p>
          </p:txBody>
        </p:sp>
      </p:grpSp>
      <p:grpSp>
        <p:nvGrpSpPr>
          <p:cNvPr name="Group 28" id="28"/>
          <p:cNvGrpSpPr/>
          <p:nvPr/>
        </p:nvGrpSpPr>
        <p:grpSpPr>
          <a:xfrm rot="0">
            <a:off x="9052560" y="8161020"/>
            <a:ext cx="3429000" cy="411480"/>
            <a:chOff x="0" y="0"/>
            <a:chExt cx="4572000" cy="548640"/>
          </a:xfrm>
        </p:grpSpPr>
        <p:sp>
          <p:nvSpPr>
            <p:cNvPr name="Freeform 29" id="29"/>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30" id="30"/>
            <p:cNvSpPr txBox="true"/>
            <p:nvPr/>
          </p:nvSpPr>
          <p:spPr>
            <a:xfrm>
              <a:off x="0" y="-28575"/>
              <a:ext cx="4572000" cy="577215"/>
            </a:xfrm>
            <a:prstGeom prst="rect">
              <a:avLst/>
            </a:prstGeom>
          </p:spPr>
          <p:txBody>
            <a:bodyPr anchor="ctr" rtlCol="false" tIns="0" lIns="0" bIns="0" rIns="0"/>
            <a:lstStyle/>
            <a:p>
              <a:pPr algn="l">
                <a:lnSpc>
                  <a:spcPts val="1980"/>
                </a:lnSpc>
              </a:pPr>
              <a:r>
                <a:rPr lang="en-US" sz="1650" spc="300">
                  <a:solidFill>
                    <a:srgbClr val="95D5B2"/>
                  </a:solidFill>
                  <a:latin typeface="Calibri (MS)"/>
                  <a:ea typeface="Calibri (MS)"/>
                  <a:cs typeface="Calibri (MS)"/>
                  <a:sym typeface="Calibri (MS)"/>
                </a:rPr>
                <a:t>current NL ROAS</a:t>
              </a:r>
            </a:p>
          </p:txBody>
        </p:sp>
      </p:grpSp>
      <p:grpSp>
        <p:nvGrpSpPr>
          <p:cNvPr name="Group 31" id="31"/>
          <p:cNvGrpSpPr/>
          <p:nvPr/>
        </p:nvGrpSpPr>
        <p:grpSpPr>
          <a:xfrm rot="0">
            <a:off x="13030200" y="7132320"/>
            <a:ext cx="3429000" cy="960120"/>
            <a:chOff x="0" y="0"/>
            <a:chExt cx="4572000" cy="1280160"/>
          </a:xfrm>
        </p:grpSpPr>
        <p:sp>
          <p:nvSpPr>
            <p:cNvPr name="Freeform 32" id="32"/>
            <p:cNvSpPr/>
            <p:nvPr/>
          </p:nvSpPr>
          <p:spPr>
            <a:xfrm flipH="false" flipV="false" rot="0">
              <a:off x="0" y="0"/>
              <a:ext cx="4572000" cy="1280160"/>
            </a:xfrm>
            <a:custGeom>
              <a:avLst/>
              <a:gdLst/>
              <a:ahLst/>
              <a:cxnLst/>
              <a:rect r="r" b="b" t="t" l="l"/>
              <a:pathLst>
                <a:path h="1280160" w="4572000">
                  <a:moveTo>
                    <a:pt x="0" y="0"/>
                  </a:moveTo>
                  <a:lnTo>
                    <a:pt x="4572000" y="0"/>
                  </a:lnTo>
                  <a:lnTo>
                    <a:pt x="4572000" y="1280160"/>
                  </a:lnTo>
                  <a:lnTo>
                    <a:pt x="0" y="1280160"/>
                  </a:lnTo>
                  <a:close/>
                </a:path>
              </a:pathLst>
            </a:custGeom>
            <a:blipFill>
              <a:blip r:embed="rId3">
                <a:alphaModFix amt="0"/>
              </a:blip>
              <a:stretch>
                <a:fillRect l="0" t="-19589" r="0" b="-19589"/>
              </a:stretch>
            </a:blipFill>
          </p:spPr>
        </p:sp>
        <p:sp>
          <p:nvSpPr>
            <p:cNvPr name="TextBox 33" id="33"/>
            <p:cNvSpPr txBox="true"/>
            <p:nvPr/>
          </p:nvSpPr>
          <p:spPr>
            <a:xfrm>
              <a:off x="0" y="0"/>
              <a:ext cx="4572000" cy="1280160"/>
            </a:xfrm>
            <a:prstGeom prst="rect">
              <a:avLst/>
            </a:prstGeom>
          </p:spPr>
          <p:txBody>
            <a:bodyPr anchor="ctr" rtlCol="false" tIns="0" lIns="0" bIns="0" rIns="0"/>
            <a:lstStyle/>
            <a:p>
              <a:pPr algn="l">
                <a:lnSpc>
                  <a:spcPts val="5759"/>
                </a:lnSpc>
              </a:pPr>
              <a:r>
                <a:rPr lang="en-US" sz="4800" b="true">
                  <a:solidFill>
                    <a:srgbClr val="FFFFFF"/>
                  </a:solidFill>
                  <a:latin typeface="Georgia Bold"/>
                  <a:ea typeface="Georgia Bold"/>
                  <a:cs typeface="Georgia Bold"/>
                  <a:sym typeface="Georgia Bold"/>
                </a:rPr>
                <a:t>€59</a:t>
              </a:r>
            </a:p>
          </p:txBody>
        </p:sp>
      </p:grpSp>
      <p:grpSp>
        <p:nvGrpSpPr>
          <p:cNvPr name="Group 34" id="34"/>
          <p:cNvGrpSpPr/>
          <p:nvPr/>
        </p:nvGrpSpPr>
        <p:grpSpPr>
          <a:xfrm rot="0">
            <a:off x="13030200" y="8161020"/>
            <a:ext cx="3429000" cy="411480"/>
            <a:chOff x="0" y="0"/>
            <a:chExt cx="4572000" cy="548640"/>
          </a:xfrm>
        </p:grpSpPr>
        <p:sp>
          <p:nvSpPr>
            <p:cNvPr name="Freeform 35" id="35"/>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36" id="36"/>
            <p:cNvSpPr txBox="true"/>
            <p:nvPr/>
          </p:nvSpPr>
          <p:spPr>
            <a:xfrm>
              <a:off x="0" y="-28575"/>
              <a:ext cx="4572000" cy="577215"/>
            </a:xfrm>
            <a:prstGeom prst="rect">
              <a:avLst/>
            </a:prstGeom>
          </p:spPr>
          <p:txBody>
            <a:bodyPr anchor="ctr" rtlCol="false" tIns="0" lIns="0" bIns="0" rIns="0"/>
            <a:lstStyle/>
            <a:p>
              <a:pPr algn="l">
                <a:lnSpc>
                  <a:spcPts val="1980"/>
                </a:lnSpc>
              </a:pPr>
              <a:r>
                <a:rPr lang="en-US" sz="1650" spc="300">
                  <a:solidFill>
                    <a:srgbClr val="95D5B2"/>
                  </a:solidFill>
                  <a:latin typeface="Calibri (MS)"/>
                  <a:ea typeface="Calibri (MS)"/>
                  <a:cs typeface="Calibri (MS)"/>
                  <a:sym typeface="Calibri (MS)"/>
                </a:rPr>
                <a:t>blended AOV</a:t>
              </a:r>
            </a:p>
          </p:txBody>
        </p:sp>
      </p:grpSp>
      <p:grpSp>
        <p:nvGrpSpPr>
          <p:cNvPr name="Group 37" id="37"/>
          <p:cNvGrpSpPr/>
          <p:nvPr/>
        </p:nvGrpSpPr>
        <p:grpSpPr>
          <a:xfrm rot="0">
            <a:off x="1097280" y="9395460"/>
            <a:ext cx="8229600" cy="411480"/>
            <a:chOff x="0" y="0"/>
            <a:chExt cx="10972800" cy="548640"/>
          </a:xfrm>
        </p:grpSpPr>
        <p:sp>
          <p:nvSpPr>
            <p:cNvPr name="Freeform 38" id="38"/>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39" id="39"/>
            <p:cNvSpPr txBox="true"/>
            <p:nvPr/>
          </p:nvSpPr>
          <p:spPr>
            <a:xfrm>
              <a:off x="0" y="-28575"/>
              <a:ext cx="10972800" cy="577215"/>
            </a:xfrm>
            <a:prstGeom prst="rect">
              <a:avLst/>
            </a:prstGeom>
          </p:spPr>
          <p:txBody>
            <a:bodyPr anchor="ctr" rtlCol="false" tIns="0" lIns="0" bIns="0" rIns="0"/>
            <a:lstStyle/>
            <a:p>
              <a:pPr algn="l">
                <a:lnSpc>
                  <a:spcPts val="1980"/>
                </a:lnSpc>
              </a:pPr>
              <a:r>
                <a:rPr lang="en-US" sz="1650">
                  <a:solidFill>
                    <a:srgbClr val="95D5B2"/>
                  </a:solidFill>
                  <a:latin typeface="Calibri (MS)"/>
                  <a:ea typeface="Calibri (MS)"/>
                  <a:cs typeface="Calibri (MS)"/>
                  <a:sym typeface="Calibri (MS)"/>
                </a:rPr>
                <a:t>Danil Sysenko  ·  April 2026</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480060"/>
            <a:ext cx="16459200" cy="754380"/>
            <a:chOff x="0" y="0"/>
            <a:chExt cx="21945600" cy="1005840"/>
          </a:xfrm>
        </p:grpSpPr>
        <p:sp>
          <p:nvSpPr>
            <p:cNvPr name="Freeform 3" id="3"/>
            <p:cNvSpPr/>
            <p:nvPr/>
          </p:nvSpPr>
          <p:spPr>
            <a:xfrm flipH="false" flipV="false" rot="0">
              <a:off x="0" y="0"/>
              <a:ext cx="21945600" cy="1005840"/>
            </a:xfrm>
            <a:custGeom>
              <a:avLst/>
              <a:gdLst/>
              <a:ahLst/>
              <a:cxnLst/>
              <a:rect r="r" b="b" t="t" l="l"/>
              <a:pathLst>
                <a:path h="1005840" w="21945600">
                  <a:moveTo>
                    <a:pt x="0" y="0"/>
                  </a:moveTo>
                  <a:lnTo>
                    <a:pt x="21945600" y="0"/>
                  </a:lnTo>
                  <a:lnTo>
                    <a:pt x="21945600" y="1005840"/>
                  </a:lnTo>
                  <a:lnTo>
                    <a:pt x="0" y="1005840"/>
                  </a:lnTo>
                  <a:close/>
                </a:path>
              </a:pathLst>
            </a:custGeom>
            <a:blipFill>
              <a:blip r:embed="rId3">
                <a:alphaModFix amt="0"/>
              </a:blip>
              <a:stretch>
                <a:fillRect l="0" t="-375128" r="0" b="-375128"/>
              </a:stretch>
            </a:blipFill>
          </p:spPr>
        </p:sp>
        <p:sp>
          <p:nvSpPr>
            <p:cNvPr name="TextBox 4" id="4"/>
            <p:cNvSpPr txBox="true"/>
            <p:nvPr/>
          </p:nvSpPr>
          <p:spPr>
            <a:xfrm>
              <a:off x="0" y="-9525"/>
              <a:ext cx="21945600" cy="1015365"/>
            </a:xfrm>
            <a:prstGeom prst="rect">
              <a:avLst/>
            </a:prstGeom>
          </p:spPr>
          <p:txBody>
            <a:bodyPr anchor="ctr" rtlCol="false" tIns="0" lIns="0" bIns="0" rIns="0"/>
            <a:lstStyle/>
            <a:p>
              <a:pPr algn="l">
                <a:lnSpc>
                  <a:spcPts val="6839"/>
                </a:lnSpc>
              </a:pPr>
              <a:r>
                <a:rPr lang="en-US" sz="5700" b="true">
                  <a:solidFill>
                    <a:srgbClr val="1A2E23"/>
                  </a:solidFill>
                  <a:latin typeface="Georgia Bold"/>
                  <a:ea typeface="Georgia Bold"/>
                  <a:cs typeface="Georgia Bold"/>
                  <a:sym typeface="Georgia Bold"/>
                </a:rPr>
                <a:t>TL;DR</a:t>
              </a:r>
            </a:p>
          </p:txBody>
        </p:sp>
      </p:grpSp>
      <p:grpSp>
        <p:nvGrpSpPr>
          <p:cNvPr name="Group 5" id="5"/>
          <p:cNvGrpSpPr/>
          <p:nvPr/>
        </p:nvGrpSpPr>
        <p:grpSpPr>
          <a:xfrm rot="0">
            <a:off x="685800" y="1303020"/>
            <a:ext cx="16459200" cy="548640"/>
            <a:chOff x="0" y="0"/>
            <a:chExt cx="21945600" cy="731520"/>
          </a:xfrm>
        </p:grpSpPr>
        <p:sp>
          <p:nvSpPr>
            <p:cNvPr name="Freeform 6" id="6"/>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7" id="7"/>
            <p:cNvSpPr txBox="true"/>
            <p:nvPr/>
          </p:nvSpPr>
          <p:spPr>
            <a:xfrm>
              <a:off x="0" y="-9525"/>
              <a:ext cx="21945600" cy="741045"/>
            </a:xfrm>
            <a:prstGeom prst="rect">
              <a:avLst/>
            </a:prstGeom>
          </p:spPr>
          <p:txBody>
            <a:bodyPr anchor="ctr" rtlCol="false" tIns="0" lIns="0" bIns="0" rIns="0"/>
            <a:lstStyle/>
            <a:p>
              <a:pPr algn="l">
                <a:lnSpc>
                  <a:spcPts val="2879"/>
                </a:lnSpc>
              </a:pPr>
              <a:r>
                <a:rPr lang="en-US" sz="2400" i="true" spc="-14">
                  <a:solidFill>
                    <a:srgbClr val="6C757D"/>
                  </a:solidFill>
                  <a:latin typeface="TT Rounds Condensed Italics"/>
                  <a:ea typeface="TT Rounds Condensed Italics"/>
                  <a:cs typeface="TT Rounds Condensed Italics"/>
                  <a:sym typeface="TT Rounds Condensed Italics"/>
                </a:rPr>
                <a:t>€14.4k over four weeks → €24.9k revenue. 1.74× blended, W2 dips before it scales.</a:t>
              </a:r>
            </a:p>
          </p:txBody>
        </p:sp>
      </p:grpSp>
      <p:grpSp>
        <p:nvGrpSpPr>
          <p:cNvPr name="Group 8" id="8"/>
          <p:cNvGrpSpPr/>
          <p:nvPr/>
        </p:nvGrpSpPr>
        <p:grpSpPr>
          <a:xfrm rot="0">
            <a:off x="676275" y="2322195"/>
            <a:ext cx="5505450" cy="3585210"/>
            <a:chOff x="0" y="0"/>
            <a:chExt cx="7340600" cy="4780280"/>
          </a:xfrm>
        </p:grpSpPr>
        <p:sp>
          <p:nvSpPr>
            <p:cNvPr name="Freeform 9" id="9"/>
            <p:cNvSpPr/>
            <p:nvPr/>
          </p:nvSpPr>
          <p:spPr>
            <a:xfrm flipH="false" flipV="false" rot="0">
              <a:off x="12700" y="12700"/>
              <a:ext cx="7315200" cy="4754880"/>
            </a:xfrm>
            <a:custGeom>
              <a:avLst/>
              <a:gdLst/>
              <a:ahLst/>
              <a:cxnLst/>
              <a:rect r="r" b="b" t="t" l="l"/>
              <a:pathLst>
                <a:path h="4754880" w="7315200">
                  <a:moveTo>
                    <a:pt x="0" y="0"/>
                  </a:moveTo>
                  <a:lnTo>
                    <a:pt x="7315200" y="0"/>
                  </a:lnTo>
                  <a:lnTo>
                    <a:pt x="7315200" y="4754880"/>
                  </a:lnTo>
                  <a:lnTo>
                    <a:pt x="0" y="4754880"/>
                  </a:lnTo>
                  <a:close/>
                </a:path>
              </a:pathLst>
            </a:custGeom>
            <a:solidFill>
              <a:srgbClr val="F8F9FA"/>
            </a:solidFill>
          </p:spPr>
        </p:sp>
        <p:sp>
          <p:nvSpPr>
            <p:cNvPr name="Freeform 10" id="10"/>
            <p:cNvSpPr/>
            <p:nvPr/>
          </p:nvSpPr>
          <p:spPr>
            <a:xfrm flipH="false" flipV="false" rot="0">
              <a:off x="0" y="0"/>
              <a:ext cx="7340600" cy="4780280"/>
            </a:xfrm>
            <a:custGeom>
              <a:avLst/>
              <a:gdLst/>
              <a:ahLst/>
              <a:cxnLst/>
              <a:rect r="r" b="b" t="t" l="l"/>
              <a:pathLst>
                <a:path h="4780280" w="7340600">
                  <a:moveTo>
                    <a:pt x="12700" y="0"/>
                  </a:moveTo>
                  <a:lnTo>
                    <a:pt x="7327900" y="0"/>
                  </a:lnTo>
                  <a:cubicBezTo>
                    <a:pt x="7334885" y="0"/>
                    <a:pt x="7340600" y="5715"/>
                    <a:pt x="7340600" y="12700"/>
                  </a:cubicBezTo>
                  <a:lnTo>
                    <a:pt x="7340600" y="4767580"/>
                  </a:lnTo>
                  <a:cubicBezTo>
                    <a:pt x="7340600" y="4774565"/>
                    <a:pt x="7334885" y="4780280"/>
                    <a:pt x="7327900" y="4780280"/>
                  </a:cubicBezTo>
                  <a:lnTo>
                    <a:pt x="12700" y="4780280"/>
                  </a:lnTo>
                  <a:cubicBezTo>
                    <a:pt x="5715" y="4780280"/>
                    <a:pt x="0" y="4774565"/>
                    <a:pt x="0" y="4767580"/>
                  </a:cubicBezTo>
                  <a:lnTo>
                    <a:pt x="0" y="12700"/>
                  </a:lnTo>
                  <a:cubicBezTo>
                    <a:pt x="0" y="5715"/>
                    <a:pt x="5715" y="0"/>
                    <a:pt x="12700" y="0"/>
                  </a:cubicBezTo>
                  <a:moveTo>
                    <a:pt x="12700" y="25400"/>
                  </a:moveTo>
                  <a:lnTo>
                    <a:pt x="12700" y="12700"/>
                  </a:lnTo>
                  <a:lnTo>
                    <a:pt x="25400" y="12700"/>
                  </a:lnTo>
                  <a:lnTo>
                    <a:pt x="25400" y="4767580"/>
                  </a:lnTo>
                  <a:lnTo>
                    <a:pt x="12700" y="4767580"/>
                  </a:lnTo>
                  <a:lnTo>
                    <a:pt x="12700" y="4754880"/>
                  </a:lnTo>
                  <a:lnTo>
                    <a:pt x="7327900" y="4754880"/>
                  </a:lnTo>
                  <a:lnTo>
                    <a:pt x="7327900" y="4767580"/>
                  </a:lnTo>
                  <a:lnTo>
                    <a:pt x="7315200" y="4767580"/>
                  </a:lnTo>
                  <a:lnTo>
                    <a:pt x="7315200" y="12700"/>
                  </a:lnTo>
                  <a:lnTo>
                    <a:pt x="7327900" y="12700"/>
                  </a:lnTo>
                  <a:lnTo>
                    <a:pt x="7327900" y="25400"/>
                  </a:lnTo>
                  <a:lnTo>
                    <a:pt x="12700" y="25400"/>
                  </a:lnTo>
                  <a:close/>
                </a:path>
              </a:pathLst>
            </a:custGeom>
            <a:solidFill>
              <a:srgbClr val="E9ECEF"/>
            </a:solidFill>
          </p:spPr>
        </p:sp>
      </p:grpSp>
      <p:grpSp>
        <p:nvGrpSpPr>
          <p:cNvPr name="Group 11" id="11"/>
          <p:cNvGrpSpPr/>
          <p:nvPr/>
        </p:nvGrpSpPr>
        <p:grpSpPr>
          <a:xfrm rot="0">
            <a:off x="685800" y="2331720"/>
            <a:ext cx="109728" cy="3566160"/>
            <a:chOff x="0" y="0"/>
            <a:chExt cx="146304" cy="4754880"/>
          </a:xfrm>
        </p:grpSpPr>
        <p:sp>
          <p:nvSpPr>
            <p:cNvPr name="Freeform 12" id="12"/>
            <p:cNvSpPr/>
            <p:nvPr/>
          </p:nvSpPr>
          <p:spPr>
            <a:xfrm flipH="false" flipV="false" rot="0">
              <a:off x="0" y="0"/>
              <a:ext cx="146304" cy="4754880"/>
            </a:xfrm>
            <a:custGeom>
              <a:avLst/>
              <a:gdLst/>
              <a:ahLst/>
              <a:cxnLst/>
              <a:rect r="r" b="b" t="t" l="l"/>
              <a:pathLst>
                <a:path h="4754880" w="146304">
                  <a:moveTo>
                    <a:pt x="0" y="0"/>
                  </a:moveTo>
                  <a:lnTo>
                    <a:pt x="146304" y="0"/>
                  </a:lnTo>
                  <a:lnTo>
                    <a:pt x="146304" y="4754880"/>
                  </a:lnTo>
                  <a:lnTo>
                    <a:pt x="0" y="4754880"/>
                  </a:lnTo>
                  <a:close/>
                </a:path>
              </a:pathLst>
            </a:custGeom>
            <a:solidFill>
              <a:srgbClr val="2D6A4F"/>
            </a:solidFill>
          </p:spPr>
        </p:sp>
      </p:grpSp>
      <p:grpSp>
        <p:nvGrpSpPr>
          <p:cNvPr name="Group 13" id="13"/>
          <p:cNvGrpSpPr/>
          <p:nvPr/>
        </p:nvGrpSpPr>
        <p:grpSpPr>
          <a:xfrm rot="0">
            <a:off x="1097280" y="2537460"/>
            <a:ext cx="1371600" cy="685800"/>
            <a:chOff x="0" y="0"/>
            <a:chExt cx="1828800" cy="914400"/>
          </a:xfrm>
        </p:grpSpPr>
        <p:sp>
          <p:nvSpPr>
            <p:cNvPr name="Freeform 14" id="14"/>
            <p:cNvSpPr/>
            <p:nvPr/>
          </p:nvSpPr>
          <p:spPr>
            <a:xfrm flipH="false" flipV="false" rot="0">
              <a:off x="0" y="0"/>
              <a:ext cx="1828800" cy="914400"/>
            </a:xfrm>
            <a:custGeom>
              <a:avLst/>
              <a:gdLst/>
              <a:ahLst/>
              <a:cxnLst/>
              <a:rect r="r" b="b" t="t" l="l"/>
              <a:pathLst>
                <a:path h="914400" w="1828800">
                  <a:moveTo>
                    <a:pt x="0" y="0"/>
                  </a:moveTo>
                  <a:lnTo>
                    <a:pt x="1828800" y="0"/>
                  </a:lnTo>
                  <a:lnTo>
                    <a:pt x="1828800" y="914400"/>
                  </a:lnTo>
                  <a:lnTo>
                    <a:pt x="0" y="914400"/>
                  </a:lnTo>
                  <a:close/>
                </a:path>
              </a:pathLst>
            </a:custGeom>
            <a:blipFill>
              <a:blip r:embed="rId3">
                <a:alphaModFix amt="0"/>
              </a:blip>
              <a:stretch>
                <a:fillRect l="-14151" t="0" r="-14151" b="0"/>
              </a:stretch>
            </a:blipFill>
          </p:spPr>
        </p:sp>
        <p:sp>
          <p:nvSpPr>
            <p:cNvPr name="TextBox 15" id="15"/>
            <p:cNvSpPr txBox="true"/>
            <p:nvPr/>
          </p:nvSpPr>
          <p:spPr>
            <a:xfrm>
              <a:off x="0" y="-47625"/>
              <a:ext cx="1828800" cy="962025"/>
            </a:xfrm>
            <a:prstGeom prst="rect">
              <a:avLst/>
            </a:prstGeom>
          </p:spPr>
          <p:txBody>
            <a:bodyPr anchor="ctr" rtlCol="false" tIns="0" lIns="0" bIns="0" rIns="0"/>
            <a:lstStyle/>
            <a:p>
              <a:pPr algn="l">
                <a:lnSpc>
                  <a:spcPts val="2520"/>
                </a:lnSpc>
              </a:pPr>
              <a:r>
                <a:rPr lang="en-US" sz="2100" b="true">
                  <a:solidFill>
                    <a:srgbClr val="E76F51"/>
                  </a:solidFill>
                  <a:latin typeface="Calibri (MS) Bold"/>
                  <a:ea typeface="Calibri (MS) Bold"/>
                  <a:cs typeface="Calibri (MS) Bold"/>
                  <a:sym typeface="Calibri (MS) Bold"/>
                </a:rPr>
                <a:t>01</a:t>
              </a:r>
            </a:p>
          </p:txBody>
        </p:sp>
      </p:grpSp>
      <p:grpSp>
        <p:nvGrpSpPr>
          <p:cNvPr name="Group 16" id="16"/>
          <p:cNvGrpSpPr/>
          <p:nvPr/>
        </p:nvGrpSpPr>
        <p:grpSpPr>
          <a:xfrm rot="0">
            <a:off x="1097280" y="3017520"/>
            <a:ext cx="4937760" cy="685800"/>
            <a:chOff x="0" y="0"/>
            <a:chExt cx="6583680" cy="914400"/>
          </a:xfrm>
        </p:grpSpPr>
        <p:sp>
          <p:nvSpPr>
            <p:cNvPr name="Freeform 17" id="17"/>
            <p:cNvSpPr/>
            <p:nvPr/>
          </p:nvSpPr>
          <p:spPr>
            <a:xfrm flipH="false" flipV="false" rot="0">
              <a:off x="0" y="0"/>
              <a:ext cx="6583680" cy="914400"/>
            </a:xfrm>
            <a:custGeom>
              <a:avLst/>
              <a:gdLst/>
              <a:ahLst/>
              <a:cxnLst/>
              <a:rect r="r" b="b" t="t" l="l"/>
              <a:pathLst>
                <a:path h="914400" w="6583680">
                  <a:moveTo>
                    <a:pt x="0" y="0"/>
                  </a:moveTo>
                  <a:lnTo>
                    <a:pt x="6583680" y="0"/>
                  </a:lnTo>
                  <a:lnTo>
                    <a:pt x="6583680" y="914400"/>
                  </a:lnTo>
                  <a:lnTo>
                    <a:pt x="0" y="914400"/>
                  </a:lnTo>
                  <a:close/>
                </a:path>
              </a:pathLst>
            </a:custGeom>
            <a:blipFill>
              <a:blip r:embed="rId3">
                <a:alphaModFix amt="0"/>
              </a:blip>
              <a:stretch>
                <a:fillRect l="0" t="-90292" r="0" b="-90292"/>
              </a:stretch>
            </a:blipFill>
          </p:spPr>
        </p:sp>
        <p:sp>
          <p:nvSpPr>
            <p:cNvPr name="TextBox 18" id="18"/>
            <p:cNvSpPr txBox="true"/>
            <p:nvPr/>
          </p:nvSpPr>
          <p:spPr>
            <a:xfrm>
              <a:off x="0" y="0"/>
              <a:ext cx="6583680" cy="914400"/>
            </a:xfrm>
            <a:prstGeom prst="rect">
              <a:avLst/>
            </a:prstGeom>
          </p:spPr>
          <p:txBody>
            <a:bodyPr anchor="ctr" rtlCol="false" tIns="0" lIns="0" bIns="0" rIns="0"/>
            <a:lstStyle/>
            <a:p>
              <a:pPr algn="l">
                <a:lnSpc>
                  <a:spcPts val="3960"/>
                </a:lnSpc>
              </a:pPr>
              <a:r>
                <a:rPr lang="en-US" sz="3300" b="true">
                  <a:solidFill>
                    <a:srgbClr val="1A2E23"/>
                  </a:solidFill>
                  <a:latin typeface="Georgia Bold"/>
                  <a:ea typeface="Georgia Bold"/>
                  <a:cs typeface="Georgia Bold"/>
                  <a:sym typeface="Georgia Bold"/>
                </a:rPr>
                <a:t>Problem-Aware</a:t>
              </a:r>
            </a:p>
          </p:txBody>
        </p:sp>
      </p:grpSp>
      <p:grpSp>
        <p:nvGrpSpPr>
          <p:cNvPr name="Group 19" id="19"/>
          <p:cNvGrpSpPr/>
          <p:nvPr/>
        </p:nvGrpSpPr>
        <p:grpSpPr>
          <a:xfrm rot="0">
            <a:off x="1097280" y="3840480"/>
            <a:ext cx="4937760" cy="480060"/>
            <a:chOff x="0" y="0"/>
            <a:chExt cx="6583680" cy="640080"/>
          </a:xfrm>
        </p:grpSpPr>
        <p:sp>
          <p:nvSpPr>
            <p:cNvPr name="Freeform 20" id="20"/>
            <p:cNvSpPr/>
            <p:nvPr/>
          </p:nvSpPr>
          <p:spPr>
            <a:xfrm flipH="false" flipV="false" rot="0">
              <a:off x="0" y="0"/>
              <a:ext cx="6583680" cy="640080"/>
            </a:xfrm>
            <a:custGeom>
              <a:avLst/>
              <a:gdLst/>
              <a:ahLst/>
              <a:cxnLst/>
              <a:rect r="r" b="b" t="t" l="l"/>
              <a:pathLst>
                <a:path h="640080" w="6583680">
                  <a:moveTo>
                    <a:pt x="0" y="0"/>
                  </a:moveTo>
                  <a:lnTo>
                    <a:pt x="6583680" y="0"/>
                  </a:lnTo>
                  <a:lnTo>
                    <a:pt x="6583680" y="640080"/>
                  </a:lnTo>
                  <a:lnTo>
                    <a:pt x="0" y="640080"/>
                  </a:lnTo>
                  <a:close/>
                </a:path>
              </a:pathLst>
            </a:custGeom>
            <a:blipFill>
              <a:blip r:embed="rId3">
                <a:alphaModFix amt="0"/>
              </a:blip>
              <a:stretch>
                <a:fillRect l="0" t="-150417" r="0" b="-150417"/>
              </a:stretch>
            </a:blipFill>
          </p:spPr>
        </p:sp>
        <p:sp>
          <p:nvSpPr>
            <p:cNvPr name="TextBox 21" id="21"/>
            <p:cNvSpPr txBox="true"/>
            <p:nvPr/>
          </p:nvSpPr>
          <p:spPr>
            <a:xfrm>
              <a:off x="0" y="-38100"/>
              <a:ext cx="6583680" cy="678180"/>
            </a:xfrm>
            <a:prstGeom prst="rect">
              <a:avLst/>
            </a:prstGeom>
          </p:spPr>
          <p:txBody>
            <a:bodyPr anchor="ctr" rtlCol="false" tIns="0" lIns="0" bIns="0" rIns="0"/>
            <a:lstStyle/>
            <a:p>
              <a:pPr algn="l">
                <a:lnSpc>
                  <a:spcPts val="2160"/>
                </a:lnSpc>
              </a:pPr>
              <a:r>
                <a:rPr lang="en-US" sz="1800" b="true">
                  <a:solidFill>
                    <a:srgbClr val="1A2E23"/>
                  </a:solidFill>
                  <a:latin typeface="Calibri (MS) Bold"/>
                  <a:ea typeface="Calibri (MS) Bold"/>
                  <a:cs typeface="Calibri (MS) Bold"/>
                  <a:sym typeface="Calibri (MS) Bold"/>
                </a:rPr>
                <a:t>30%</a:t>
              </a:r>
              <a:r>
                <a:rPr lang="en-US" sz="1800">
                  <a:solidFill>
                    <a:srgbClr val="6C757D"/>
                  </a:solidFill>
                  <a:latin typeface="Calibri (MS)"/>
                  <a:ea typeface="Calibri (MS)"/>
                  <a:cs typeface="Calibri (MS)"/>
                  <a:sym typeface="Calibri (MS)"/>
                </a:rPr>
                <a:t>  of budget  ·  </a:t>
              </a:r>
              <a:r>
                <a:rPr lang="en-US" sz="1800" b="true">
                  <a:solidFill>
                    <a:srgbClr val="2D6A4F"/>
                  </a:solidFill>
                  <a:latin typeface="Calibri (MS) Bold"/>
                  <a:ea typeface="Calibri (MS) Bold"/>
                  <a:cs typeface="Calibri (MS) Bold"/>
                  <a:sym typeface="Calibri (MS) Bold"/>
                </a:rPr>
                <a:t>2.87×</a:t>
              </a:r>
              <a:r>
                <a:rPr lang="en-US" sz="1800">
                  <a:solidFill>
                    <a:srgbClr val="6C757D"/>
                  </a:solidFill>
                  <a:latin typeface="Calibri (MS)"/>
                  <a:ea typeface="Calibri (MS)"/>
                  <a:cs typeface="Calibri (MS)"/>
                  <a:sym typeface="Calibri (MS)"/>
                </a:rPr>
                <a:t>  NL benchmark</a:t>
              </a:r>
            </a:p>
          </p:txBody>
        </p:sp>
      </p:grpSp>
      <p:grpSp>
        <p:nvGrpSpPr>
          <p:cNvPr name="Group 22" id="22"/>
          <p:cNvGrpSpPr/>
          <p:nvPr/>
        </p:nvGrpSpPr>
        <p:grpSpPr>
          <a:xfrm rot="0">
            <a:off x="1097280" y="4457700"/>
            <a:ext cx="4937760" cy="1371600"/>
            <a:chOff x="0" y="0"/>
            <a:chExt cx="6583680" cy="1828800"/>
          </a:xfrm>
        </p:grpSpPr>
        <p:sp>
          <p:nvSpPr>
            <p:cNvPr name="Freeform 23" id="23"/>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3">
                <a:alphaModFix amt="0"/>
              </a:blip>
              <a:stretch>
                <a:fillRect l="0" t="-20146" r="0" b="-20146"/>
              </a:stretch>
            </a:blipFill>
          </p:spPr>
        </p:sp>
        <p:sp>
          <p:nvSpPr>
            <p:cNvPr name="TextBox 24" id="24"/>
            <p:cNvSpPr txBox="true"/>
            <p:nvPr/>
          </p:nvSpPr>
          <p:spPr>
            <a:xfrm>
              <a:off x="0" y="0"/>
              <a:ext cx="6583680" cy="1828800"/>
            </a:xfrm>
            <a:prstGeom prst="rect">
              <a:avLst/>
            </a:prstGeom>
          </p:spPr>
          <p:txBody>
            <a:bodyPr anchor="ctr" rtlCol="false" tIns="0" lIns="0" bIns="0" rIns="0"/>
            <a:lstStyle/>
            <a:p>
              <a:pPr algn="l">
                <a:lnSpc>
                  <a:spcPts val="2160"/>
                </a:lnSpc>
              </a:pPr>
              <a:r>
                <a:rPr lang="en-US" sz="1800" spc="-10">
                  <a:solidFill>
                    <a:srgbClr val="1A2E23"/>
                  </a:solidFill>
                  <a:latin typeface="TT Rounds Condensed"/>
                  <a:ea typeface="TT Rounds Condensed"/>
                  <a:cs typeface="TT Rounds Condensed"/>
                  <a:sym typeface="TT Rounds Condensed"/>
                </a:rPr>
                <a:t>Symptom queries: bad breath, tartar, gum issues. Cheapest CPC, hottest intent.</a:t>
              </a:r>
            </a:p>
          </p:txBody>
        </p:sp>
      </p:grpSp>
      <p:grpSp>
        <p:nvGrpSpPr>
          <p:cNvPr name="Group 25" id="25"/>
          <p:cNvGrpSpPr/>
          <p:nvPr/>
        </p:nvGrpSpPr>
        <p:grpSpPr>
          <a:xfrm rot="0">
            <a:off x="6574155" y="2322195"/>
            <a:ext cx="5505450" cy="3585210"/>
            <a:chOff x="0" y="0"/>
            <a:chExt cx="7340600" cy="4780280"/>
          </a:xfrm>
        </p:grpSpPr>
        <p:sp>
          <p:nvSpPr>
            <p:cNvPr name="Freeform 26" id="26"/>
            <p:cNvSpPr/>
            <p:nvPr/>
          </p:nvSpPr>
          <p:spPr>
            <a:xfrm flipH="false" flipV="false" rot="0">
              <a:off x="12700" y="12700"/>
              <a:ext cx="7315200" cy="4754880"/>
            </a:xfrm>
            <a:custGeom>
              <a:avLst/>
              <a:gdLst/>
              <a:ahLst/>
              <a:cxnLst/>
              <a:rect r="r" b="b" t="t" l="l"/>
              <a:pathLst>
                <a:path h="4754880" w="7315200">
                  <a:moveTo>
                    <a:pt x="0" y="0"/>
                  </a:moveTo>
                  <a:lnTo>
                    <a:pt x="7315200" y="0"/>
                  </a:lnTo>
                  <a:lnTo>
                    <a:pt x="7315200" y="4754880"/>
                  </a:lnTo>
                  <a:lnTo>
                    <a:pt x="0" y="4754880"/>
                  </a:lnTo>
                  <a:close/>
                </a:path>
              </a:pathLst>
            </a:custGeom>
            <a:solidFill>
              <a:srgbClr val="F8F9FA"/>
            </a:solidFill>
          </p:spPr>
        </p:sp>
        <p:sp>
          <p:nvSpPr>
            <p:cNvPr name="Freeform 27" id="27"/>
            <p:cNvSpPr/>
            <p:nvPr/>
          </p:nvSpPr>
          <p:spPr>
            <a:xfrm flipH="false" flipV="false" rot="0">
              <a:off x="0" y="0"/>
              <a:ext cx="7340600" cy="4780280"/>
            </a:xfrm>
            <a:custGeom>
              <a:avLst/>
              <a:gdLst/>
              <a:ahLst/>
              <a:cxnLst/>
              <a:rect r="r" b="b" t="t" l="l"/>
              <a:pathLst>
                <a:path h="4780280" w="7340600">
                  <a:moveTo>
                    <a:pt x="12700" y="0"/>
                  </a:moveTo>
                  <a:lnTo>
                    <a:pt x="7327900" y="0"/>
                  </a:lnTo>
                  <a:cubicBezTo>
                    <a:pt x="7334885" y="0"/>
                    <a:pt x="7340600" y="5715"/>
                    <a:pt x="7340600" y="12700"/>
                  </a:cubicBezTo>
                  <a:lnTo>
                    <a:pt x="7340600" y="4767580"/>
                  </a:lnTo>
                  <a:cubicBezTo>
                    <a:pt x="7340600" y="4774565"/>
                    <a:pt x="7334885" y="4780280"/>
                    <a:pt x="7327900" y="4780280"/>
                  </a:cubicBezTo>
                  <a:lnTo>
                    <a:pt x="12700" y="4780280"/>
                  </a:lnTo>
                  <a:cubicBezTo>
                    <a:pt x="5715" y="4780280"/>
                    <a:pt x="0" y="4774565"/>
                    <a:pt x="0" y="4767580"/>
                  </a:cubicBezTo>
                  <a:lnTo>
                    <a:pt x="0" y="12700"/>
                  </a:lnTo>
                  <a:cubicBezTo>
                    <a:pt x="0" y="5715"/>
                    <a:pt x="5715" y="0"/>
                    <a:pt x="12700" y="0"/>
                  </a:cubicBezTo>
                  <a:moveTo>
                    <a:pt x="12700" y="25400"/>
                  </a:moveTo>
                  <a:lnTo>
                    <a:pt x="12700" y="12700"/>
                  </a:lnTo>
                  <a:lnTo>
                    <a:pt x="25400" y="12700"/>
                  </a:lnTo>
                  <a:lnTo>
                    <a:pt x="25400" y="4767580"/>
                  </a:lnTo>
                  <a:lnTo>
                    <a:pt x="12700" y="4767580"/>
                  </a:lnTo>
                  <a:lnTo>
                    <a:pt x="12700" y="4754880"/>
                  </a:lnTo>
                  <a:lnTo>
                    <a:pt x="7327900" y="4754880"/>
                  </a:lnTo>
                  <a:lnTo>
                    <a:pt x="7327900" y="4767580"/>
                  </a:lnTo>
                  <a:lnTo>
                    <a:pt x="7315200" y="4767580"/>
                  </a:lnTo>
                  <a:lnTo>
                    <a:pt x="7315200" y="12700"/>
                  </a:lnTo>
                  <a:lnTo>
                    <a:pt x="7327900" y="12700"/>
                  </a:lnTo>
                  <a:lnTo>
                    <a:pt x="7327900" y="25400"/>
                  </a:lnTo>
                  <a:lnTo>
                    <a:pt x="12700" y="25400"/>
                  </a:lnTo>
                  <a:close/>
                </a:path>
              </a:pathLst>
            </a:custGeom>
            <a:solidFill>
              <a:srgbClr val="E9ECEF"/>
            </a:solidFill>
          </p:spPr>
        </p:sp>
      </p:grpSp>
      <p:grpSp>
        <p:nvGrpSpPr>
          <p:cNvPr name="Group 28" id="28"/>
          <p:cNvGrpSpPr/>
          <p:nvPr/>
        </p:nvGrpSpPr>
        <p:grpSpPr>
          <a:xfrm rot="0">
            <a:off x="6583680" y="2331720"/>
            <a:ext cx="109728" cy="3566160"/>
            <a:chOff x="0" y="0"/>
            <a:chExt cx="146304" cy="4754880"/>
          </a:xfrm>
        </p:grpSpPr>
        <p:sp>
          <p:nvSpPr>
            <p:cNvPr name="Freeform 29" id="29"/>
            <p:cNvSpPr/>
            <p:nvPr/>
          </p:nvSpPr>
          <p:spPr>
            <a:xfrm flipH="false" flipV="false" rot="0">
              <a:off x="0" y="0"/>
              <a:ext cx="146304" cy="4754880"/>
            </a:xfrm>
            <a:custGeom>
              <a:avLst/>
              <a:gdLst/>
              <a:ahLst/>
              <a:cxnLst/>
              <a:rect r="r" b="b" t="t" l="l"/>
              <a:pathLst>
                <a:path h="4754880" w="146304">
                  <a:moveTo>
                    <a:pt x="0" y="0"/>
                  </a:moveTo>
                  <a:lnTo>
                    <a:pt x="146304" y="0"/>
                  </a:lnTo>
                  <a:lnTo>
                    <a:pt x="146304" y="4754880"/>
                  </a:lnTo>
                  <a:lnTo>
                    <a:pt x="0" y="4754880"/>
                  </a:lnTo>
                  <a:close/>
                </a:path>
              </a:pathLst>
            </a:custGeom>
            <a:solidFill>
              <a:srgbClr val="2D6A4F"/>
            </a:solidFill>
          </p:spPr>
        </p:sp>
      </p:grpSp>
      <p:grpSp>
        <p:nvGrpSpPr>
          <p:cNvPr name="Group 30" id="30"/>
          <p:cNvGrpSpPr/>
          <p:nvPr/>
        </p:nvGrpSpPr>
        <p:grpSpPr>
          <a:xfrm rot="0">
            <a:off x="6995160" y="2537460"/>
            <a:ext cx="1371600" cy="685800"/>
            <a:chOff x="0" y="0"/>
            <a:chExt cx="1828800" cy="914400"/>
          </a:xfrm>
        </p:grpSpPr>
        <p:sp>
          <p:nvSpPr>
            <p:cNvPr name="Freeform 31" id="31"/>
            <p:cNvSpPr/>
            <p:nvPr/>
          </p:nvSpPr>
          <p:spPr>
            <a:xfrm flipH="false" flipV="false" rot="0">
              <a:off x="0" y="0"/>
              <a:ext cx="1828800" cy="914400"/>
            </a:xfrm>
            <a:custGeom>
              <a:avLst/>
              <a:gdLst/>
              <a:ahLst/>
              <a:cxnLst/>
              <a:rect r="r" b="b" t="t" l="l"/>
              <a:pathLst>
                <a:path h="914400" w="1828800">
                  <a:moveTo>
                    <a:pt x="0" y="0"/>
                  </a:moveTo>
                  <a:lnTo>
                    <a:pt x="1828800" y="0"/>
                  </a:lnTo>
                  <a:lnTo>
                    <a:pt x="1828800" y="914400"/>
                  </a:lnTo>
                  <a:lnTo>
                    <a:pt x="0" y="914400"/>
                  </a:lnTo>
                  <a:close/>
                </a:path>
              </a:pathLst>
            </a:custGeom>
            <a:blipFill>
              <a:blip r:embed="rId3">
                <a:alphaModFix amt="0"/>
              </a:blip>
              <a:stretch>
                <a:fillRect l="-14151" t="0" r="-14151" b="0"/>
              </a:stretch>
            </a:blipFill>
          </p:spPr>
        </p:sp>
        <p:sp>
          <p:nvSpPr>
            <p:cNvPr name="TextBox 32" id="32"/>
            <p:cNvSpPr txBox="true"/>
            <p:nvPr/>
          </p:nvSpPr>
          <p:spPr>
            <a:xfrm>
              <a:off x="0" y="-47625"/>
              <a:ext cx="1828800" cy="962025"/>
            </a:xfrm>
            <a:prstGeom prst="rect">
              <a:avLst/>
            </a:prstGeom>
          </p:spPr>
          <p:txBody>
            <a:bodyPr anchor="ctr" rtlCol="false" tIns="0" lIns="0" bIns="0" rIns="0"/>
            <a:lstStyle/>
            <a:p>
              <a:pPr algn="l">
                <a:lnSpc>
                  <a:spcPts val="2520"/>
                </a:lnSpc>
              </a:pPr>
              <a:r>
                <a:rPr lang="en-US" sz="2100" b="true">
                  <a:solidFill>
                    <a:srgbClr val="E76F51"/>
                  </a:solidFill>
                  <a:latin typeface="Calibri (MS) Bold"/>
                  <a:ea typeface="Calibri (MS) Bold"/>
                  <a:cs typeface="Calibri (MS) Bold"/>
                  <a:sym typeface="Calibri (MS) Bold"/>
                </a:rPr>
                <a:t>02</a:t>
              </a:r>
            </a:p>
          </p:txBody>
        </p:sp>
      </p:grpSp>
      <p:grpSp>
        <p:nvGrpSpPr>
          <p:cNvPr name="Group 33" id="33"/>
          <p:cNvGrpSpPr/>
          <p:nvPr/>
        </p:nvGrpSpPr>
        <p:grpSpPr>
          <a:xfrm rot="0">
            <a:off x="6995160" y="3017520"/>
            <a:ext cx="4937760" cy="685800"/>
            <a:chOff x="0" y="0"/>
            <a:chExt cx="6583680" cy="914400"/>
          </a:xfrm>
        </p:grpSpPr>
        <p:sp>
          <p:nvSpPr>
            <p:cNvPr name="Freeform 34" id="34"/>
            <p:cNvSpPr/>
            <p:nvPr/>
          </p:nvSpPr>
          <p:spPr>
            <a:xfrm flipH="false" flipV="false" rot="0">
              <a:off x="0" y="0"/>
              <a:ext cx="6583680" cy="914400"/>
            </a:xfrm>
            <a:custGeom>
              <a:avLst/>
              <a:gdLst/>
              <a:ahLst/>
              <a:cxnLst/>
              <a:rect r="r" b="b" t="t" l="l"/>
              <a:pathLst>
                <a:path h="914400" w="6583680">
                  <a:moveTo>
                    <a:pt x="0" y="0"/>
                  </a:moveTo>
                  <a:lnTo>
                    <a:pt x="6583680" y="0"/>
                  </a:lnTo>
                  <a:lnTo>
                    <a:pt x="6583680" y="914400"/>
                  </a:lnTo>
                  <a:lnTo>
                    <a:pt x="0" y="914400"/>
                  </a:lnTo>
                  <a:close/>
                </a:path>
              </a:pathLst>
            </a:custGeom>
            <a:blipFill>
              <a:blip r:embed="rId3">
                <a:alphaModFix amt="0"/>
              </a:blip>
              <a:stretch>
                <a:fillRect l="0" t="-90292" r="0" b="-90292"/>
              </a:stretch>
            </a:blipFill>
          </p:spPr>
        </p:sp>
        <p:sp>
          <p:nvSpPr>
            <p:cNvPr name="TextBox 35" id="35"/>
            <p:cNvSpPr txBox="true"/>
            <p:nvPr/>
          </p:nvSpPr>
          <p:spPr>
            <a:xfrm>
              <a:off x="0" y="0"/>
              <a:ext cx="6583680" cy="914400"/>
            </a:xfrm>
            <a:prstGeom prst="rect">
              <a:avLst/>
            </a:prstGeom>
          </p:spPr>
          <p:txBody>
            <a:bodyPr anchor="ctr" rtlCol="false" tIns="0" lIns="0" bIns="0" rIns="0"/>
            <a:lstStyle/>
            <a:p>
              <a:pPr algn="l">
                <a:lnSpc>
                  <a:spcPts val="3960"/>
                </a:lnSpc>
              </a:pPr>
              <a:r>
                <a:rPr lang="en-US" sz="3300" b="true">
                  <a:solidFill>
                    <a:srgbClr val="1A2E23"/>
                  </a:solidFill>
                  <a:latin typeface="Georgia Bold"/>
                  <a:ea typeface="Georgia Bold"/>
                  <a:cs typeface="Georgia Bold"/>
                  <a:sym typeface="Georgia Bold"/>
                </a:rPr>
                <a:t>Solution-Aware</a:t>
              </a:r>
            </a:p>
          </p:txBody>
        </p:sp>
      </p:grpSp>
      <p:grpSp>
        <p:nvGrpSpPr>
          <p:cNvPr name="Group 36" id="36"/>
          <p:cNvGrpSpPr/>
          <p:nvPr/>
        </p:nvGrpSpPr>
        <p:grpSpPr>
          <a:xfrm rot="0">
            <a:off x="6995160" y="3840480"/>
            <a:ext cx="4937760" cy="480060"/>
            <a:chOff x="0" y="0"/>
            <a:chExt cx="6583680" cy="640080"/>
          </a:xfrm>
        </p:grpSpPr>
        <p:sp>
          <p:nvSpPr>
            <p:cNvPr name="Freeform 37" id="37"/>
            <p:cNvSpPr/>
            <p:nvPr/>
          </p:nvSpPr>
          <p:spPr>
            <a:xfrm flipH="false" flipV="false" rot="0">
              <a:off x="0" y="0"/>
              <a:ext cx="6583680" cy="640080"/>
            </a:xfrm>
            <a:custGeom>
              <a:avLst/>
              <a:gdLst/>
              <a:ahLst/>
              <a:cxnLst/>
              <a:rect r="r" b="b" t="t" l="l"/>
              <a:pathLst>
                <a:path h="640080" w="6583680">
                  <a:moveTo>
                    <a:pt x="0" y="0"/>
                  </a:moveTo>
                  <a:lnTo>
                    <a:pt x="6583680" y="0"/>
                  </a:lnTo>
                  <a:lnTo>
                    <a:pt x="6583680" y="640080"/>
                  </a:lnTo>
                  <a:lnTo>
                    <a:pt x="0" y="640080"/>
                  </a:lnTo>
                  <a:close/>
                </a:path>
              </a:pathLst>
            </a:custGeom>
            <a:blipFill>
              <a:blip r:embed="rId3">
                <a:alphaModFix amt="0"/>
              </a:blip>
              <a:stretch>
                <a:fillRect l="0" t="-150417" r="0" b="-150417"/>
              </a:stretch>
            </a:blipFill>
          </p:spPr>
        </p:sp>
        <p:sp>
          <p:nvSpPr>
            <p:cNvPr name="TextBox 38" id="38"/>
            <p:cNvSpPr txBox="true"/>
            <p:nvPr/>
          </p:nvSpPr>
          <p:spPr>
            <a:xfrm>
              <a:off x="0" y="-38100"/>
              <a:ext cx="6583680" cy="678180"/>
            </a:xfrm>
            <a:prstGeom prst="rect">
              <a:avLst/>
            </a:prstGeom>
          </p:spPr>
          <p:txBody>
            <a:bodyPr anchor="ctr" rtlCol="false" tIns="0" lIns="0" bIns="0" rIns="0"/>
            <a:lstStyle/>
            <a:p>
              <a:pPr algn="l">
                <a:lnSpc>
                  <a:spcPts val="2160"/>
                </a:lnSpc>
              </a:pPr>
              <a:r>
                <a:rPr lang="en-US" sz="1800" b="true">
                  <a:solidFill>
                    <a:srgbClr val="1A2E23"/>
                  </a:solidFill>
                  <a:latin typeface="Calibri (MS) Bold"/>
                  <a:ea typeface="Calibri (MS) Bold"/>
                  <a:cs typeface="Calibri (MS) Bold"/>
                  <a:sym typeface="Calibri (MS) Bold"/>
                </a:rPr>
                <a:t>55%</a:t>
              </a:r>
              <a:r>
                <a:rPr lang="en-US" sz="1800">
                  <a:solidFill>
                    <a:srgbClr val="6C757D"/>
                  </a:solidFill>
                  <a:latin typeface="Calibri (MS)"/>
                  <a:ea typeface="Calibri (MS)"/>
                  <a:cs typeface="Calibri (MS)"/>
                  <a:sym typeface="Calibri (MS)"/>
                </a:rPr>
                <a:t>  of budget  ·  </a:t>
              </a:r>
              <a:r>
                <a:rPr lang="en-US" sz="1800" b="true">
                  <a:solidFill>
                    <a:srgbClr val="2D6A4F"/>
                  </a:solidFill>
                  <a:latin typeface="Calibri (MS) Bold"/>
                  <a:ea typeface="Calibri (MS) Bold"/>
                  <a:cs typeface="Calibri (MS) Bold"/>
                  <a:sym typeface="Calibri (MS) Bold"/>
                </a:rPr>
                <a:t>3.09×</a:t>
              </a:r>
              <a:r>
                <a:rPr lang="en-US" sz="1800">
                  <a:solidFill>
                    <a:srgbClr val="6C757D"/>
                  </a:solidFill>
                  <a:latin typeface="Calibri (MS)"/>
                  <a:ea typeface="Calibri (MS)"/>
                  <a:cs typeface="Calibri (MS)"/>
                  <a:sym typeface="Calibri (MS)"/>
                </a:rPr>
                <a:t>  NL benchmark</a:t>
              </a:r>
            </a:p>
          </p:txBody>
        </p:sp>
      </p:grpSp>
      <p:grpSp>
        <p:nvGrpSpPr>
          <p:cNvPr name="Group 39" id="39"/>
          <p:cNvGrpSpPr/>
          <p:nvPr/>
        </p:nvGrpSpPr>
        <p:grpSpPr>
          <a:xfrm rot="0">
            <a:off x="6995160" y="4457700"/>
            <a:ext cx="4937760" cy="1371600"/>
            <a:chOff x="0" y="0"/>
            <a:chExt cx="6583680" cy="1828800"/>
          </a:xfrm>
        </p:grpSpPr>
        <p:sp>
          <p:nvSpPr>
            <p:cNvPr name="Freeform 40" id="40"/>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3">
                <a:alphaModFix amt="0"/>
              </a:blip>
              <a:stretch>
                <a:fillRect l="0" t="-20146" r="0" b="-20146"/>
              </a:stretch>
            </a:blipFill>
          </p:spPr>
        </p:sp>
        <p:sp>
          <p:nvSpPr>
            <p:cNvPr name="TextBox 41" id="41"/>
            <p:cNvSpPr txBox="true"/>
            <p:nvPr/>
          </p:nvSpPr>
          <p:spPr>
            <a:xfrm>
              <a:off x="0" y="0"/>
              <a:ext cx="6583680" cy="1828800"/>
            </a:xfrm>
            <a:prstGeom prst="rect">
              <a:avLst/>
            </a:prstGeom>
          </p:spPr>
          <p:txBody>
            <a:bodyPr anchor="ctr" rtlCol="false" tIns="0" lIns="0" bIns="0" rIns="0"/>
            <a:lstStyle/>
            <a:p>
              <a:pPr algn="l">
                <a:lnSpc>
                  <a:spcPts val="2160"/>
                </a:lnSpc>
              </a:pPr>
              <a:r>
                <a:rPr lang="en-US" sz="1800" spc="-10">
                  <a:solidFill>
                    <a:srgbClr val="1A2E23"/>
                  </a:solidFill>
                  <a:latin typeface="TT Rounds Condensed"/>
                  <a:ea typeface="TT Rounds Condensed"/>
                  <a:cs typeface="TT Rounds Condensed"/>
                  <a:sym typeface="TT Rounds Condensed"/>
                </a:rPr>
                <a:t>Category queries: tannpulver, tannpleie, tannstein fjerning. Volume + highest ROAS.</a:t>
              </a:r>
            </a:p>
          </p:txBody>
        </p:sp>
      </p:grpSp>
      <p:grpSp>
        <p:nvGrpSpPr>
          <p:cNvPr name="Group 42" id="42"/>
          <p:cNvGrpSpPr/>
          <p:nvPr/>
        </p:nvGrpSpPr>
        <p:grpSpPr>
          <a:xfrm rot="0">
            <a:off x="12472035" y="2322195"/>
            <a:ext cx="5505450" cy="3585210"/>
            <a:chOff x="0" y="0"/>
            <a:chExt cx="7340600" cy="4780280"/>
          </a:xfrm>
        </p:grpSpPr>
        <p:sp>
          <p:nvSpPr>
            <p:cNvPr name="Freeform 43" id="43"/>
            <p:cNvSpPr/>
            <p:nvPr/>
          </p:nvSpPr>
          <p:spPr>
            <a:xfrm flipH="false" flipV="false" rot="0">
              <a:off x="12700" y="12700"/>
              <a:ext cx="7315200" cy="4754880"/>
            </a:xfrm>
            <a:custGeom>
              <a:avLst/>
              <a:gdLst/>
              <a:ahLst/>
              <a:cxnLst/>
              <a:rect r="r" b="b" t="t" l="l"/>
              <a:pathLst>
                <a:path h="4754880" w="7315200">
                  <a:moveTo>
                    <a:pt x="0" y="0"/>
                  </a:moveTo>
                  <a:lnTo>
                    <a:pt x="7315200" y="0"/>
                  </a:lnTo>
                  <a:lnTo>
                    <a:pt x="7315200" y="4754880"/>
                  </a:lnTo>
                  <a:lnTo>
                    <a:pt x="0" y="4754880"/>
                  </a:lnTo>
                  <a:close/>
                </a:path>
              </a:pathLst>
            </a:custGeom>
            <a:solidFill>
              <a:srgbClr val="F8F9FA"/>
            </a:solidFill>
          </p:spPr>
        </p:sp>
        <p:sp>
          <p:nvSpPr>
            <p:cNvPr name="Freeform 44" id="44"/>
            <p:cNvSpPr/>
            <p:nvPr/>
          </p:nvSpPr>
          <p:spPr>
            <a:xfrm flipH="false" flipV="false" rot="0">
              <a:off x="0" y="0"/>
              <a:ext cx="7340600" cy="4780280"/>
            </a:xfrm>
            <a:custGeom>
              <a:avLst/>
              <a:gdLst/>
              <a:ahLst/>
              <a:cxnLst/>
              <a:rect r="r" b="b" t="t" l="l"/>
              <a:pathLst>
                <a:path h="4780280" w="7340600">
                  <a:moveTo>
                    <a:pt x="12700" y="0"/>
                  </a:moveTo>
                  <a:lnTo>
                    <a:pt x="7327900" y="0"/>
                  </a:lnTo>
                  <a:cubicBezTo>
                    <a:pt x="7334885" y="0"/>
                    <a:pt x="7340600" y="5715"/>
                    <a:pt x="7340600" y="12700"/>
                  </a:cubicBezTo>
                  <a:lnTo>
                    <a:pt x="7340600" y="4767580"/>
                  </a:lnTo>
                  <a:cubicBezTo>
                    <a:pt x="7340600" y="4774565"/>
                    <a:pt x="7334885" y="4780280"/>
                    <a:pt x="7327900" y="4780280"/>
                  </a:cubicBezTo>
                  <a:lnTo>
                    <a:pt x="12700" y="4780280"/>
                  </a:lnTo>
                  <a:cubicBezTo>
                    <a:pt x="5715" y="4780280"/>
                    <a:pt x="0" y="4774565"/>
                    <a:pt x="0" y="4767580"/>
                  </a:cubicBezTo>
                  <a:lnTo>
                    <a:pt x="0" y="12700"/>
                  </a:lnTo>
                  <a:cubicBezTo>
                    <a:pt x="0" y="5715"/>
                    <a:pt x="5715" y="0"/>
                    <a:pt x="12700" y="0"/>
                  </a:cubicBezTo>
                  <a:moveTo>
                    <a:pt x="12700" y="25400"/>
                  </a:moveTo>
                  <a:lnTo>
                    <a:pt x="12700" y="12700"/>
                  </a:lnTo>
                  <a:lnTo>
                    <a:pt x="25400" y="12700"/>
                  </a:lnTo>
                  <a:lnTo>
                    <a:pt x="25400" y="4767580"/>
                  </a:lnTo>
                  <a:lnTo>
                    <a:pt x="12700" y="4767580"/>
                  </a:lnTo>
                  <a:lnTo>
                    <a:pt x="12700" y="4754880"/>
                  </a:lnTo>
                  <a:lnTo>
                    <a:pt x="7327900" y="4754880"/>
                  </a:lnTo>
                  <a:lnTo>
                    <a:pt x="7327900" y="4767580"/>
                  </a:lnTo>
                  <a:lnTo>
                    <a:pt x="7315200" y="4767580"/>
                  </a:lnTo>
                  <a:lnTo>
                    <a:pt x="7315200" y="12700"/>
                  </a:lnTo>
                  <a:lnTo>
                    <a:pt x="7327900" y="12700"/>
                  </a:lnTo>
                  <a:lnTo>
                    <a:pt x="7327900" y="25400"/>
                  </a:lnTo>
                  <a:lnTo>
                    <a:pt x="12700" y="25400"/>
                  </a:lnTo>
                  <a:close/>
                </a:path>
              </a:pathLst>
            </a:custGeom>
            <a:solidFill>
              <a:srgbClr val="E9ECEF"/>
            </a:solidFill>
          </p:spPr>
        </p:sp>
      </p:grpSp>
      <p:grpSp>
        <p:nvGrpSpPr>
          <p:cNvPr name="Group 45" id="45"/>
          <p:cNvGrpSpPr/>
          <p:nvPr/>
        </p:nvGrpSpPr>
        <p:grpSpPr>
          <a:xfrm rot="0">
            <a:off x="12481560" y="2331720"/>
            <a:ext cx="109728" cy="3566160"/>
            <a:chOff x="0" y="0"/>
            <a:chExt cx="146304" cy="4754880"/>
          </a:xfrm>
        </p:grpSpPr>
        <p:sp>
          <p:nvSpPr>
            <p:cNvPr name="Freeform 46" id="46"/>
            <p:cNvSpPr/>
            <p:nvPr/>
          </p:nvSpPr>
          <p:spPr>
            <a:xfrm flipH="false" flipV="false" rot="0">
              <a:off x="0" y="0"/>
              <a:ext cx="146304" cy="4754880"/>
            </a:xfrm>
            <a:custGeom>
              <a:avLst/>
              <a:gdLst/>
              <a:ahLst/>
              <a:cxnLst/>
              <a:rect r="r" b="b" t="t" l="l"/>
              <a:pathLst>
                <a:path h="4754880" w="146304">
                  <a:moveTo>
                    <a:pt x="0" y="0"/>
                  </a:moveTo>
                  <a:lnTo>
                    <a:pt x="146304" y="0"/>
                  </a:lnTo>
                  <a:lnTo>
                    <a:pt x="146304" y="4754880"/>
                  </a:lnTo>
                  <a:lnTo>
                    <a:pt x="0" y="4754880"/>
                  </a:lnTo>
                  <a:close/>
                </a:path>
              </a:pathLst>
            </a:custGeom>
            <a:solidFill>
              <a:srgbClr val="2D6A4F"/>
            </a:solidFill>
          </p:spPr>
        </p:sp>
      </p:grpSp>
      <p:grpSp>
        <p:nvGrpSpPr>
          <p:cNvPr name="Group 47" id="47"/>
          <p:cNvGrpSpPr/>
          <p:nvPr/>
        </p:nvGrpSpPr>
        <p:grpSpPr>
          <a:xfrm rot="0">
            <a:off x="12893040" y="2537460"/>
            <a:ext cx="1371600" cy="685800"/>
            <a:chOff x="0" y="0"/>
            <a:chExt cx="1828800" cy="914400"/>
          </a:xfrm>
        </p:grpSpPr>
        <p:sp>
          <p:nvSpPr>
            <p:cNvPr name="Freeform 48" id="48"/>
            <p:cNvSpPr/>
            <p:nvPr/>
          </p:nvSpPr>
          <p:spPr>
            <a:xfrm flipH="false" flipV="false" rot="0">
              <a:off x="0" y="0"/>
              <a:ext cx="1828800" cy="914400"/>
            </a:xfrm>
            <a:custGeom>
              <a:avLst/>
              <a:gdLst/>
              <a:ahLst/>
              <a:cxnLst/>
              <a:rect r="r" b="b" t="t" l="l"/>
              <a:pathLst>
                <a:path h="914400" w="1828800">
                  <a:moveTo>
                    <a:pt x="0" y="0"/>
                  </a:moveTo>
                  <a:lnTo>
                    <a:pt x="1828800" y="0"/>
                  </a:lnTo>
                  <a:lnTo>
                    <a:pt x="1828800" y="914400"/>
                  </a:lnTo>
                  <a:lnTo>
                    <a:pt x="0" y="914400"/>
                  </a:lnTo>
                  <a:close/>
                </a:path>
              </a:pathLst>
            </a:custGeom>
            <a:blipFill>
              <a:blip r:embed="rId3">
                <a:alphaModFix amt="0"/>
              </a:blip>
              <a:stretch>
                <a:fillRect l="-14151" t="0" r="-14151" b="0"/>
              </a:stretch>
            </a:blipFill>
          </p:spPr>
        </p:sp>
        <p:sp>
          <p:nvSpPr>
            <p:cNvPr name="TextBox 49" id="49"/>
            <p:cNvSpPr txBox="true"/>
            <p:nvPr/>
          </p:nvSpPr>
          <p:spPr>
            <a:xfrm>
              <a:off x="0" y="-47625"/>
              <a:ext cx="1828800" cy="962025"/>
            </a:xfrm>
            <a:prstGeom prst="rect">
              <a:avLst/>
            </a:prstGeom>
          </p:spPr>
          <p:txBody>
            <a:bodyPr anchor="ctr" rtlCol="false" tIns="0" lIns="0" bIns="0" rIns="0"/>
            <a:lstStyle/>
            <a:p>
              <a:pPr algn="l">
                <a:lnSpc>
                  <a:spcPts val="2520"/>
                </a:lnSpc>
              </a:pPr>
              <a:r>
                <a:rPr lang="en-US" sz="2100" b="true">
                  <a:solidFill>
                    <a:srgbClr val="E76F51"/>
                  </a:solidFill>
                  <a:latin typeface="Calibri (MS) Bold"/>
                  <a:ea typeface="Calibri (MS) Bold"/>
                  <a:cs typeface="Calibri (MS) Bold"/>
                  <a:sym typeface="Calibri (MS) Bold"/>
                </a:rPr>
                <a:t>03</a:t>
              </a:r>
            </a:p>
          </p:txBody>
        </p:sp>
      </p:grpSp>
      <p:grpSp>
        <p:nvGrpSpPr>
          <p:cNvPr name="Group 50" id="50"/>
          <p:cNvGrpSpPr/>
          <p:nvPr/>
        </p:nvGrpSpPr>
        <p:grpSpPr>
          <a:xfrm rot="0">
            <a:off x="12893040" y="3017520"/>
            <a:ext cx="4937760" cy="685800"/>
            <a:chOff x="0" y="0"/>
            <a:chExt cx="6583680" cy="914400"/>
          </a:xfrm>
        </p:grpSpPr>
        <p:sp>
          <p:nvSpPr>
            <p:cNvPr name="Freeform 51" id="51"/>
            <p:cNvSpPr/>
            <p:nvPr/>
          </p:nvSpPr>
          <p:spPr>
            <a:xfrm flipH="false" flipV="false" rot="0">
              <a:off x="0" y="0"/>
              <a:ext cx="6583680" cy="914400"/>
            </a:xfrm>
            <a:custGeom>
              <a:avLst/>
              <a:gdLst/>
              <a:ahLst/>
              <a:cxnLst/>
              <a:rect r="r" b="b" t="t" l="l"/>
              <a:pathLst>
                <a:path h="914400" w="6583680">
                  <a:moveTo>
                    <a:pt x="0" y="0"/>
                  </a:moveTo>
                  <a:lnTo>
                    <a:pt x="6583680" y="0"/>
                  </a:lnTo>
                  <a:lnTo>
                    <a:pt x="6583680" y="914400"/>
                  </a:lnTo>
                  <a:lnTo>
                    <a:pt x="0" y="914400"/>
                  </a:lnTo>
                  <a:close/>
                </a:path>
              </a:pathLst>
            </a:custGeom>
            <a:blipFill>
              <a:blip r:embed="rId3">
                <a:alphaModFix amt="0"/>
              </a:blip>
              <a:stretch>
                <a:fillRect l="0" t="-90292" r="0" b="-90292"/>
              </a:stretch>
            </a:blipFill>
          </p:spPr>
        </p:sp>
        <p:sp>
          <p:nvSpPr>
            <p:cNvPr name="TextBox 52" id="52"/>
            <p:cNvSpPr txBox="true"/>
            <p:nvPr/>
          </p:nvSpPr>
          <p:spPr>
            <a:xfrm>
              <a:off x="0" y="0"/>
              <a:ext cx="6583680" cy="914400"/>
            </a:xfrm>
            <a:prstGeom prst="rect">
              <a:avLst/>
            </a:prstGeom>
          </p:spPr>
          <p:txBody>
            <a:bodyPr anchor="ctr" rtlCol="false" tIns="0" lIns="0" bIns="0" rIns="0"/>
            <a:lstStyle/>
            <a:p>
              <a:pPr algn="l">
                <a:lnSpc>
                  <a:spcPts val="3960"/>
                </a:lnSpc>
              </a:pPr>
              <a:r>
                <a:rPr lang="en-US" sz="3300" b="true">
                  <a:solidFill>
                    <a:srgbClr val="1A2E23"/>
                  </a:solidFill>
                  <a:latin typeface="Georgia Bold"/>
                  <a:ea typeface="Georgia Bold"/>
                  <a:cs typeface="Georgia Bold"/>
                  <a:sym typeface="Georgia Bold"/>
                </a:rPr>
                <a:t>DSA Discovery</a:t>
              </a:r>
            </a:p>
          </p:txBody>
        </p:sp>
      </p:grpSp>
      <p:grpSp>
        <p:nvGrpSpPr>
          <p:cNvPr name="Group 53" id="53"/>
          <p:cNvGrpSpPr/>
          <p:nvPr/>
        </p:nvGrpSpPr>
        <p:grpSpPr>
          <a:xfrm rot="0">
            <a:off x="12893040" y="3840480"/>
            <a:ext cx="4937760" cy="480060"/>
            <a:chOff x="0" y="0"/>
            <a:chExt cx="6583680" cy="640080"/>
          </a:xfrm>
        </p:grpSpPr>
        <p:sp>
          <p:nvSpPr>
            <p:cNvPr name="Freeform 54" id="54"/>
            <p:cNvSpPr/>
            <p:nvPr/>
          </p:nvSpPr>
          <p:spPr>
            <a:xfrm flipH="false" flipV="false" rot="0">
              <a:off x="0" y="0"/>
              <a:ext cx="6583680" cy="640080"/>
            </a:xfrm>
            <a:custGeom>
              <a:avLst/>
              <a:gdLst/>
              <a:ahLst/>
              <a:cxnLst/>
              <a:rect r="r" b="b" t="t" l="l"/>
              <a:pathLst>
                <a:path h="640080" w="6583680">
                  <a:moveTo>
                    <a:pt x="0" y="0"/>
                  </a:moveTo>
                  <a:lnTo>
                    <a:pt x="6583680" y="0"/>
                  </a:lnTo>
                  <a:lnTo>
                    <a:pt x="6583680" y="640080"/>
                  </a:lnTo>
                  <a:lnTo>
                    <a:pt x="0" y="640080"/>
                  </a:lnTo>
                  <a:close/>
                </a:path>
              </a:pathLst>
            </a:custGeom>
            <a:blipFill>
              <a:blip r:embed="rId3">
                <a:alphaModFix amt="0"/>
              </a:blip>
              <a:stretch>
                <a:fillRect l="0" t="-150417" r="0" b="-150417"/>
              </a:stretch>
            </a:blipFill>
          </p:spPr>
        </p:sp>
        <p:sp>
          <p:nvSpPr>
            <p:cNvPr name="TextBox 55" id="55"/>
            <p:cNvSpPr txBox="true"/>
            <p:nvPr/>
          </p:nvSpPr>
          <p:spPr>
            <a:xfrm>
              <a:off x="0" y="-38100"/>
              <a:ext cx="6583680" cy="678180"/>
            </a:xfrm>
            <a:prstGeom prst="rect">
              <a:avLst/>
            </a:prstGeom>
          </p:spPr>
          <p:txBody>
            <a:bodyPr anchor="ctr" rtlCol="false" tIns="0" lIns="0" bIns="0" rIns="0"/>
            <a:lstStyle/>
            <a:p>
              <a:pPr algn="l">
                <a:lnSpc>
                  <a:spcPts val="2160"/>
                </a:lnSpc>
              </a:pPr>
              <a:r>
                <a:rPr lang="en-US" sz="1800" b="true">
                  <a:solidFill>
                    <a:srgbClr val="1A2E23"/>
                  </a:solidFill>
                  <a:latin typeface="Calibri (MS) Bold"/>
                  <a:ea typeface="Calibri (MS) Bold"/>
                  <a:cs typeface="Calibri (MS) Bold"/>
                  <a:sym typeface="Calibri (MS) Bold"/>
                </a:rPr>
                <a:t>15%</a:t>
              </a:r>
              <a:r>
                <a:rPr lang="en-US" sz="1800">
                  <a:solidFill>
                    <a:srgbClr val="6C757D"/>
                  </a:solidFill>
                  <a:latin typeface="Calibri (MS)"/>
                  <a:ea typeface="Calibri (MS)"/>
                  <a:cs typeface="Calibri (MS)"/>
                  <a:sym typeface="Calibri (MS)"/>
                </a:rPr>
                <a:t>  of budget  ·  </a:t>
              </a:r>
              <a:r>
                <a:rPr lang="en-US" sz="1800" b="true">
                  <a:solidFill>
                    <a:srgbClr val="2D6A4F"/>
                  </a:solidFill>
                  <a:latin typeface="Calibri (MS) Bold"/>
                  <a:ea typeface="Calibri (MS) Bold"/>
                  <a:cs typeface="Calibri (MS) Bold"/>
                  <a:sym typeface="Calibri (MS) Bold"/>
                </a:rPr>
                <a:t>~1.8×</a:t>
              </a:r>
              <a:r>
                <a:rPr lang="en-US" sz="1800">
                  <a:solidFill>
                    <a:srgbClr val="6C757D"/>
                  </a:solidFill>
                  <a:latin typeface="Calibri (MS)"/>
                  <a:ea typeface="Calibri (MS)"/>
                  <a:cs typeface="Calibri (MS)"/>
                  <a:sym typeface="Calibri (MS)"/>
                </a:rPr>
                <a:t>  NL benchmark</a:t>
              </a:r>
            </a:p>
          </p:txBody>
        </p:sp>
      </p:grpSp>
      <p:grpSp>
        <p:nvGrpSpPr>
          <p:cNvPr name="Group 56" id="56"/>
          <p:cNvGrpSpPr/>
          <p:nvPr/>
        </p:nvGrpSpPr>
        <p:grpSpPr>
          <a:xfrm rot="0">
            <a:off x="12893040" y="4457700"/>
            <a:ext cx="4937760" cy="1371600"/>
            <a:chOff x="0" y="0"/>
            <a:chExt cx="6583680" cy="1828800"/>
          </a:xfrm>
        </p:grpSpPr>
        <p:sp>
          <p:nvSpPr>
            <p:cNvPr name="Freeform 57" id="57"/>
            <p:cNvSpPr/>
            <p:nvPr/>
          </p:nvSpPr>
          <p:spPr>
            <a:xfrm flipH="false" flipV="false" rot="0">
              <a:off x="0" y="0"/>
              <a:ext cx="6583680" cy="1828800"/>
            </a:xfrm>
            <a:custGeom>
              <a:avLst/>
              <a:gdLst/>
              <a:ahLst/>
              <a:cxnLst/>
              <a:rect r="r" b="b" t="t" l="l"/>
              <a:pathLst>
                <a:path h="1828800" w="6583680">
                  <a:moveTo>
                    <a:pt x="0" y="0"/>
                  </a:moveTo>
                  <a:lnTo>
                    <a:pt x="6583680" y="0"/>
                  </a:lnTo>
                  <a:lnTo>
                    <a:pt x="6583680" y="1828800"/>
                  </a:lnTo>
                  <a:lnTo>
                    <a:pt x="0" y="1828800"/>
                  </a:lnTo>
                  <a:close/>
                </a:path>
              </a:pathLst>
            </a:custGeom>
            <a:blipFill>
              <a:blip r:embed="rId3">
                <a:alphaModFix amt="0"/>
              </a:blip>
              <a:stretch>
                <a:fillRect l="0" t="-20146" r="0" b="-20146"/>
              </a:stretch>
            </a:blipFill>
          </p:spPr>
        </p:sp>
        <p:sp>
          <p:nvSpPr>
            <p:cNvPr name="TextBox 58" id="58"/>
            <p:cNvSpPr txBox="true"/>
            <p:nvPr/>
          </p:nvSpPr>
          <p:spPr>
            <a:xfrm>
              <a:off x="0" y="0"/>
              <a:ext cx="6583680" cy="1828800"/>
            </a:xfrm>
            <a:prstGeom prst="rect">
              <a:avLst/>
            </a:prstGeom>
          </p:spPr>
          <p:txBody>
            <a:bodyPr anchor="ctr" rtlCol="false" tIns="0" lIns="0" bIns="0" rIns="0"/>
            <a:lstStyle/>
            <a:p>
              <a:pPr algn="l">
                <a:lnSpc>
                  <a:spcPts val="2160"/>
                </a:lnSpc>
              </a:pPr>
              <a:r>
                <a:rPr lang="en-US" sz="1800" spc="-10">
                  <a:solidFill>
                    <a:srgbClr val="1A2E23"/>
                  </a:solidFill>
                  <a:latin typeface="TT Rounds Condensed"/>
                  <a:ea typeface="TT Rounds Condensed"/>
                  <a:cs typeface="TT Rounds Condensed"/>
                  <a:sym typeface="TT Rounds Condensed"/>
                </a:rPr>
                <a:t>Dynamic Search Ads on landing pages. Finds NO-specific queries our translation misses.</a:t>
              </a:r>
            </a:p>
          </p:txBody>
        </p:sp>
      </p:grpSp>
      <p:grpSp>
        <p:nvGrpSpPr>
          <p:cNvPr name="Group 59" id="59"/>
          <p:cNvGrpSpPr/>
          <p:nvPr/>
        </p:nvGrpSpPr>
        <p:grpSpPr>
          <a:xfrm rot="0">
            <a:off x="685800" y="6309360"/>
            <a:ext cx="10972800" cy="548640"/>
            <a:chOff x="0" y="0"/>
            <a:chExt cx="14630400" cy="731520"/>
          </a:xfrm>
        </p:grpSpPr>
        <p:sp>
          <p:nvSpPr>
            <p:cNvPr name="Freeform 60" id="60"/>
            <p:cNvSpPr/>
            <p:nvPr/>
          </p:nvSpPr>
          <p:spPr>
            <a:xfrm flipH="false" flipV="false" rot="0">
              <a:off x="0" y="0"/>
              <a:ext cx="14630400" cy="731520"/>
            </a:xfrm>
            <a:custGeom>
              <a:avLst/>
              <a:gdLst/>
              <a:ahLst/>
              <a:cxnLst/>
              <a:rect r="r" b="b" t="t" l="l"/>
              <a:pathLst>
                <a:path h="731520" w="14630400">
                  <a:moveTo>
                    <a:pt x="0" y="0"/>
                  </a:moveTo>
                  <a:lnTo>
                    <a:pt x="14630400" y="0"/>
                  </a:lnTo>
                  <a:lnTo>
                    <a:pt x="14630400" y="731520"/>
                  </a:lnTo>
                  <a:lnTo>
                    <a:pt x="0" y="731520"/>
                  </a:lnTo>
                  <a:close/>
                </a:path>
              </a:pathLst>
            </a:custGeom>
            <a:blipFill>
              <a:blip r:embed="rId3">
                <a:alphaModFix amt="0"/>
              </a:blip>
              <a:stretch>
                <a:fillRect l="0" t="-339700" r="0" b="-339700"/>
              </a:stretch>
            </a:blipFill>
          </p:spPr>
        </p:sp>
        <p:sp>
          <p:nvSpPr>
            <p:cNvPr name="TextBox 61" id="61"/>
            <p:cNvSpPr txBox="true"/>
            <p:nvPr/>
          </p:nvSpPr>
          <p:spPr>
            <a:xfrm>
              <a:off x="0" y="-19050"/>
              <a:ext cx="14630400" cy="750570"/>
            </a:xfrm>
            <a:prstGeom prst="rect">
              <a:avLst/>
            </a:prstGeom>
          </p:spPr>
          <p:txBody>
            <a:bodyPr anchor="ctr" rtlCol="false" tIns="0" lIns="0" bIns="0" rIns="0"/>
            <a:lstStyle/>
            <a:p>
              <a:pPr algn="l">
                <a:lnSpc>
                  <a:spcPts val="3240"/>
                </a:lnSpc>
              </a:pPr>
              <a:r>
                <a:rPr lang="en-US" sz="2700" b="true">
                  <a:solidFill>
                    <a:srgbClr val="1A2E23"/>
                  </a:solidFill>
                  <a:latin typeface="Georgia Bold"/>
                  <a:ea typeface="Georgia Bold"/>
                  <a:cs typeface="Georgia Bold"/>
                  <a:sym typeface="Georgia Bold"/>
                </a:rPr>
                <a:t>Path to target</a:t>
              </a:r>
            </a:p>
          </p:txBody>
        </p:sp>
      </p:grpSp>
      <p:grpSp>
        <p:nvGrpSpPr>
          <p:cNvPr name="Group 62" id="62"/>
          <p:cNvGrpSpPr/>
          <p:nvPr/>
        </p:nvGrpSpPr>
        <p:grpSpPr>
          <a:xfrm rot="0">
            <a:off x="676275" y="7054215"/>
            <a:ext cx="4133850" cy="1939290"/>
            <a:chOff x="0" y="0"/>
            <a:chExt cx="5511800" cy="2585720"/>
          </a:xfrm>
        </p:grpSpPr>
        <p:sp>
          <p:nvSpPr>
            <p:cNvPr name="Freeform 63" id="63"/>
            <p:cNvSpPr/>
            <p:nvPr/>
          </p:nvSpPr>
          <p:spPr>
            <a:xfrm flipH="false" flipV="false" rot="0">
              <a:off x="12700" y="12700"/>
              <a:ext cx="5486400" cy="2560320"/>
            </a:xfrm>
            <a:custGeom>
              <a:avLst/>
              <a:gdLst/>
              <a:ahLst/>
              <a:cxnLst/>
              <a:rect r="r" b="b" t="t" l="l"/>
              <a:pathLst>
                <a:path h="2560320" w="5486400">
                  <a:moveTo>
                    <a:pt x="0" y="0"/>
                  </a:moveTo>
                  <a:lnTo>
                    <a:pt x="5486400" y="0"/>
                  </a:lnTo>
                  <a:lnTo>
                    <a:pt x="5486400" y="2560320"/>
                  </a:lnTo>
                  <a:lnTo>
                    <a:pt x="0" y="2560320"/>
                  </a:lnTo>
                  <a:close/>
                </a:path>
              </a:pathLst>
            </a:custGeom>
            <a:solidFill>
              <a:srgbClr val="F8F9FA"/>
            </a:solidFill>
          </p:spPr>
        </p:sp>
        <p:sp>
          <p:nvSpPr>
            <p:cNvPr name="Freeform 64" id="64"/>
            <p:cNvSpPr/>
            <p:nvPr/>
          </p:nvSpPr>
          <p:spPr>
            <a:xfrm flipH="false" flipV="false" rot="0">
              <a:off x="0" y="0"/>
              <a:ext cx="5511800" cy="2585720"/>
            </a:xfrm>
            <a:custGeom>
              <a:avLst/>
              <a:gdLst/>
              <a:ahLst/>
              <a:cxnLst/>
              <a:rect r="r" b="b" t="t" l="l"/>
              <a:pathLst>
                <a:path h="2585720" w="5511800">
                  <a:moveTo>
                    <a:pt x="12700" y="0"/>
                  </a:moveTo>
                  <a:lnTo>
                    <a:pt x="5499100" y="0"/>
                  </a:lnTo>
                  <a:cubicBezTo>
                    <a:pt x="5506085" y="0"/>
                    <a:pt x="5511800" y="5715"/>
                    <a:pt x="5511800" y="12700"/>
                  </a:cubicBezTo>
                  <a:lnTo>
                    <a:pt x="5511800" y="2573020"/>
                  </a:lnTo>
                  <a:cubicBezTo>
                    <a:pt x="5511800" y="2580005"/>
                    <a:pt x="5506085" y="2585720"/>
                    <a:pt x="5499100" y="2585720"/>
                  </a:cubicBezTo>
                  <a:lnTo>
                    <a:pt x="12700" y="2585720"/>
                  </a:lnTo>
                  <a:cubicBezTo>
                    <a:pt x="5715" y="2585720"/>
                    <a:pt x="0" y="2580005"/>
                    <a:pt x="0" y="2573020"/>
                  </a:cubicBezTo>
                  <a:lnTo>
                    <a:pt x="0" y="12700"/>
                  </a:lnTo>
                  <a:cubicBezTo>
                    <a:pt x="0" y="5715"/>
                    <a:pt x="5715" y="0"/>
                    <a:pt x="12700" y="0"/>
                  </a:cubicBezTo>
                  <a:moveTo>
                    <a:pt x="12700" y="25400"/>
                  </a:moveTo>
                  <a:lnTo>
                    <a:pt x="12700" y="12700"/>
                  </a:lnTo>
                  <a:lnTo>
                    <a:pt x="25400" y="12700"/>
                  </a:lnTo>
                  <a:lnTo>
                    <a:pt x="25400" y="2573020"/>
                  </a:lnTo>
                  <a:lnTo>
                    <a:pt x="12700" y="2573020"/>
                  </a:lnTo>
                  <a:lnTo>
                    <a:pt x="12700" y="2560320"/>
                  </a:lnTo>
                  <a:lnTo>
                    <a:pt x="5499100" y="2560320"/>
                  </a:lnTo>
                  <a:lnTo>
                    <a:pt x="5499100" y="2573020"/>
                  </a:lnTo>
                  <a:lnTo>
                    <a:pt x="5486400" y="2573020"/>
                  </a:lnTo>
                  <a:lnTo>
                    <a:pt x="5486400" y="12700"/>
                  </a:lnTo>
                  <a:lnTo>
                    <a:pt x="5499100" y="12700"/>
                  </a:lnTo>
                  <a:lnTo>
                    <a:pt x="5499100" y="25400"/>
                  </a:lnTo>
                  <a:lnTo>
                    <a:pt x="12700" y="25400"/>
                  </a:lnTo>
                  <a:close/>
                </a:path>
              </a:pathLst>
            </a:custGeom>
            <a:solidFill>
              <a:srgbClr val="E9ECEF"/>
            </a:solidFill>
          </p:spPr>
        </p:sp>
      </p:grpSp>
      <p:grpSp>
        <p:nvGrpSpPr>
          <p:cNvPr name="Group 65" id="65"/>
          <p:cNvGrpSpPr/>
          <p:nvPr/>
        </p:nvGrpSpPr>
        <p:grpSpPr>
          <a:xfrm rot="0">
            <a:off x="891540" y="7200900"/>
            <a:ext cx="3703320" cy="480060"/>
            <a:chOff x="0" y="0"/>
            <a:chExt cx="4937760" cy="640080"/>
          </a:xfrm>
        </p:grpSpPr>
        <p:sp>
          <p:nvSpPr>
            <p:cNvPr name="Freeform 66" id="66"/>
            <p:cNvSpPr/>
            <p:nvPr/>
          </p:nvSpPr>
          <p:spPr>
            <a:xfrm flipH="false" flipV="false" rot="0">
              <a:off x="0" y="0"/>
              <a:ext cx="4937760" cy="640080"/>
            </a:xfrm>
            <a:custGeom>
              <a:avLst/>
              <a:gdLst/>
              <a:ahLst/>
              <a:cxnLst/>
              <a:rect r="r" b="b" t="t" l="l"/>
              <a:pathLst>
                <a:path h="640080" w="4937760">
                  <a:moveTo>
                    <a:pt x="0" y="0"/>
                  </a:moveTo>
                  <a:lnTo>
                    <a:pt x="4937760" y="0"/>
                  </a:lnTo>
                  <a:lnTo>
                    <a:pt x="4937760" y="640080"/>
                  </a:lnTo>
                  <a:lnTo>
                    <a:pt x="0" y="640080"/>
                  </a:lnTo>
                  <a:close/>
                </a:path>
              </a:pathLst>
            </a:custGeom>
            <a:blipFill>
              <a:blip r:embed="rId3">
                <a:alphaModFix amt="0"/>
              </a:blip>
              <a:stretch>
                <a:fillRect l="0" t="-100313" r="0" b="-100313"/>
              </a:stretch>
            </a:blipFill>
          </p:spPr>
        </p:sp>
        <p:sp>
          <p:nvSpPr>
            <p:cNvPr name="TextBox 67" id="67"/>
            <p:cNvSpPr txBox="true"/>
            <p:nvPr/>
          </p:nvSpPr>
          <p:spPr>
            <a:xfrm>
              <a:off x="0" y="-47625"/>
              <a:ext cx="4937760" cy="687705"/>
            </a:xfrm>
            <a:prstGeom prst="rect">
              <a:avLst/>
            </a:prstGeom>
          </p:spPr>
          <p:txBody>
            <a:bodyPr anchor="ctr" rtlCol="false" tIns="0" lIns="0" bIns="0" rIns="0"/>
            <a:lstStyle/>
            <a:p>
              <a:pPr algn="l">
                <a:lnSpc>
                  <a:spcPts val="2340"/>
                </a:lnSpc>
              </a:pPr>
              <a:r>
                <a:rPr lang="en-US" b="true" sz="1950" spc="300">
                  <a:solidFill>
                    <a:srgbClr val="6C757D"/>
                  </a:solidFill>
                  <a:latin typeface="Calibri (MS) Bold"/>
                  <a:ea typeface="Calibri (MS) Bold"/>
                  <a:cs typeface="Calibri (MS) Bold"/>
                  <a:sym typeface="Calibri (MS) Bold"/>
                </a:rPr>
                <a:t>Week 1</a:t>
              </a:r>
            </a:p>
          </p:txBody>
        </p:sp>
      </p:grpSp>
      <p:grpSp>
        <p:nvGrpSpPr>
          <p:cNvPr name="Group 68" id="68"/>
          <p:cNvGrpSpPr/>
          <p:nvPr/>
        </p:nvGrpSpPr>
        <p:grpSpPr>
          <a:xfrm rot="0">
            <a:off x="891540" y="7680960"/>
            <a:ext cx="3703320" cy="754380"/>
            <a:chOff x="0" y="0"/>
            <a:chExt cx="4937760" cy="1005840"/>
          </a:xfrm>
        </p:grpSpPr>
        <p:sp>
          <p:nvSpPr>
            <p:cNvPr name="Freeform 69" id="69"/>
            <p:cNvSpPr/>
            <p:nvPr/>
          </p:nvSpPr>
          <p:spPr>
            <a:xfrm flipH="false" flipV="false" rot="0">
              <a:off x="0" y="0"/>
              <a:ext cx="4937760" cy="1005840"/>
            </a:xfrm>
            <a:custGeom>
              <a:avLst/>
              <a:gdLst/>
              <a:ahLst/>
              <a:cxnLst/>
              <a:rect r="r" b="b" t="t" l="l"/>
              <a:pathLst>
                <a:path h="1005840" w="4937760">
                  <a:moveTo>
                    <a:pt x="0" y="0"/>
                  </a:moveTo>
                  <a:lnTo>
                    <a:pt x="4937760" y="0"/>
                  </a:lnTo>
                  <a:lnTo>
                    <a:pt x="4937760" y="1005840"/>
                  </a:lnTo>
                  <a:lnTo>
                    <a:pt x="0" y="1005840"/>
                  </a:lnTo>
                  <a:close/>
                </a:path>
              </a:pathLst>
            </a:custGeom>
            <a:blipFill>
              <a:blip r:embed="rId3">
                <a:alphaModFix amt="0"/>
              </a:blip>
              <a:stretch>
                <a:fillRect l="0" t="-45653" r="0" b="-45653"/>
              </a:stretch>
            </a:blipFill>
          </p:spPr>
        </p:sp>
        <p:sp>
          <p:nvSpPr>
            <p:cNvPr name="TextBox 70" id="70"/>
            <p:cNvSpPr txBox="true"/>
            <p:nvPr/>
          </p:nvSpPr>
          <p:spPr>
            <a:xfrm>
              <a:off x="0" y="-9525"/>
              <a:ext cx="4937760" cy="1015365"/>
            </a:xfrm>
            <a:prstGeom prst="rect">
              <a:avLst/>
            </a:prstGeom>
          </p:spPr>
          <p:txBody>
            <a:bodyPr anchor="ctr" rtlCol="false" tIns="0" lIns="0" bIns="0" rIns="0"/>
            <a:lstStyle/>
            <a:p>
              <a:pPr algn="l">
                <a:lnSpc>
                  <a:spcPts val="4680"/>
                </a:lnSpc>
              </a:pPr>
              <a:r>
                <a:rPr lang="en-US" sz="3900" b="true">
                  <a:solidFill>
                    <a:srgbClr val="1A2E23"/>
                  </a:solidFill>
                  <a:latin typeface="Georgia Bold"/>
                  <a:ea typeface="Georgia Bold"/>
                  <a:cs typeface="Georgia Bold"/>
                  <a:sym typeface="Georgia Bold"/>
                </a:rPr>
                <a:t>€150/day</a:t>
              </a:r>
            </a:p>
          </p:txBody>
        </p:sp>
      </p:grpSp>
      <p:grpSp>
        <p:nvGrpSpPr>
          <p:cNvPr name="Group 71" id="71"/>
          <p:cNvGrpSpPr/>
          <p:nvPr/>
        </p:nvGrpSpPr>
        <p:grpSpPr>
          <a:xfrm rot="0">
            <a:off x="891540" y="8503920"/>
            <a:ext cx="3703320" cy="411480"/>
            <a:chOff x="0" y="0"/>
            <a:chExt cx="4937760" cy="548640"/>
          </a:xfrm>
        </p:grpSpPr>
        <p:sp>
          <p:nvSpPr>
            <p:cNvPr name="Freeform 72" id="72"/>
            <p:cNvSpPr/>
            <p:nvPr/>
          </p:nvSpPr>
          <p:spPr>
            <a:xfrm flipH="false" flipV="false" rot="0">
              <a:off x="0" y="0"/>
              <a:ext cx="4937760" cy="548640"/>
            </a:xfrm>
            <a:custGeom>
              <a:avLst/>
              <a:gdLst/>
              <a:ahLst/>
              <a:cxnLst/>
              <a:rect r="r" b="b" t="t" l="l"/>
              <a:pathLst>
                <a:path h="548640" w="4937760">
                  <a:moveTo>
                    <a:pt x="0" y="0"/>
                  </a:moveTo>
                  <a:lnTo>
                    <a:pt x="4937760" y="0"/>
                  </a:lnTo>
                  <a:lnTo>
                    <a:pt x="4937760" y="548640"/>
                  </a:lnTo>
                  <a:lnTo>
                    <a:pt x="0" y="548640"/>
                  </a:lnTo>
                  <a:close/>
                </a:path>
              </a:pathLst>
            </a:custGeom>
            <a:blipFill>
              <a:blip r:embed="rId3">
                <a:alphaModFix amt="0"/>
              </a:blip>
              <a:stretch>
                <a:fillRect l="0" t="-125365" r="0" b="-125365"/>
              </a:stretch>
            </a:blipFill>
          </p:spPr>
        </p:sp>
        <p:sp>
          <p:nvSpPr>
            <p:cNvPr name="TextBox 73" id="73"/>
            <p:cNvSpPr txBox="true"/>
            <p:nvPr/>
          </p:nvSpPr>
          <p:spPr>
            <a:xfrm>
              <a:off x="0" y="-47625"/>
              <a:ext cx="4937760" cy="596265"/>
            </a:xfrm>
            <a:prstGeom prst="rect">
              <a:avLst/>
            </a:prstGeom>
          </p:spPr>
          <p:txBody>
            <a:bodyPr anchor="ctr" rtlCol="false" tIns="0" lIns="0" bIns="0" rIns="0"/>
            <a:lstStyle/>
            <a:p>
              <a:pPr algn="l">
                <a:lnSpc>
                  <a:spcPts val="2340"/>
                </a:lnSpc>
              </a:pPr>
              <a:r>
                <a:rPr lang="en-US" sz="1950" b="true">
                  <a:solidFill>
                    <a:srgbClr val="2D6A4F"/>
                  </a:solidFill>
                  <a:latin typeface="Calibri (MS) Bold"/>
                  <a:ea typeface="Calibri (MS) Bold"/>
                  <a:cs typeface="Calibri (MS) Bold"/>
                  <a:sym typeface="Calibri (MS) Bold"/>
                </a:rPr>
                <a:t>ROAS  1.50×</a:t>
              </a:r>
            </a:p>
          </p:txBody>
        </p:sp>
      </p:grpSp>
      <p:grpSp>
        <p:nvGrpSpPr>
          <p:cNvPr name="Group 74" id="74"/>
          <p:cNvGrpSpPr/>
          <p:nvPr/>
        </p:nvGrpSpPr>
        <p:grpSpPr>
          <a:xfrm rot="0">
            <a:off x="5065395" y="7054215"/>
            <a:ext cx="4133850" cy="1939290"/>
            <a:chOff x="0" y="0"/>
            <a:chExt cx="5511800" cy="2585720"/>
          </a:xfrm>
        </p:grpSpPr>
        <p:sp>
          <p:nvSpPr>
            <p:cNvPr name="Freeform 75" id="75"/>
            <p:cNvSpPr/>
            <p:nvPr/>
          </p:nvSpPr>
          <p:spPr>
            <a:xfrm flipH="false" flipV="false" rot="0">
              <a:off x="12700" y="12700"/>
              <a:ext cx="5486400" cy="2560320"/>
            </a:xfrm>
            <a:custGeom>
              <a:avLst/>
              <a:gdLst/>
              <a:ahLst/>
              <a:cxnLst/>
              <a:rect r="r" b="b" t="t" l="l"/>
              <a:pathLst>
                <a:path h="2560320" w="5486400">
                  <a:moveTo>
                    <a:pt x="0" y="0"/>
                  </a:moveTo>
                  <a:lnTo>
                    <a:pt x="5486400" y="0"/>
                  </a:lnTo>
                  <a:lnTo>
                    <a:pt x="5486400" y="2560320"/>
                  </a:lnTo>
                  <a:lnTo>
                    <a:pt x="0" y="2560320"/>
                  </a:lnTo>
                  <a:close/>
                </a:path>
              </a:pathLst>
            </a:custGeom>
            <a:solidFill>
              <a:srgbClr val="F8F9FA"/>
            </a:solidFill>
          </p:spPr>
        </p:sp>
        <p:sp>
          <p:nvSpPr>
            <p:cNvPr name="Freeform 76" id="76"/>
            <p:cNvSpPr/>
            <p:nvPr/>
          </p:nvSpPr>
          <p:spPr>
            <a:xfrm flipH="false" flipV="false" rot="0">
              <a:off x="0" y="0"/>
              <a:ext cx="5511800" cy="2585720"/>
            </a:xfrm>
            <a:custGeom>
              <a:avLst/>
              <a:gdLst/>
              <a:ahLst/>
              <a:cxnLst/>
              <a:rect r="r" b="b" t="t" l="l"/>
              <a:pathLst>
                <a:path h="2585720" w="5511800">
                  <a:moveTo>
                    <a:pt x="12700" y="0"/>
                  </a:moveTo>
                  <a:lnTo>
                    <a:pt x="5499100" y="0"/>
                  </a:lnTo>
                  <a:cubicBezTo>
                    <a:pt x="5506085" y="0"/>
                    <a:pt x="5511800" y="5715"/>
                    <a:pt x="5511800" y="12700"/>
                  </a:cubicBezTo>
                  <a:lnTo>
                    <a:pt x="5511800" y="2573020"/>
                  </a:lnTo>
                  <a:cubicBezTo>
                    <a:pt x="5511800" y="2580005"/>
                    <a:pt x="5506085" y="2585720"/>
                    <a:pt x="5499100" y="2585720"/>
                  </a:cubicBezTo>
                  <a:lnTo>
                    <a:pt x="12700" y="2585720"/>
                  </a:lnTo>
                  <a:cubicBezTo>
                    <a:pt x="5715" y="2585720"/>
                    <a:pt x="0" y="2580005"/>
                    <a:pt x="0" y="2573020"/>
                  </a:cubicBezTo>
                  <a:lnTo>
                    <a:pt x="0" y="12700"/>
                  </a:lnTo>
                  <a:cubicBezTo>
                    <a:pt x="0" y="5715"/>
                    <a:pt x="5715" y="0"/>
                    <a:pt x="12700" y="0"/>
                  </a:cubicBezTo>
                  <a:moveTo>
                    <a:pt x="12700" y="25400"/>
                  </a:moveTo>
                  <a:lnTo>
                    <a:pt x="12700" y="12700"/>
                  </a:lnTo>
                  <a:lnTo>
                    <a:pt x="25400" y="12700"/>
                  </a:lnTo>
                  <a:lnTo>
                    <a:pt x="25400" y="2573020"/>
                  </a:lnTo>
                  <a:lnTo>
                    <a:pt x="12700" y="2573020"/>
                  </a:lnTo>
                  <a:lnTo>
                    <a:pt x="12700" y="2560320"/>
                  </a:lnTo>
                  <a:lnTo>
                    <a:pt x="5499100" y="2560320"/>
                  </a:lnTo>
                  <a:lnTo>
                    <a:pt x="5499100" y="2573020"/>
                  </a:lnTo>
                  <a:lnTo>
                    <a:pt x="5486400" y="2573020"/>
                  </a:lnTo>
                  <a:lnTo>
                    <a:pt x="5486400" y="12700"/>
                  </a:lnTo>
                  <a:lnTo>
                    <a:pt x="5499100" y="12700"/>
                  </a:lnTo>
                  <a:lnTo>
                    <a:pt x="5499100" y="25400"/>
                  </a:lnTo>
                  <a:lnTo>
                    <a:pt x="12700" y="25400"/>
                  </a:lnTo>
                  <a:close/>
                </a:path>
              </a:pathLst>
            </a:custGeom>
            <a:solidFill>
              <a:srgbClr val="E9ECEF"/>
            </a:solidFill>
          </p:spPr>
        </p:sp>
      </p:grpSp>
      <p:grpSp>
        <p:nvGrpSpPr>
          <p:cNvPr name="Group 77" id="77"/>
          <p:cNvGrpSpPr/>
          <p:nvPr/>
        </p:nvGrpSpPr>
        <p:grpSpPr>
          <a:xfrm rot="0">
            <a:off x="5280660" y="7200900"/>
            <a:ext cx="3703320" cy="480060"/>
            <a:chOff x="0" y="0"/>
            <a:chExt cx="4937760" cy="640080"/>
          </a:xfrm>
        </p:grpSpPr>
        <p:sp>
          <p:nvSpPr>
            <p:cNvPr name="Freeform 78" id="78"/>
            <p:cNvSpPr/>
            <p:nvPr/>
          </p:nvSpPr>
          <p:spPr>
            <a:xfrm flipH="false" flipV="false" rot="0">
              <a:off x="0" y="0"/>
              <a:ext cx="4937760" cy="640080"/>
            </a:xfrm>
            <a:custGeom>
              <a:avLst/>
              <a:gdLst/>
              <a:ahLst/>
              <a:cxnLst/>
              <a:rect r="r" b="b" t="t" l="l"/>
              <a:pathLst>
                <a:path h="640080" w="4937760">
                  <a:moveTo>
                    <a:pt x="0" y="0"/>
                  </a:moveTo>
                  <a:lnTo>
                    <a:pt x="4937760" y="0"/>
                  </a:lnTo>
                  <a:lnTo>
                    <a:pt x="4937760" y="640080"/>
                  </a:lnTo>
                  <a:lnTo>
                    <a:pt x="0" y="640080"/>
                  </a:lnTo>
                  <a:close/>
                </a:path>
              </a:pathLst>
            </a:custGeom>
            <a:blipFill>
              <a:blip r:embed="rId3">
                <a:alphaModFix amt="0"/>
              </a:blip>
              <a:stretch>
                <a:fillRect l="0" t="-100313" r="0" b="-100313"/>
              </a:stretch>
            </a:blipFill>
          </p:spPr>
        </p:sp>
        <p:sp>
          <p:nvSpPr>
            <p:cNvPr name="TextBox 79" id="79"/>
            <p:cNvSpPr txBox="true"/>
            <p:nvPr/>
          </p:nvSpPr>
          <p:spPr>
            <a:xfrm>
              <a:off x="0" y="-47625"/>
              <a:ext cx="4937760" cy="687705"/>
            </a:xfrm>
            <a:prstGeom prst="rect">
              <a:avLst/>
            </a:prstGeom>
          </p:spPr>
          <p:txBody>
            <a:bodyPr anchor="ctr" rtlCol="false" tIns="0" lIns="0" bIns="0" rIns="0"/>
            <a:lstStyle/>
            <a:p>
              <a:pPr algn="l">
                <a:lnSpc>
                  <a:spcPts val="2340"/>
                </a:lnSpc>
              </a:pPr>
              <a:r>
                <a:rPr lang="en-US" b="true" sz="1950" spc="300">
                  <a:solidFill>
                    <a:srgbClr val="6C757D"/>
                  </a:solidFill>
                  <a:latin typeface="Calibri (MS) Bold"/>
                  <a:ea typeface="Calibri (MS) Bold"/>
                  <a:cs typeface="Calibri (MS) Bold"/>
                  <a:sym typeface="Calibri (MS) Bold"/>
                </a:rPr>
                <a:t>Week 2</a:t>
              </a:r>
            </a:p>
          </p:txBody>
        </p:sp>
      </p:grpSp>
      <p:grpSp>
        <p:nvGrpSpPr>
          <p:cNvPr name="Group 80" id="80"/>
          <p:cNvGrpSpPr/>
          <p:nvPr/>
        </p:nvGrpSpPr>
        <p:grpSpPr>
          <a:xfrm rot="0">
            <a:off x="5280660" y="7680960"/>
            <a:ext cx="3703320" cy="754380"/>
            <a:chOff x="0" y="0"/>
            <a:chExt cx="4937760" cy="1005840"/>
          </a:xfrm>
        </p:grpSpPr>
        <p:sp>
          <p:nvSpPr>
            <p:cNvPr name="Freeform 81" id="81"/>
            <p:cNvSpPr/>
            <p:nvPr/>
          </p:nvSpPr>
          <p:spPr>
            <a:xfrm flipH="false" flipV="false" rot="0">
              <a:off x="0" y="0"/>
              <a:ext cx="4937760" cy="1005840"/>
            </a:xfrm>
            <a:custGeom>
              <a:avLst/>
              <a:gdLst/>
              <a:ahLst/>
              <a:cxnLst/>
              <a:rect r="r" b="b" t="t" l="l"/>
              <a:pathLst>
                <a:path h="1005840" w="4937760">
                  <a:moveTo>
                    <a:pt x="0" y="0"/>
                  </a:moveTo>
                  <a:lnTo>
                    <a:pt x="4937760" y="0"/>
                  </a:lnTo>
                  <a:lnTo>
                    <a:pt x="4937760" y="1005840"/>
                  </a:lnTo>
                  <a:lnTo>
                    <a:pt x="0" y="1005840"/>
                  </a:lnTo>
                  <a:close/>
                </a:path>
              </a:pathLst>
            </a:custGeom>
            <a:blipFill>
              <a:blip r:embed="rId3">
                <a:alphaModFix amt="0"/>
              </a:blip>
              <a:stretch>
                <a:fillRect l="0" t="-45653" r="0" b="-45653"/>
              </a:stretch>
            </a:blipFill>
          </p:spPr>
        </p:sp>
        <p:sp>
          <p:nvSpPr>
            <p:cNvPr name="TextBox 82" id="82"/>
            <p:cNvSpPr txBox="true"/>
            <p:nvPr/>
          </p:nvSpPr>
          <p:spPr>
            <a:xfrm>
              <a:off x="0" y="-9525"/>
              <a:ext cx="4937760" cy="1015365"/>
            </a:xfrm>
            <a:prstGeom prst="rect">
              <a:avLst/>
            </a:prstGeom>
          </p:spPr>
          <p:txBody>
            <a:bodyPr anchor="ctr" rtlCol="false" tIns="0" lIns="0" bIns="0" rIns="0"/>
            <a:lstStyle/>
            <a:p>
              <a:pPr algn="l">
                <a:lnSpc>
                  <a:spcPts val="4680"/>
                </a:lnSpc>
              </a:pPr>
              <a:r>
                <a:rPr lang="en-US" sz="3900" b="true">
                  <a:solidFill>
                    <a:srgbClr val="1A2E23"/>
                  </a:solidFill>
                  <a:latin typeface="Georgia Bold"/>
                  <a:ea typeface="Georgia Bold"/>
                  <a:cs typeface="Georgia Bold"/>
                  <a:sym typeface="Georgia Bold"/>
                </a:rPr>
                <a:t>€300/day</a:t>
              </a:r>
            </a:p>
          </p:txBody>
        </p:sp>
      </p:grpSp>
      <p:grpSp>
        <p:nvGrpSpPr>
          <p:cNvPr name="Group 83" id="83"/>
          <p:cNvGrpSpPr/>
          <p:nvPr/>
        </p:nvGrpSpPr>
        <p:grpSpPr>
          <a:xfrm rot="0">
            <a:off x="5280660" y="8503920"/>
            <a:ext cx="3703320" cy="411480"/>
            <a:chOff x="0" y="0"/>
            <a:chExt cx="4937760" cy="548640"/>
          </a:xfrm>
        </p:grpSpPr>
        <p:sp>
          <p:nvSpPr>
            <p:cNvPr name="Freeform 84" id="84"/>
            <p:cNvSpPr/>
            <p:nvPr/>
          </p:nvSpPr>
          <p:spPr>
            <a:xfrm flipH="false" flipV="false" rot="0">
              <a:off x="0" y="0"/>
              <a:ext cx="4937760" cy="548640"/>
            </a:xfrm>
            <a:custGeom>
              <a:avLst/>
              <a:gdLst/>
              <a:ahLst/>
              <a:cxnLst/>
              <a:rect r="r" b="b" t="t" l="l"/>
              <a:pathLst>
                <a:path h="548640" w="4937760">
                  <a:moveTo>
                    <a:pt x="0" y="0"/>
                  </a:moveTo>
                  <a:lnTo>
                    <a:pt x="4937760" y="0"/>
                  </a:lnTo>
                  <a:lnTo>
                    <a:pt x="4937760" y="548640"/>
                  </a:lnTo>
                  <a:lnTo>
                    <a:pt x="0" y="548640"/>
                  </a:lnTo>
                  <a:close/>
                </a:path>
              </a:pathLst>
            </a:custGeom>
            <a:blipFill>
              <a:blip r:embed="rId3">
                <a:alphaModFix amt="0"/>
              </a:blip>
              <a:stretch>
                <a:fillRect l="0" t="-125365" r="0" b="-125365"/>
              </a:stretch>
            </a:blipFill>
          </p:spPr>
        </p:sp>
        <p:sp>
          <p:nvSpPr>
            <p:cNvPr name="TextBox 85" id="85"/>
            <p:cNvSpPr txBox="true"/>
            <p:nvPr/>
          </p:nvSpPr>
          <p:spPr>
            <a:xfrm>
              <a:off x="0" y="-47625"/>
              <a:ext cx="4937760" cy="596265"/>
            </a:xfrm>
            <a:prstGeom prst="rect">
              <a:avLst/>
            </a:prstGeom>
          </p:spPr>
          <p:txBody>
            <a:bodyPr anchor="ctr" rtlCol="false" tIns="0" lIns="0" bIns="0" rIns="0"/>
            <a:lstStyle/>
            <a:p>
              <a:pPr algn="l">
                <a:lnSpc>
                  <a:spcPts val="2340"/>
                </a:lnSpc>
              </a:pPr>
              <a:r>
                <a:rPr lang="en-US" sz="1950" b="true">
                  <a:solidFill>
                    <a:srgbClr val="2D6A4F"/>
                  </a:solidFill>
                  <a:latin typeface="Calibri (MS) Bold"/>
                  <a:ea typeface="Calibri (MS) Bold"/>
                  <a:cs typeface="Calibri (MS) Bold"/>
                  <a:sym typeface="Calibri (MS) Bold"/>
                </a:rPr>
                <a:t>ROAS  1.42×</a:t>
              </a:r>
            </a:p>
          </p:txBody>
        </p:sp>
      </p:grpSp>
      <p:grpSp>
        <p:nvGrpSpPr>
          <p:cNvPr name="Group 86" id="86"/>
          <p:cNvGrpSpPr/>
          <p:nvPr/>
        </p:nvGrpSpPr>
        <p:grpSpPr>
          <a:xfrm rot="0">
            <a:off x="9454515" y="7054215"/>
            <a:ext cx="4133850" cy="1939290"/>
            <a:chOff x="0" y="0"/>
            <a:chExt cx="5511800" cy="2585720"/>
          </a:xfrm>
        </p:grpSpPr>
        <p:sp>
          <p:nvSpPr>
            <p:cNvPr name="Freeform 87" id="87"/>
            <p:cNvSpPr/>
            <p:nvPr/>
          </p:nvSpPr>
          <p:spPr>
            <a:xfrm flipH="false" flipV="false" rot="0">
              <a:off x="12700" y="12700"/>
              <a:ext cx="5486400" cy="2560320"/>
            </a:xfrm>
            <a:custGeom>
              <a:avLst/>
              <a:gdLst/>
              <a:ahLst/>
              <a:cxnLst/>
              <a:rect r="r" b="b" t="t" l="l"/>
              <a:pathLst>
                <a:path h="2560320" w="5486400">
                  <a:moveTo>
                    <a:pt x="0" y="0"/>
                  </a:moveTo>
                  <a:lnTo>
                    <a:pt x="5486400" y="0"/>
                  </a:lnTo>
                  <a:lnTo>
                    <a:pt x="5486400" y="2560320"/>
                  </a:lnTo>
                  <a:lnTo>
                    <a:pt x="0" y="2560320"/>
                  </a:lnTo>
                  <a:close/>
                </a:path>
              </a:pathLst>
            </a:custGeom>
            <a:solidFill>
              <a:srgbClr val="F8F9FA"/>
            </a:solidFill>
          </p:spPr>
        </p:sp>
        <p:sp>
          <p:nvSpPr>
            <p:cNvPr name="Freeform 88" id="88"/>
            <p:cNvSpPr/>
            <p:nvPr/>
          </p:nvSpPr>
          <p:spPr>
            <a:xfrm flipH="false" flipV="false" rot="0">
              <a:off x="0" y="0"/>
              <a:ext cx="5511800" cy="2585720"/>
            </a:xfrm>
            <a:custGeom>
              <a:avLst/>
              <a:gdLst/>
              <a:ahLst/>
              <a:cxnLst/>
              <a:rect r="r" b="b" t="t" l="l"/>
              <a:pathLst>
                <a:path h="2585720" w="5511800">
                  <a:moveTo>
                    <a:pt x="12700" y="0"/>
                  </a:moveTo>
                  <a:lnTo>
                    <a:pt x="5499100" y="0"/>
                  </a:lnTo>
                  <a:cubicBezTo>
                    <a:pt x="5506085" y="0"/>
                    <a:pt x="5511800" y="5715"/>
                    <a:pt x="5511800" y="12700"/>
                  </a:cubicBezTo>
                  <a:lnTo>
                    <a:pt x="5511800" y="2573020"/>
                  </a:lnTo>
                  <a:cubicBezTo>
                    <a:pt x="5511800" y="2580005"/>
                    <a:pt x="5506085" y="2585720"/>
                    <a:pt x="5499100" y="2585720"/>
                  </a:cubicBezTo>
                  <a:lnTo>
                    <a:pt x="12700" y="2585720"/>
                  </a:lnTo>
                  <a:cubicBezTo>
                    <a:pt x="5715" y="2585720"/>
                    <a:pt x="0" y="2580005"/>
                    <a:pt x="0" y="2573020"/>
                  </a:cubicBezTo>
                  <a:lnTo>
                    <a:pt x="0" y="12700"/>
                  </a:lnTo>
                  <a:cubicBezTo>
                    <a:pt x="0" y="5715"/>
                    <a:pt x="5715" y="0"/>
                    <a:pt x="12700" y="0"/>
                  </a:cubicBezTo>
                  <a:moveTo>
                    <a:pt x="12700" y="25400"/>
                  </a:moveTo>
                  <a:lnTo>
                    <a:pt x="12700" y="12700"/>
                  </a:lnTo>
                  <a:lnTo>
                    <a:pt x="25400" y="12700"/>
                  </a:lnTo>
                  <a:lnTo>
                    <a:pt x="25400" y="2573020"/>
                  </a:lnTo>
                  <a:lnTo>
                    <a:pt x="12700" y="2573020"/>
                  </a:lnTo>
                  <a:lnTo>
                    <a:pt x="12700" y="2560320"/>
                  </a:lnTo>
                  <a:lnTo>
                    <a:pt x="5499100" y="2560320"/>
                  </a:lnTo>
                  <a:lnTo>
                    <a:pt x="5499100" y="2573020"/>
                  </a:lnTo>
                  <a:lnTo>
                    <a:pt x="5486400" y="2573020"/>
                  </a:lnTo>
                  <a:lnTo>
                    <a:pt x="5486400" y="12700"/>
                  </a:lnTo>
                  <a:lnTo>
                    <a:pt x="5499100" y="12700"/>
                  </a:lnTo>
                  <a:lnTo>
                    <a:pt x="5499100" y="25400"/>
                  </a:lnTo>
                  <a:lnTo>
                    <a:pt x="12700" y="25400"/>
                  </a:lnTo>
                  <a:close/>
                </a:path>
              </a:pathLst>
            </a:custGeom>
            <a:solidFill>
              <a:srgbClr val="E9ECEF"/>
            </a:solidFill>
          </p:spPr>
        </p:sp>
      </p:grpSp>
      <p:grpSp>
        <p:nvGrpSpPr>
          <p:cNvPr name="Group 89" id="89"/>
          <p:cNvGrpSpPr/>
          <p:nvPr/>
        </p:nvGrpSpPr>
        <p:grpSpPr>
          <a:xfrm rot="0">
            <a:off x="9669780" y="7200900"/>
            <a:ext cx="3703320" cy="480060"/>
            <a:chOff x="0" y="0"/>
            <a:chExt cx="4937760" cy="640080"/>
          </a:xfrm>
        </p:grpSpPr>
        <p:sp>
          <p:nvSpPr>
            <p:cNvPr name="Freeform 90" id="90"/>
            <p:cNvSpPr/>
            <p:nvPr/>
          </p:nvSpPr>
          <p:spPr>
            <a:xfrm flipH="false" flipV="false" rot="0">
              <a:off x="0" y="0"/>
              <a:ext cx="4937760" cy="640080"/>
            </a:xfrm>
            <a:custGeom>
              <a:avLst/>
              <a:gdLst/>
              <a:ahLst/>
              <a:cxnLst/>
              <a:rect r="r" b="b" t="t" l="l"/>
              <a:pathLst>
                <a:path h="640080" w="4937760">
                  <a:moveTo>
                    <a:pt x="0" y="0"/>
                  </a:moveTo>
                  <a:lnTo>
                    <a:pt x="4937760" y="0"/>
                  </a:lnTo>
                  <a:lnTo>
                    <a:pt x="4937760" y="640080"/>
                  </a:lnTo>
                  <a:lnTo>
                    <a:pt x="0" y="640080"/>
                  </a:lnTo>
                  <a:close/>
                </a:path>
              </a:pathLst>
            </a:custGeom>
            <a:blipFill>
              <a:blip r:embed="rId3">
                <a:alphaModFix amt="0"/>
              </a:blip>
              <a:stretch>
                <a:fillRect l="0" t="-100313" r="0" b="-100313"/>
              </a:stretch>
            </a:blipFill>
          </p:spPr>
        </p:sp>
        <p:sp>
          <p:nvSpPr>
            <p:cNvPr name="TextBox 91" id="91"/>
            <p:cNvSpPr txBox="true"/>
            <p:nvPr/>
          </p:nvSpPr>
          <p:spPr>
            <a:xfrm>
              <a:off x="0" y="-47625"/>
              <a:ext cx="4937760" cy="687705"/>
            </a:xfrm>
            <a:prstGeom prst="rect">
              <a:avLst/>
            </a:prstGeom>
          </p:spPr>
          <p:txBody>
            <a:bodyPr anchor="ctr" rtlCol="false" tIns="0" lIns="0" bIns="0" rIns="0"/>
            <a:lstStyle/>
            <a:p>
              <a:pPr algn="l">
                <a:lnSpc>
                  <a:spcPts val="2340"/>
                </a:lnSpc>
              </a:pPr>
              <a:r>
                <a:rPr lang="en-US" b="true" sz="1950" spc="300">
                  <a:solidFill>
                    <a:srgbClr val="6C757D"/>
                  </a:solidFill>
                  <a:latin typeface="Calibri (MS) Bold"/>
                  <a:ea typeface="Calibri (MS) Bold"/>
                  <a:cs typeface="Calibri (MS) Bold"/>
                  <a:sym typeface="Calibri (MS) Bold"/>
                </a:rPr>
                <a:t>Week 3</a:t>
              </a:r>
            </a:p>
          </p:txBody>
        </p:sp>
      </p:grpSp>
      <p:grpSp>
        <p:nvGrpSpPr>
          <p:cNvPr name="Group 92" id="92"/>
          <p:cNvGrpSpPr/>
          <p:nvPr/>
        </p:nvGrpSpPr>
        <p:grpSpPr>
          <a:xfrm rot="0">
            <a:off x="9669780" y="7680960"/>
            <a:ext cx="3703320" cy="754380"/>
            <a:chOff x="0" y="0"/>
            <a:chExt cx="4937760" cy="1005840"/>
          </a:xfrm>
        </p:grpSpPr>
        <p:sp>
          <p:nvSpPr>
            <p:cNvPr name="Freeform 93" id="93"/>
            <p:cNvSpPr/>
            <p:nvPr/>
          </p:nvSpPr>
          <p:spPr>
            <a:xfrm flipH="false" flipV="false" rot="0">
              <a:off x="0" y="0"/>
              <a:ext cx="4937760" cy="1005840"/>
            </a:xfrm>
            <a:custGeom>
              <a:avLst/>
              <a:gdLst/>
              <a:ahLst/>
              <a:cxnLst/>
              <a:rect r="r" b="b" t="t" l="l"/>
              <a:pathLst>
                <a:path h="1005840" w="4937760">
                  <a:moveTo>
                    <a:pt x="0" y="0"/>
                  </a:moveTo>
                  <a:lnTo>
                    <a:pt x="4937760" y="0"/>
                  </a:lnTo>
                  <a:lnTo>
                    <a:pt x="4937760" y="1005840"/>
                  </a:lnTo>
                  <a:lnTo>
                    <a:pt x="0" y="1005840"/>
                  </a:lnTo>
                  <a:close/>
                </a:path>
              </a:pathLst>
            </a:custGeom>
            <a:blipFill>
              <a:blip r:embed="rId3">
                <a:alphaModFix amt="0"/>
              </a:blip>
              <a:stretch>
                <a:fillRect l="0" t="-45653" r="0" b="-45653"/>
              </a:stretch>
            </a:blipFill>
          </p:spPr>
        </p:sp>
        <p:sp>
          <p:nvSpPr>
            <p:cNvPr name="TextBox 94" id="94"/>
            <p:cNvSpPr txBox="true"/>
            <p:nvPr/>
          </p:nvSpPr>
          <p:spPr>
            <a:xfrm>
              <a:off x="0" y="-9525"/>
              <a:ext cx="4937760" cy="1015365"/>
            </a:xfrm>
            <a:prstGeom prst="rect">
              <a:avLst/>
            </a:prstGeom>
          </p:spPr>
          <p:txBody>
            <a:bodyPr anchor="ctr" rtlCol="false" tIns="0" lIns="0" bIns="0" rIns="0"/>
            <a:lstStyle/>
            <a:p>
              <a:pPr algn="l">
                <a:lnSpc>
                  <a:spcPts val="4680"/>
                </a:lnSpc>
              </a:pPr>
              <a:r>
                <a:rPr lang="en-US" sz="3900" b="true">
                  <a:solidFill>
                    <a:srgbClr val="1A2E23"/>
                  </a:solidFill>
                  <a:latin typeface="Georgia Bold"/>
                  <a:ea typeface="Georgia Bold"/>
                  <a:cs typeface="Georgia Bold"/>
                  <a:sym typeface="Georgia Bold"/>
                </a:rPr>
                <a:t>€600/day</a:t>
              </a:r>
            </a:p>
          </p:txBody>
        </p:sp>
      </p:grpSp>
      <p:grpSp>
        <p:nvGrpSpPr>
          <p:cNvPr name="Group 95" id="95"/>
          <p:cNvGrpSpPr/>
          <p:nvPr/>
        </p:nvGrpSpPr>
        <p:grpSpPr>
          <a:xfrm rot="0">
            <a:off x="9669780" y="8503920"/>
            <a:ext cx="3703320" cy="411480"/>
            <a:chOff x="0" y="0"/>
            <a:chExt cx="4937760" cy="548640"/>
          </a:xfrm>
        </p:grpSpPr>
        <p:sp>
          <p:nvSpPr>
            <p:cNvPr name="Freeform 96" id="96"/>
            <p:cNvSpPr/>
            <p:nvPr/>
          </p:nvSpPr>
          <p:spPr>
            <a:xfrm flipH="false" flipV="false" rot="0">
              <a:off x="0" y="0"/>
              <a:ext cx="4937760" cy="548640"/>
            </a:xfrm>
            <a:custGeom>
              <a:avLst/>
              <a:gdLst/>
              <a:ahLst/>
              <a:cxnLst/>
              <a:rect r="r" b="b" t="t" l="l"/>
              <a:pathLst>
                <a:path h="548640" w="4937760">
                  <a:moveTo>
                    <a:pt x="0" y="0"/>
                  </a:moveTo>
                  <a:lnTo>
                    <a:pt x="4937760" y="0"/>
                  </a:lnTo>
                  <a:lnTo>
                    <a:pt x="4937760" y="548640"/>
                  </a:lnTo>
                  <a:lnTo>
                    <a:pt x="0" y="548640"/>
                  </a:lnTo>
                  <a:close/>
                </a:path>
              </a:pathLst>
            </a:custGeom>
            <a:blipFill>
              <a:blip r:embed="rId3">
                <a:alphaModFix amt="0"/>
              </a:blip>
              <a:stretch>
                <a:fillRect l="0" t="-125365" r="0" b="-125365"/>
              </a:stretch>
            </a:blipFill>
          </p:spPr>
        </p:sp>
        <p:sp>
          <p:nvSpPr>
            <p:cNvPr name="TextBox 97" id="97"/>
            <p:cNvSpPr txBox="true"/>
            <p:nvPr/>
          </p:nvSpPr>
          <p:spPr>
            <a:xfrm>
              <a:off x="0" y="-47625"/>
              <a:ext cx="4937760" cy="596265"/>
            </a:xfrm>
            <a:prstGeom prst="rect">
              <a:avLst/>
            </a:prstGeom>
          </p:spPr>
          <p:txBody>
            <a:bodyPr anchor="ctr" rtlCol="false" tIns="0" lIns="0" bIns="0" rIns="0"/>
            <a:lstStyle/>
            <a:p>
              <a:pPr algn="l">
                <a:lnSpc>
                  <a:spcPts val="2340"/>
                </a:lnSpc>
              </a:pPr>
              <a:r>
                <a:rPr lang="en-US" sz="1950" b="true">
                  <a:solidFill>
                    <a:srgbClr val="2D6A4F"/>
                  </a:solidFill>
                  <a:latin typeface="Calibri (MS) Bold"/>
                  <a:ea typeface="Calibri (MS) Bold"/>
                  <a:cs typeface="Calibri (MS) Bold"/>
                  <a:sym typeface="Calibri (MS) Bold"/>
                </a:rPr>
                <a:t>ROAS  1.73×</a:t>
              </a:r>
            </a:p>
          </p:txBody>
        </p:sp>
      </p:grpSp>
      <p:grpSp>
        <p:nvGrpSpPr>
          <p:cNvPr name="Group 98" id="98"/>
          <p:cNvGrpSpPr/>
          <p:nvPr/>
        </p:nvGrpSpPr>
        <p:grpSpPr>
          <a:xfrm rot="0">
            <a:off x="13843635" y="7054215"/>
            <a:ext cx="4133850" cy="1939290"/>
            <a:chOff x="0" y="0"/>
            <a:chExt cx="5511800" cy="2585720"/>
          </a:xfrm>
        </p:grpSpPr>
        <p:sp>
          <p:nvSpPr>
            <p:cNvPr name="Freeform 99" id="99"/>
            <p:cNvSpPr/>
            <p:nvPr/>
          </p:nvSpPr>
          <p:spPr>
            <a:xfrm flipH="false" flipV="false" rot="0">
              <a:off x="12700" y="12700"/>
              <a:ext cx="5486400" cy="2560320"/>
            </a:xfrm>
            <a:custGeom>
              <a:avLst/>
              <a:gdLst/>
              <a:ahLst/>
              <a:cxnLst/>
              <a:rect r="r" b="b" t="t" l="l"/>
              <a:pathLst>
                <a:path h="2560320" w="5486400">
                  <a:moveTo>
                    <a:pt x="0" y="0"/>
                  </a:moveTo>
                  <a:lnTo>
                    <a:pt x="5486400" y="0"/>
                  </a:lnTo>
                  <a:lnTo>
                    <a:pt x="5486400" y="2560320"/>
                  </a:lnTo>
                  <a:lnTo>
                    <a:pt x="0" y="2560320"/>
                  </a:lnTo>
                  <a:close/>
                </a:path>
              </a:pathLst>
            </a:custGeom>
            <a:solidFill>
              <a:srgbClr val="2D6A4F"/>
            </a:solidFill>
          </p:spPr>
        </p:sp>
        <p:sp>
          <p:nvSpPr>
            <p:cNvPr name="Freeform 100" id="100"/>
            <p:cNvSpPr/>
            <p:nvPr/>
          </p:nvSpPr>
          <p:spPr>
            <a:xfrm flipH="false" flipV="false" rot="0">
              <a:off x="0" y="0"/>
              <a:ext cx="5511800" cy="2585720"/>
            </a:xfrm>
            <a:custGeom>
              <a:avLst/>
              <a:gdLst/>
              <a:ahLst/>
              <a:cxnLst/>
              <a:rect r="r" b="b" t="t" l="l"/>
              <a:pathLst>
                <a:path h="2585720" w="5511800">
                  <a:moveTo>
                    <a:pt x="12700" y="0"/>
                  </a:moveTo>
                  <a:lnTo>
                    <a:pt x="5499100" y="0"/>
                  </a:lnTo>
                  <a:cubicBezTo>
                    <a:pt x="5506085" y="0"/>
                    <a:pt x="5511800" y="5715"/>
                    <a:pt x="5511800" y="12700"/>
                  </a:cubicBezTo>
                  <a:lnTo>
                    <a:pt x="5511800" y="2573020"/>
                  </a:lnTo>
                  <a:cubicBezTo>
                    <a:pt x="5511800" y="2580005"/>
                    <a:pt x="5506085" y="2585720"/>
                    <a:pt x="5499100" y="2585720"/>
                  </a:cubicBezTo>
                  <a:lnTo>
                    <a:pt x="12700" y="2585720"/>
                  </a:lnTo>
                  <a:cubicBezTo>
                    <a:pt x="5715" y="2585720"/>
                    <a:pt x="0" y="2580005"/>
                    <a:pt x="0" y="2573020"/>
                  </a:cubicBezTo>
                  <a:lnTo>
                    <a:pt x="0" y="12700"/>
                  </a:lnTo>
                  <a:cubicBezTo>
                    <a:pt x="0" y="5715"/>
                    <a:pt x="5715" y="0"/>
                    <a:pt x="12700" y="0"/>
                  </a:cubicBezTo>
                  <a:moveTo>
                    <a:pt x="12700" y="25400"/>
                  </a:moveTo>
                  <a:lnTo>
                    <a:pt x="12700" y="12700"/>
                  </a:lnTo>
                  <a:lnTo>
                    <a:pt x="25400" y="12700"/>
                  </a:lnTo>
                  <a:lnTo>
                    <a:pt x="25400" y="2573020"/>
                  </a:lnTo>
                  <a:lnTo>
                    <a:pt x="12700" y="2573020"/>
                  </a:lnTo>
                  <a:lnTo>
                    <a:pt x="12700" y="2560320"/>
                  </a:lnTo>
                  <a:lnTo>
                    <a:pt x="5499100" y="2560320"/>
                  </a:lnTo>
                  <a:lnTo>
                    <a:pt x="5499100" y="2573020"/>
                  </a:lnTo>
                  <a:lnTo>
                    <a:pt x="5486400" y="2573020"/>
                  </a:lnTo>
                  <a:lnTo>
                    <a:pt x="5486400" y="12700"/>
                  </a:lnTo>
                  <a:lnTo>
                    <a:pt x="5499100" y="12700"/>
                  </a:lnTo>
                  <a:lnTo>
                    <a:pt x="5499100" y="25400"/>
                  </a:lnTo>
                  <a:lnTo>
                    <a:pt x="12700" y="25400"/>
                  </a:lnTo>
                  <a:close/>
                </a:path>
              </a:pathLst>
            </a:custGeom>
            <a:solidFill>
              <a:srgbClr val="E9ECEF"/>
            </a:solidFill>
          </p:spPr>
        </p:sp>
      </p:grpSp>
      <p:grpSp>
        <p:nvGrpSpPr>
          <p:cNvPr name="Group 101" id="101"/>
          <p:cNvGrpSpPr/>
          <p:nvPr/>
        </p:nvGrpSpPr>
        <p:grpSpPr>
          <a:xfrm rot="0">
            <a:off x="14058900" y="7200900"/>
            <a:ext cx="3703320" cy="480060"/>
            <a:chOff x="0" y="0"/>
            <a:chExt cx="4937760" cy="640080"/>
          </a:xfrm>
        </p:grpSpPr>
        <p:sp>
          <p:nvSpPr>
            <p:cNvPr name="Freeform 102" id="102"/>
            <p:cNvSpPr/>
            <p:nvPr/>
          </p:nvSpPr>
          <p:spPr>
            <a:xfrm flipH="false" flipV="false" rot="0">
              <a:off x="0" y="0"/>
              <a:ext cx="4937760" cy="640080"/>
            </a:xfrm>
            <a:custGeom>
              <a:avLst/>
              <a:gdLst/>
              <a:ahLst/>
              <a:cxnLst/>
              <a:rect r="r" b="b" t="t" l="l"/>
              <a:pathLst>
                <a:path h="640080" w="4937760">
                  <a:moveTo>
                    <a:pt x="0" y="0"/>
                  </a:moveTo>
                  <a:lnTo>
                    <a:pt x="4937760" y="0"/>
                  </a:lnTo>
                  <a:lnTo>
                    <a:pt x="4937760" y="640080"/>
                  </a:lnTo>
                  <a:lnTo>
                    <a:pt x="0" y="640080"/>
                  </a:lnTo>
                  <a:close/>
                </a:path>
              </a:pathLst>
            </a:custGeom>
            <a:blipFill>
              <a:blip r:embed="rId3">
                <a:alphaModFix amt="0"/>
              </a:blip>
              <a:stretch>
                <a:fillRect l="0" t="-100313" r="0" b="-100313"/>
              </a:stretch>
            </a:blipFill>
          </p:spPr>
        </p:sp>
        <p:sp>
          <p:nvSpPr>
            <p:cNvPr name="TextBox 103" id="103"/>
            <p:cNvSpPr txBox="true"/>
            <p:nvPr/>
          </p:nvSpPr>
          <p:spPr>
            <a:xfrm>
              <a:off x="0" y="-47625"/>
              <a:ext cx="4937760" cy="687705"/>
            </a:xfrm>
            <a:prstGeom prst="rect">
              <a:avLst/>
            </a:prstGeom>
          </p:spPr>
          <p:txBody>
            <a:bodyPr anchor="ctr" rtlCol="false" tIns="0" lIns="0" bIns="0" rIns="0"/>
            <a:lstStyle/>
            <a:p>
              <a:pPr algn="l">
                <a:lnSpc>
                  <a:spcPts val="2340"/>
                </a:lnSpc>
              </a:pPr>
              <a:r>
                <a:rPr lang="en-US" b="true" sz="1950" spc="300">
                  <a:solidFill>
                    <a:srgbClr val="D8F3DC"/>
                  </a:solidFill>
                  <a:latin typeface="Calibri (MS) Bold"/>
                  <a:ea typeface="Calibri (MS) Bold"/>
                  <a:cs typeface="Calibri (MS) Bold"/>
                  <a:sym typeface="Calibri (MS) Bold"/>
                </a:rPr>
                <a:t>Week 4</a:t>
              </a:r>
            </a:p>
          </p:txBody>
        </p:sp>
      </p:grpSp>
      <p:grpSp>
        <p:nvGrpSpPr>
          <p:cNvPr name="Group 104" id="104"/>
          <p:cNvGrpSpPr/>
          <p:nvPr/>
        </p:nvGrpSpPr>
        <p:grpSpPr>
          <a:xfrm rot="0">
            <a:off x="14058900" y="7680960"/>
            <a:ext cx="3703320" cy="754380"/>
            <a:chOff x="0" y="0"/>
            <a:chExt cx="4937760" cy="1005840"/>
          </a:xfrm>
        </p:grpSpPr>
        <p:sp>
          <p:nvSpPr>
            <p:cNvPr name="Freeform 105" id="105"/>
            <p:cNvSpPr/>
            <p:nvPr/>
          </p:nvSpPr>
          <p:spPr>
            <a:xfrm flipH="false" flipV="false" rot="0">
              <a:off x="0" y="0"/>
              <a:ext cx="4937760" cy="1005840"/>
            </a:xfrm>
            <a:custGeom>
              <a:avLst/>
              <a:gdLst/>
              <a:ahLst/>
              <a:cxnLst/>
              <a:rect r="r" b="b" t="t" l="l"/>
              <a:pathLst>
                <a:path h="1005840" w="4937760">
                  <a:moveTo>
                    <a:pt x="0" y="0"/>
                  </a:moveTo>
                  <a:lnTo>
                    <a:pt x="4937760" y="0"/>
                  </a:lnTo>
                  <a:lnTo>
                    <a:pt x="4937760" y="1005840"/>
                  </a:lnTo>
                  <a:lnTo>
                    <a:pt x="0" y="1005840"/>
                  </a:lnTo>
                  <a:close/>
                </a:path>
              </a:pathLst>
            </a:custGeom>
            <a:blipFill>
              <a:blip r:embed="rId3">
                <a:alphaModFix amt="0"/>
              </a:blip>
              <a:stretch>
                <a:fillRect l="0" t="-45653" r="0" b="-45653"/>
              </a:stretch>
            </a:blipFill>
          </p:spPr>
        </p:sp>
        <p:sp>
          <p:nvSpPr>
            <p:cNvPr name="TextBox 106" id="106"/>
            <p:cNvSpPr txBox="true"/>
            <p:nvPr/>
          </p:nvSpPr>
          <p:spPr>
            <a:xfrm>
              <a:off x="0" y="-9525"/>
              <a:ext cx="4937760" cy="1015365"/>
            </a:xfrm>
            <a:prstGeom prst="rect">
              <a:avLst/>
            </a:prstGeom>
          </p:spPr>
          <p:txBody>
            <a:bodyPr anchor="ctr" rtlCol="false" tIns="0" lIns="0" bIns="0" rIns="0"/>
            <a:lstStyle/>
            <a:p>
              <a:pPr algn="l">
                <a:lnSpc>
                  <a:spcPts val="4680"/>
                </a:lnSpc>
              </a:pPr>
              <a:r>
                <a:rPr lang="en-US" sz="3900" b="true">
                  <a:solidFill>
                    <a:srgbClr val="FFFFFF"/>
                  </a:solidFill>
                  <a:latin typeface="Georgia Bold"/>
                  <a:ea typeface="Georgia Bold"/>
                  <a:cs typeface="Georgia Bold"/>
                  <a:sym typeface="Georgia Bold"/>
                </a:rPr>
                <a:t>€1000/day</a:t>
              </a:r>
            </a:p>
          </p:txBody>
        </p:sp>
      </p:grpSp>
      <p:grpSp>
        <p:nvGrpSpPr>
          <p:cNvPr name="Group 107" id="107"/>
          <p:cNvGrpSpPr/>
          <p:nvPr/>
        </p:nvGrpSpPr>
        <p:grpSpPr>
          <a:xfrm rot="0">
            <a:off x="14058900" y="8503920"/>
            <a:ext cx="3703320" cy="411480"/>
            <a:chOff x="0" y="0"/>
            <a:chExt cx="4937760" cy="548640"/>
          </a:xfrm>
        </p:grpSpPr>
        <p:sp>
          <p:nvSpPr>
            <p:cNvPr name="Freeform 108" id="108"/>
            <p:cNvSpPr/>
            <p:nvPr/>
          </p:nvSpPr>
          <p:spPr>
            <a:xfrm flipH="false" flipV="false" rot="0">
              <a:off x="0" y="0"/>
              <a:ext cx="4937760" cy="548640"/>
            </a:xfrm>
            <a:custGeom>
              <a:avLst/>
              <a:gdLst/>
              <a:ahLst/>
              <a:cxnLst/>
              <a:rect r="r" b="b" t="t" l="l"/>
              <a:pathLst>
                <a:path h="548640" w="4937760">
                  <a:moveTo>
                    <a:pt x="0" y="0"/>
                  </a:moveTo>
                  <a:lnTo>
                    <a:pt x="4937760" y="0"/>
                  </a:lnTo>
                  <a:lnTo>
                    <a:pt x="4937760" y="548640"/>
                  </a:lnTo>
                  <a:lnTo>
                    <a:pt x="0" y="548640"/>
                  </a:lnTo>
                  <a:close/>
                </a:path>
              </a:pathLst>
            </a:custGeom>
            <a:blipFill>
              <a:blip r:embed="rId3">
                <a:alphaModFix amt="0"/>
              </a:blip>
              <a:stretch>
                <a:fillRect l="0" t="-125365" r="0" b="-125365"/>
              </a:stretch>
            </a:blipFill>
          </p:spPr>
        </p:sp>
        <p:sp>
          <p:nvSpPr>
            <p:cNvPr name="TextBox 109" id="109"/>
            <p:cNvSpPr txBox="true"/>
            <p:nvPr/>
          </p:nvSpPr>
          <p:spPr>
            <a:xfrm>
              <a:off x="0" y="-47625"/>
              <a:ext cx="4937760" cy="596265"/>
            </a:xfrm>
            <a:prstGeom prst="rect">
              <a:avLst/>
            </a:prstGeom>
          </p:spPr>
          <p:txBody>
            <a:bodyPr anchor="ctr" rtlCol="false" tIns="0" lIns="0" bIns="0" rIns="0"/>
            <a:lstStyle/>
            <a:p>
              <a:pPr algn="l">
                <a:lnSpc>
                  <a:spcPts val="2340"/>
                </a:lnSpc>
              </a:pPr>
              <a:r>
                <a:rPr lang="en-US" sz="1950" b="true">
                  <a:solidFill>
                    <a:srgbClr val="F4A261"/>
                  </a:solidFill>
                  <a:latin typeface="Calibri (MS) Bold"/>
                  <a:ea typeface="Calibri (MS) Bold"/>
                  <a:cs typeface="Calibri (MS) Bold"/>
                  <a:sym typeface="Calibri (MS) Bold"/>
                </a:rPr>
                <a:t>ROAS  1.87×</a:t>
              </a:r>
            </a:p>
          </p:txBody>
        </p:sp>
      </p:grpSp>
      <p:grpSp>
        <p:nvGrpSpPr>
          <p:cNvPr name="Group 110" id="110"/>
          <p:cNvGrpSpPr/>
          <p:nvPr/>
        </p:nvGrpSpPr>
        <p:grpSpPr>
          <a:xfrm rot="0">
            <a:off x="685800" y="9258300"/>
            <a:ext cx="16459200" cy="411480"/>
            <a:chOff x="0" y="0"/>
            <a:chExt cx="21945600" cy="548640"/>
          </a:xfrm>
        </p:grpSpPr>
        <p:sp>
          <p:nvSpPr>
            <p:cNvPr name="Freeform 111" id="111"/>
            <p:cNvSpPr/>
            <p:nvPr/>
          </p:nvSpPr>
          <p:spPr>
            <a:xfrm flipH="false" flipV="false" rot="0">
              <a:off x="0" y="0"/>
              <a:ext cx="21945600" cy="548640"/>
            </a:xfrm>
            <a:custGeom>
              <a:avLst/>
              <a:gdLst/>
              <a:ahLst/>
              <a:cxnLst/>
              <a:rect r="r" b="b" t="t" l="l"/>
              <a:pathLst>
                <a:path h="548640" w="21945600">
                  <a:moveTo>
                    <a:pt x="0" y="0"/>
                  </a:moveTo>
                  <a:lnTo>
                    <a:pt x="21945600" y="0"/>
                  </a:lnTo>
                  <a:lnTo>
                    <a:pt x="21945600" y="548640"/>
                  </a:lnTo>
                  <a:lnTo>
                    <a:pt x="0" y="548640"/>
                  </a:lnTo>
                  <a:close/>
                </a:path>
              </a:pathLst>
            </a:custGeom>
            <a:blipFill>
              <a:blip r:embed="rId3">
                <a:alphaModFix amt="0"/>
              </a:blip>
              <a:stretch>
                <a:fillRect l="0" t="-729401" r="0" b="-729401"/>
              </a:stretch>
            </a:blipFill>
          </p:spPr>
        </p:sp>
        <p:sp>
          <p:nvSpPr>
            <p:cNvPr name="TextBox 112" id="112"/>
            <p:cNvSpPr txBox="true"/>
            <p:nvPr/>
          </p:nvSpPr>
          <p:spPr>
            <a:xfrm>
              <a:off x="0" y="0"/>
              <a:ext cx="21945600" cy="548640"/>
            </a:xfrm>
            <a:prstGeom prst="rect">
              <a:avLst/>
            </a:prstGeom>
          </p:spPr>
          <p:txBody>
            <a:bodyPr anchor="ctr" rtlCol="false" tIns="0" lIns="0" bIns="0" rIns="0"/>
            <a:lstStyle/>
            <a:p>
              <a:pPr algn="l">
                <a:lnSpc>
                  <a:spcPts val="1980"/>
                </a:lnSpc>
              </a:pPr>
              <a:r>
                <a:rPr lang="en-US" sz="1650" i="true" spc="-10">
                  <a:solidFill>
                    <a:srgbClr val="6C757D"/>
                  </a:solidFill>
                  <a:latin typeface="TT Rounds Condensed Italics"/>
                  <a:ea typeface="TT Rounds Condensed Italics"/>
                  <a:cs typeface="TT Rounds Condensed Italics"/>
                  <a:sym typeface="TT Rounds Condensed Italics"/>
                </a:rPr>
                <a:t>Built in a weekend without a Norwegian speaker to verify keywords. Campaign 3 (DSA) exists partly to catch what my translation misses.</a:t>
              </a:r>
            </a:p>
          </p:txBody>
        </p:sp>
      </p:grpSp>
      <p:grpSp>
        <p:nvGrpSpPr>
          <p:cNvPr name="Group 113" id="113"/>
          <p:cNvGrpSpPr/>
          <p:nvPr/>
        </p:nvGrpSpPr>
        <p:grpSpPr>
          <a:xfrm rot="0">
            <a:off x="685800" y="9806940"/>
            <a:ext cx="13716000" cy="342900"/>
            <a:chOff x="0" y="0"/>
            <a:chExt cx="18288000" cy="457200"/>
          </a:xfrm>
        </p:grpSpPr>
        <p:sp>
          <p:nvSpPr>
            <p:cNvPr name="Freeform 114" id="114"/>
            <p:cNvSpPr/>
            <p:nvPr/>
          </p:nvSpPr>
          <p:spPr>
            <a:xfrm flipH="false" flipV="false" rot="0">
              <a:off x="0" y="0"/>
              <a:ext cx="18288000" cy="457200"/>
            </a:xfrm>
            <a:custGeom>
              <a:avLst/>
              <a:gdLst/>
              <a:ahLst/>
              <a:cxnLst/>
              <a:rect r="r" b="b" t="t" l="l"/>
              <a:pathLst>
                <a:path h="457200" w="18288000">
                  <a:moveTo>
                    <a:pt x="0" y="0"/>
                  </a:moveTo>
                  <a:lnTo>
                    <a:pt x="18288000" y="0"/>
                  </a:lnTo>
                  <a:lnTo>
                    <a:pt x="18288000" y="457200"/>
                  </a:lnTo>
                  <a:lnTo>
                    <a:pt x="0" y="457200"/>
                  </a:lnTo>
                  <a:close/>
                </a:path>
              </a:pathLst>
            </a:custGeom>
            <a:blipFill>
              <a:blip r:embed="rId3">
                <a:alphaModFix amt="0"/>
              </a:blip>
              <a:stretch>
                <a:fillRect l="0" t="-729401" r="0" b="-729401"/>
              </a:stretch>
            </a:blipFill>
          </p:spPr>
        </p:sp>
        <p:sp>
          <p:nvSpPr>
            <p:cNvPr name="TextBox 115" id="115"/>
            <p:cNvSpPr txBox="true"/>
            <p:nvPr/>
          </p:nvSpPr>
          <p:spPr>
            <a:xfrm>
              <a:off x="0" y="-28575"/>
              <a:ext cx="18288000" cy="485775"/>
            </a:xfrm>
            <a:prstGeom prst="rect">
              <a:avLst/>
            </a:prstGeom>
          </p:spPr>
          <p:txBody>
            <a:bodyPr anchor="ctr" rtlCol="false" tIns="0" lIns="0" bIns="0" rIns="0"/>
            <a:lstStyle/>
            <a:p>
              <a:pPr algn="l">
                <a:lnSpc>
                  <a:spcPts val="1620"/>
                </a:lnSpc>
              </a:pPr>
              <a:r>
                <a:rPr lang="en-US" sz="1350">
                  <a:solidFill>
                    <a:srgbClr val="6C757D"/>
                  </a:solidFill>
                  <a:latin typeface="Calibri (MS)"/>
                  <a:ea typeface="Calibri (MS)"/>
                  <a:cs typeface="Calibri (MS)"/>
                  <a:sym typeface="Calibri (MS)"/>
                </a:rPr>
                <a:t>Dental Bright → Norway  ·  Danil Sysenko  ·  April 2026</a:t>
              </a:r>
            </a:p>
          </p:txBody>
        </p:sp>
      </p:grpSp>
      <p:grpSp>
        <p:nvGrpSpPr>
          <p:cNvPr name="Group 116" id="116"/>
          <p:cNvGrpSpPr/>
          <p:nvPr/>
        </p:nvGrpSpPr>
        <p:grpSpPr>
          <a:xfrm rot="0">
            <a:off x="16870680" y="9806940"/>
            <a:ext cx="822960" cy="342900"/>
            <a:chOff x="0" y="0"/>
            <a:chExt cx="1097280" cy="457200"/>
          </a:xfrm>
        </p:grpSpPr>
        <p:sp>
          <p:nvSpPr>
            <p:cNvPr name="Freeform 117" id="117"/>
            <p:cNvSpPr/>
            <p:nvPr/>
          </p:nvSpPr>
          <p:spPr>
            <a:xfrm flipH="false" flipV="false" rot="0">
              <a:off x="0" y="0"/>
              <a:ext cx="1097280" cy="457200"/>
            </a:xfrm>
            <a:custGeom>
              <a:avLst/>
              <a:gdLst/>
              <a:ahLst/>
              <a:cxnLst/>
              <a:rect r="r" b="b" t="t" l="l"/>
              <a:pathLst>
                <a:path h="457200" w="1097280">
                  <a:moveTo>
                    <a:pt x="0" y="0"/>
                  </a:moveTo>
                  <a:lnTo>
                    <a:pt x="1097280" y="0"/>
                  </a:lnTo>
                  <a:lnTo>
                    <a:pt x="1097280" y="457200"/>
                  </a:lnTo>
                  <a:lnTo>
                    <a:pt x="0" y="457200"/>
                  </a:lnTo>
                  <a:close/>
                </a:path>
              </a:pathLst>
            </a:custGeom>
            <a:blipFill>
              <a:blip r:embed="rId3">
                <a:alphaModFix amt="0"/>
              </a:blip>
              <a:stretch>
                <a:fillRect l="-3459" t="0" r="-3459" b="0"/>
              </a:stretch>
            </a:blipFill>
          </p:spPr>
        </p:sp>
        <p:sp>
          <p:nvSpPr>
            <p:cNvPr name="TextBox 118" id="118"/>
            <p:cNvSpPr txBox="true"/>
            <p:nvPr/>
          </p:nvSpPr>
          <p:spPr>
            <a:xfrm>
              <a:off x="0" y="-28575"/>
              <a:ext cx="1097280" cy="485775"/>
            </a:xfrm>
            <a:prstGeom prst="rect">
              <a:avLst/>
            </a:prstGeom>
          </p:spPr>
          <p:txBody>
            <a:bodyPr anchor="ctr" rtlCol="false" tIns="0" lIns="0" bIns="0" rIns="0"/>
            <a:lstStyle/>
            <a:p>
              <a:pPr algn="r">
                <a:lnSpc>
                  <a:spcPts val="1620"/>
                </a:lnSpc>
              </a:pPr>
              <a:r>
                <a:rPr lang="en-US" sz="1350">
                  <a:solidFill>
                    <a:srgbClr val="6C757D"/>
                  </a:solidFill>
                  <a:latin typeface="Calibri (MS)"/>
                  <a:ea typeface="Calibri (MS)"/>
                  <a:cs typeface="Calibri (MS)"/>
                  <a:sym typeface="Calibri (MS)"/>
                </a:rPr>
                <a:t>2 / 8</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480060"/>
            <a:ext cx="16459200" cy="754380"/>
            <a:chOff x="0" y="0"/>
            <a:chExt cx="21945600" cy="1005840"/>
          </a:xfrm>
        </p:grpSpPr>
        <p:sp>
          <p:nvSpPr>
            <p:cNvPr name="Freeform 3" id="3"/>
            <p:cNvSpPr/>
            <p:nvPr/>
          </p:nvSpPr>
          <p:spPr>
            <a:xfrm flipH="false" flipV="false" rot="0">
              <a:off x="0" y="0"/>
              <a:ext cx="21945600" cy="1005840"/>
            </a:xfrm>
            <a:custGeom>
              <a:avLst/>
              <a:gdLst/>
              <a:ahLst/>
              <a:cxnLst/>
              <a:rect r="r" b="b" t="t" l="l"/>
              <a:pathLst>
                <a:path h="1005840" w="21945600">
                  <a:moveTo>
                    <a:pt x="0" y="0"/>
                  </a:moveTo>
                  <a:lnTo>
                    <a:pt x="21945600" y="0"/>
                  </a:lnTo>
                  <a:lnTo>
                    <a:pt x="21945600" y="1005840"/>
                  </a:lnTo>
                  <a:lnTo>
                    <a:pt x="0" y="1005840"/>
                  </a:lnTo>
                  <a:close/>
                </a:path>
              </a:pathLst>
            </a:custGeom>
            <a:blipFill>
              <a:blip r:embed="rId3">
                <a:alphaModFix amt="0"/>
              </a:blip>
              <a:stretch>
                <a:fillRect l="0" t="-375128" r="0" b="-375128"/>
              </a:stretch>
            </a:blipFill>
          </p:spPr>
        </p:sp>
        <p:sp>
          <p:nvSpPr>
            <p:cNvPr name="TextBox 4" id="4"/>
            <p:cNvSpPr txBox="true"/>
            <p:nvPr/>
          </p:nvSpPr>
          <p:spPr>
            <a:xfrm>
              <a:off x="0" y="-9525"/>
              <a:ext cx="21945600" cy="1015365"/>
            </a:xfrm>
            <a:prstGeom prst="rect">
              <a:avLst/>
            </a:prstGeom>
          </p:spPr>
          <p:txBody>
            <a:bodyPr anchor="ctr" rtlCol="false" tIns="0" lIns="0" bIns="0" rIns="0"/>
            <a:lstStyle/>
            <a:p>
              <a:pPr algn="l">
                <a:lnSpc>
                  <a:spcPts val="6839"/>
                </a:lnSpc>
              </a:pPr>
              <a:r>
                <a:rPr lang="en-US" sz="5700" b="true">
                  <a:solidFill>
                    <a:srgbClr val="1A2E23"/>
                  </a:solidFill>
                  <a:latin typeface="Georgia Bold"/>
                  <a:ea typeface="Georgia Bold"/>
                  <a:cs typeface="Georgia Bold"/>
                  <a:sym typeface="Georgia Bold"/>
                </a:rPr>
                <a:t>What the NL data says</a:t>
              </a:r>
            </a:p>
          </p:txBody>
        </p:sp>
      </p:grpSp>
      <p:grpSp>
        <p:nvGrpSpPr>
          <p:cNvPr name="Group 5" id="5"/>
          <p:cNvGrpSpPr/>
          <p:nvPr/>
        </p:nvGrpSpPr>
        <p:grpSpPr>
          <a:xfrm rot="0">
            <a:off x="685800" y="1303020"/>
            <a:ext cx="16459200" cy="548640"/>
            <a:chOff x="0" y="0"/>
            <a:chExt cx="21945600" cy="731520"/>
          </a:xfrm>
        </p:grpSpPr>
        <p:sp>
          <p:nvSpPr>
            <p:cNvPr name="Freeform 6" id="6"/>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7" id="7"/>
            <p:cNvSpPr txBox="true"/>
            <p:nvPr/>
          </p:nvSpPr>
          <p:spPr>
            <a:xfrm>
              <a:off x="0" y="-9525"/>
              <a:ext cx="21945600" cy="741045"/>
            </a:xfrm>
            <a:prstGeom prst="rect">
              <a:avLst/>
            </a:prstGeom>
          </p:spPr>
          <p:txBody>
            <a:bodyPr anchor="ctr" rtlCol="false" tIns="0" lIns="0" bIns="0" rIns="0"/>
            <a:lstStyle/>
            <a:p>
              <a:pPr algn="l">
                <a:lnSpc>
                  <a:spcPts val="2879"/>
                </a:lnSpc>
              </a:pPr>
              <a:r>
                <a:rPr lang="en-US" sz="2400" i="true" spc="-14">
                  <a:solidFill>
                    <a:srgbClr val="6C757D"/>
                  </a:solidFill>
                  <a:latin typeface="TT Rounds Condensed Italics"/>
                  <a:ea typeface="TT Rounds Condensed Italics"/>
                  <a:cs typeface="TT Rounds Condensed Italics"/>
                  <a:sym typeface="TT Rounds Condensed Italics"/>
                </a:rPr>
                <a:t>I grouped 2,993 search terms into 6 intent clusters. Two drive three-quarters of revenue.</a:t>
              </a:r>
            </a:p>
          </p:txBody>
        </p:sp>
      </p:grpSp>
      <p:grpSp>
        <p:nvGrpSpPr>
          <p:cNvPr name="Group 8" id="8"/>
          <p:cNvGrpSpPr/>
          <p:nvPr/>
        </p:nvGrpSpPr>
        <p:grpSpPr>
          <a:xfrm rot="0">
            <a:off x="685800" y="2125980"/>
            <a:ext cx="8229600" cy="480060"/>
            <a:chOff x="0" y="0"/>
            <a:chExt cx="10972800" cy="640080"/>
          </a:xfrm>
        </p:grpSpPr>
        <p:sp>
          <p:nvSpPr>
            <p:cNvPr name="Freeform 9" id="9"/>
            <p:cNvSpPr/>
            <p:nvPr/>
          </p:nvSpPr>
          <p:spPr>
            <a:xfrm flipH="false" flipV="false" rot="0">
              <a:off x="0" y="0"/>
              <a:ext cx="10972800" cy="640080"/>
            </a:xfrm>
            <a:custGeom>
              <a:avLst/>
              <a:gdLst/>
              <a:ahLst/>
              <a:cxnLst/>
              <a:rect r="r" b="b" t="t" l="l"/>
              <a:pathLst>
                <a:path h="640080" w="10972800">
                  <a:moveTo>
                    <a:pt x="0" y="0"/>
                  </a:moveTo>
                  <a:lnTo>
                    <a:pt x="10972800" y="0"/>
                  </a:lnTo>
                  <a:lnTo>
                    <a:pt x="10972800" y="640080"/>
                  </a:lnTo>
                  <a:lnTo>
                    <a:pt x="0" y="640080"/>
                  </a:lnTo>
                  <a:close/>
                </a:path>
              </a:pathLst>
            </a:custGeom>
            <a:blipFill>
              <a:blip r:embed="rId3">
                <a:alphaModFix amt="0"/>
              </a:blip>
              <a:stretch>
                <a:fillRect l="0" t="-284029" r="0" b="-284029"/>
              </a:stretch>
            </a:blipFill>
          </p:spPr>
        </p:sp>
        <p:sp>
          <p:nvSpPr>
            <p:cNvPr name="TextBox 10" id="10"/>
            <p:cNvSpPr txBox="true"/>
            <p:nvPr/>
          </p:nvSpPr>
          <p:spPr>
            <a:xfrm>
              <a:off x="0" y="-47625"/>
              <a:ext cx="10972800" cy="687705"/>
            </a:xfrm>
            <a:prstGeom prst="rect">
              <a:avLst/>
            </a:prstGeom>
          </p:spPr>
          <p:txBody>
            <a:bodyPr anchor="ctr" rtlCol="false" tIns="0" lIns="0" bIns="0" rIns="0"/>
            <a:lstStyle/>
            <a:p>
              <a:pPr algn="l">
                <a:lnSpc>
                  <a:spcPts val="2340"/>
                </a:lnSpc>
              </a:pPr>
              <a:r>
                <a:rPr lang="en-US" b="true" sz="1950" spc="300">
                  <a:solidFill>
                    <a:srgbClr val="1A2E23"/>
                  </a:solidFill>
                  <a:latin typeface="Calibri (MS) Bold"/>
                  <a:ea typeface="Calibri (MS) Bold"/>
                  <a:cs typeface="Calibri (MS) Bold"/>
                  <a:sym typeface="Calibri (MS) Bold"/>
                </a:rPr>
                <a:t>Spend share and ROAS by cluster</a:t>
              </a:r>
            </a:p>
          </p:txBody>
        </p:sp>
      </p:grpSp>
      <p:pic>
        <p:nvPicPr>
          <p:cNvPr name="Picture 11" id="11"/>
          <p:cNvPicPr>
            <a:picLocks noChangeAspect="true"/>
          </p:cNvPicPr>
          <p:nvPr/>
        </p:nvPicPr>
        <p:blipFill>
          <a:blip r:embed="rId4"/>
          <a:stretch>
            <a:fillRect/>
          </a:stretch>
        </p:blipFill>
        <p:spPr>
          <a:xfrm rot="0">
            <a:off x="-164592" y="1824228"/>
            <a:ext cx="10204704" cy="8147304"/>
          </a:xfrm>
          <a:prstGeom prst="rect">
            <a:avLst/>
          </a:prstGeom>
        </p:spPr>
      </p:pic>
      <p:grpSp>
        <p:nvGrpSpPr>
          <p:cNvPr name="Group 12" id="12"/>
          <p:cNvGrpSpPr/>
          <p:nvPr/>
        </p:nvGrpSpPr>
        <p:grpSpPr>
          <a:xfrm rot="0">
            <a:off x="9738360" y="2125980"/>
            <a:ext cx="8229600" cy="480060"/>
            <a:chOff x="0" y="0"/>
            <a:chExt cx="10972800" cy="640080"/>
          </a:xfrm>
        </p:grpSpPr>
        <p:sp>
          <p:nvSpPr>
            <p:cNvPr name="Freeform 13" id="13"/>
            <p:cNvSpPr/>
            <p:nvPr/>
          </p:nvSpPr>
          <p:spPr>
            <a:xfrm flipH="false" flipV="false" rot="0">
              <a:off x="0" y="0"/>
              <a:ext cx="10972800" cy="640080"/>
            </a:xfrm>
            <a:custGeom>
              <a:avLst/>
              <a:gdLst/>
              <a:ahLst/>
              <a:cxnLst/>
              <a:rect r="r" b="b" t="t" l="l"/>
              <a:pathLst>
                <a:path h="640080" w="10972800">
                  <a:moveTo>
                    <a:pt x="0" y="0"/>
                  </a:moveTo>
                  <a:lnTo>
                    <a:pt x="10972800" y="0"/>
                  </a:lnTo>
                  <a:lnTo>
                    <a:pt x="10972800" y="640080"/>
                  </a:lnTo>
                  <a:lnTo>
                    <a:pt x="0" y="640080"/>
                  </a:lnTo>
                  <a:close/>
                </a:path>
              </a:pathLst>
            </a:custGeom>
            <a:blipFill>
              <a:blip r:embed="rId3">
                <a:alphaModFix amt="0"/>
              </a:blip>
              <a:stretch>
                <a:fillRect l="0" t="-284029" r="0" b="-284029"/>
              </a:stretch>
            </a:blipFill>
          </p:spPr>
        </p:sp>
        <p:sp>
          <p:nvSpPr>
            <p:cNvPr name="TextBox 14" id="14"/>
            <p:cNvSpPr txBox="true"/>
            <p:nvPr/>
          </p:nvSpPr>
          <p:spPr>
            <a:xfrm>
              <a:off x="0" y="-47625"/>
              <a:ext cx="10972800" cy="687705"/>
            </a:xfrm>
            <a:prstGeom prst="rect">
              <a:avLst/>
            </a:prstGeom>
          </p:spPr>
          <p:txBody>
            <a:bodyPr anchor="ctr" rtlCol="false" tIns="0" lIns="0" bIns="0" rIns="0"/>
            <a:lstStyle/>
            <a:p>
              <a:pPr algn="l">
                <a:lnSpc>
                  <a:spcPts val="2340"/>
                </a:lnSpc>
              </a:pPr>
              <a:r>
                <a:rPr lang="en-US" b="true" sz="1950" spc="300">
                  <a:solidFill>
                    <a:srgbClr val="1A2E23"/>
                  </a:solidFill>
                  <a:latin typeface="Calibri (MS) Bold"/>
                  <a:ea typeface="Calibri (MS) Bold"/>
                  <a:cs typeface="Calibri (MS) Bold"/>
                  <a:sym typeface="Calibri (MS) Bold"/>
                </a:rPr>
                <a:t>Cluster performance (6 months, NL)</a:t>
              </a:r>
            </a:p>
          </p:txBody>
        </p:sp>
      </p:grpSp>
      <p:graphicFrame>
        <p:nvGraphicFramePr>
          <p:cNvPr name="Table 15" id="15"/>
          <p:cNvGraphicFramePr>
            <a:graphicFrameLocks noGrp="true"/>
          </p:cNvGraphicFramePr>
          <p:nvPr/>
        </p:nvGraphicFramePr>
        <p:xfrm>
          <a:off x="9738360" y="2674620"/>
          <a:ext cx="7581900" cy="3600450"/>
        </p:xfrm>
        <a:graphic>
          <a:graphicData uri="http://schemas.openxmlformats.org/drawingml/2006/table">
            <a:tbl>
              <a:tblPr/>
              <a:tblGrid>
                <a:gridCol w="2374017"/>
                <a:gridCol w="1162708"/>
                <a:gridCol w="1162708"/>
                <a:gridCol w="960823"/>
                <a:gridCol w="960823"/>
                <a:gridCol w="960823"/>
              </a:tblGrid>
              <a:tr h="514350">
                <a:tc>
                  <a:txBody>
                    <a:bodyPr anchor="t" rtlCol="false"/>
                    <a:lstStyle/>
                    <a:p>
                      <a:pPr algn="l">
                        <a:lnSpc>
                          <a:spcPts val="1980"/>
                        </a:lnSpc>
                        <a:defRPr/>
                      </a:pPr>
                      <a:r>
                        <a:rPr lang="en-US" sz="1650" b="true">
                          <a:solidFill>
                            <a:srgbClr val="FFFFFF"/>
                          </a:solidFill>
                          <a:latin typeface="Calibri (MS) Bold"/>
                          <a:ea typeface="Calibri (MS) Bold"/>
                          <a:cs typeface="Calibri (MS) Bold"/>
                          <a:sym typeface="Calibri (MS) Bold"/>
                        </a:rPr>
                        <a:t>Cluster</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c>
                  <a:txBody>
                    <a:bodyPr anchor="t" rtlCol="false"/>
                    <a:lstStyle/>
                    <a:p>
                      <a:pPr algn="r">
                        <a:lnSpc>
                          <a:spcPts val="1980"/>
                        </a:lnSpc>
                        <a:defRPr/>
                      </a:pPr>
                      <a:r>
                        <a:rPr lang="en-US" sz="1650" b="true">
                          <a:solidFill>
                            <a:srgbClr val="FFFFFF"/>
                          </a:solidFill>
                          <a:latin typeface="Calibri (MS) Bold"/>
                          <a:ea typeface="Calibri (MS) Bold"/>
                          <a:cs typeface="Calibri (MS) Bold"/>
                          <a:sym typeface="Calibri (MS) Bold"/>
                        </a:rPr>
                        <a:t>Spend</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c>
                  <a:txBody>
                    <a:bodyPr anchor="t" rtlCol="false"/>
                    <a:lstStyle/>
                    <a:p>
                      <a:pPr algn="r">
                        <a:lnSpc>
                          <a:spcPts val="1980"/>
                        </a:lnSpc>
                        <a:defRPr/>
                      </a:pPr>
                      <a:r>
                        <a:rPr lang="en-US" sz="1650" b="true">
                          <a:solidFill>
                            <a:srgbClr val="FFFFFF"/>
                          </a:solidFill>
                          <a:latin typeface="Calibri (MS) Bold"/>
                          <a:ea typeface="Calibri (MS) Bold"/>
                          <a:cs typeface="Calibri (MS) Bold"/>
                          <a:sym typeface="Calibri (MS) Bold"/>
                        </a:rPr>
                        <a:t>Revenue</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c>
                  <a:txBody>
                    <a:bodyPr anchor="t" rtlCol="false"/>
                    <a:lstStyle/>
                    <a:p>
                      <a:pPr algn="r">
                        <a:lnSpc>
                          <a:spcPts val="1980"/>
                        </a:lnSpc>
                        <a:defRPr/>
                      </a:pPr>
                      <a:r>
                        <a:rPr lang="en-US" sz="1650" b="true">
                          <a:solidFill>
                            <a:srgbClr val="FFFFFF"/>
                          </a:solidFill>
                          <a:latin typeface="Calibri (MS) Bold"/>
                          <a:ea typeface="Calibri (MS) Bold"/>
                          <a:cs typeface="Calibri (MS) Bold"/>
                          <a:sym typeface="Calibri (MS) Bold"/>
                        </a:rPr>
                        <a:t>ROAS</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c>
                  <a:txBody>
                    <a:bodyPr anchor="t" rtlCol="false"/>
                    <a:lstStyle/>
                    <a:p>
                      <a:pPr algn="r">
                        <a:lnSpc>
                          <a:spcPts val="1980"/>
                        </a:lnSpc>
                        <a:defRPr/>
                      </a:pPr>
                      <a:r>
                        <a:rPr lang="en-US" sz="1650" b="true">
                          <a:solidFill>
                            <a:srgbClr val="FFFFFF"/>
                          </a:solidFill>
                          <a:latin typeface="Calibri (MS) Bold"/>
                          <a:ea typeface="Calibri (MS) Bold"/>
                          <a:cs typeface="Calibri (MS) Bold"/>
                          <a:sym typeface="Calibri (MS) Bold"/>
                        </a:rPr>
                        <a:t>CPC</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c>
                  <a:txBody>
                    <a:bodyPr anchor="t" rtlCol="false"/>
                    <a:lstStyle/>
                    <a:p>
                      <a:pPr algn="r">
                        <a:lnSpc>
                          <a:spcPts val="1980"/>
                        </a:lnSpc>
                        <a:defRPr/>
                      </a:pPr>
                      <a:r>
                        <a:rPr lang="en-US" sz="1650" b="true">
                          <a:solidFill>
                            <a:srgbClr val="FFFFFF"/>
                          </a:solidFill>
                          <a:latin typeface="Calibri (MS) Bold"/>
                          <a:ea typeface="Calibri (MS) Bold"/>
                          <a:cs typeface="Calibri (MS) Bold"/>
                          <a:sym typeface="Calibri (MS) Bold"/>
                        </a:rPr>
                        <a:t>CVR</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r>
              <a:tr h="514350">
                <a:tc>
                  <a:txBody>
                    <a:bodyPr anchor="t" rtlCol="false"/>
                    <a:lstStyle/>
                    <a:p>
                      <a:pPr algn="l">
                        <a:lnSpc>
                          <a:spcPts val="1980"/>
                        </a:lnSpc>
                        <a:defRPr/>
                      </a:pPr>
                      <a:r>
                        <a:rPr lang="en-US" sz="1650" b="true">
                          <a:solidFill>
                            <a:srgbClr val="1A2E23"/>
                          </a:solidFill>
                          <a:latin typeface="Calibri (MS) Bold"/>
                          <a:ea typeface="Calibri (MS) Bold"/>
                          <a:cs typeface="Calibri (MS) Bold"/>
                          <a:sym typeface="Calibri (MS) Bold"/>
                        </a:rPr>
                        <a:t>Solution-Aware</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1A2E23"/>
                          </a:solidFill>
                          <a:latin typeface="Calibri (MS)"/>
                          <a:ea typeface="Calibri (MS)"/>
                          <a:cs typeface="Calibri (MS)"/>
                          <a:sym typeface="Calibri (MS)"/>
                        </a:rPr>
                        <a:t>€26,636</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1A2E23"/>
                          </a:solidFill>
                          <a:latin typeface="Calibri (MS)"/>
                          <a:ea typeface="Calibri (MS)"/>
                          <a:cs typeface="Calibri (MS)"/>
                          <a:sym typeface="Calibri (MS)"/>
                        </a:rPr>
                        <a:t>€82,282</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b="true">
                          <a:solidFill>
                            <a:srgbClr val="2D6A4F"/>
                          </a:solidFill>
                          <a:latin typeface="Calibri (MS) Bold"/>
                          <a:ea typeface="Calibri (MS) Bold"/>
                          <a:cs typeface="Calibri (MS) Bold"/>
                          <a:sym typeface="Calibri (MS) Bold"/>
                        </a:rPr>
                        <a:t>3.09×</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1A2E23"/>
                          </a:solidFill>
                          <a:latin typeface="Calibri (MS)"/>
                          <a:ea typeface="Calibri (MS)"/>
                          <a:cs typeface="Calibri (MS)"/>
                          <a:sym typeface="Calibri (MS)"/>
                        </a:rPr>
                        <a:t>€1.22</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1A2E23"/>
                          </a:solidFill>
                          <a:latin typeface="Calibri (MS)"/>
                          <a:ea typeface="Calibri (MS)"/>
                          <a:cs typeface="Calibri (MS)"/>
                          <a:sym typeface="Calibri (MS)"/>
                        </a:rPr>
                        <a:t>6.5%</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r h="514350">
                <a:tc>
                  <a:txBody>
                    <a:bodyPr anchor="t" rtlCol="false"/>
                    <a:lstStyle/>
                    <a:p>
                      <a:pPr algn="l">
                        <a:lnSpc>
                          <a:spcPts val="1980"/>
                        </a:lnSpc>
                        <a:defRPr/>
                      </a:pPr>
                      <a:r>
                        <a:rPr lang="en-US" sz="1650" b="true">
                          <a:solidFill>
                            <a:srgbClr val="1A2E23"/>
                          </a:solidFill>
                          <a:latin typeface="Calibri (MS) Bold"/>
                          <a:ea typeface="Calibri (MS) Bold"/>
                          <a:cs typeface="Calibri (MS) Bold"/>
                          <a:sym typeface="Calibri (MS) Bold"/>
                        </a:rPr>
                        <a:t>Problem-Aware</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1A2E23"/>
                          </a:solidFill>
                          <a:latin typeface="Calibri (MS)"/>
                          <a:ea typeface="Calibri (MS)"/>
                          <a:cs typeface="Calibri (MS)"/>
                          <a:sym typeface="Calibri (MS)"/>
                        </a:rPr>
                        <a:t>€15,596</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1A2E23"/>
                          </a:solidFill>
                          <a:latin typeface="Calibri (MS)"/>
                          <a:ea typeface="Calibri (MS)"/>
                          <a:cs typeface="Calibri (MS)"/>
                          <a:sym typeface="Calibri (MS)"/>
                        </a:rPr>
                        <a:t>€44,730</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b="true">
                          <a:solidFill>
                            <a:srgbClr val="2D6A4F"/>
                          </a:solidFill>
                          <a:latin typeface="Calibri (MS) Bold"/>
                          <a:ea typeface="Calibri (MS) Bold"/>
                          <a:cs typeface="Calibri (MS) Bold"/>
                          <a:sym typeface="Calibri (MS) Bold"/>
                        </a:rPr>
                        <a:t>2.87×</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1A2E23"/>
                          </a:solidFill>
                          <a:latin typeface="Calibri (MS)"/>
                          <a:ea typeface="Calibri (MS)"/>
                          <a:cs typeface="Calibri (MS)"/>
                          <a:sym typeface="Calibri (MS)"/>
                        </a:rPr>
                        <a:t>€0.94</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1A2E23"/>
                          </a:solidFill>
                          <a:latin typeface="Calibri (MS)"/>
                          <a:ea typeface="Calibri (MS)"/>
                          <a:cs typeface="Calibri (MS)"/>
                          <a:sym typeface="Calibri (MS)"/>
                        </a:rPr>
                        <a:t>4.8%</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r h="514350">
                <a:tc>
                  <a:txBody>
                    <a:bodyPr anchor="t" rtlCol="false"/>
                    <a:lstStyle/>
                    <a:p>
                      <a:pPr algn="l">
                        <a:lnSpc>
                          <a:spcPts val="1980"/>
                        </a:lnSpc>
                        <a:defRPr/>
                      </a:pPr>
                      <a:r>
                        <a:rPr lang="en-US" sz="1650">
                          <a:solidFill>
                            <a:srgbClr val="6C757D"/>
                          </a:solidFill>
                          <a:latin typeface="Calibri (MS)"/>
                          <a:ea typeface="Calibri (MS)"/>
                          <a:cs typeface="Calibri (MS)"/>
                          <a:sym typeface="Calibri (MS)"/>
                        </a:rPr>
                        <a:t>Other</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€7,535</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€15,465</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2.05×</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€1.67</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5.5%</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r h="514350">
                <a:tc>
                  <a:txBody>
                    <a:bodyPr anchor="t" rtlCol="false"/>
                    <a:lstStyle/>
                    <a:p>
                      <a:pPr algn="l">
                        <a:lnSpc>
                          <a:spcPts val="1980"/>
                        </a:lnSpc>
                        <a:defRPr/>
                      </a:pPr>
                      <a:r>
                        <a:rPr lang="en-US" sz="1650">
                          <a:solidFill>
                            <a:srgbClr val="6C757D"/>
                          </a:solidFill>
                          <a:latin typeface="Calibri (MS)"/>
                          <a:ea typeface="Calibri (MS)"/>
                          <a:cs typeface="Calibri (MS)"/>
                          <a:sym typeface="Calibri (MS)"/>
                        </a:rPr>
                        <a:t>Broad dog</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€6,881</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€15,087</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2.19×</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€1.54</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5.4%</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r h="514350">
                <a:tc>
                  <a:txBody>
                    <a:bodyPr anchor="t" rtlCol="false"/>
                    <a:lstStyle/>
                    <a:p>
                      <a:pPr algn="l">
                        <a:lnSpc>
                          <a:spcPts val="1980"/>
                        </a:lnSpc>
                        <a:defRPr/>
                      </a:pPr>
                      <a:r>
                        <a:rPr lang="en-US" sz="1650">
                          <a:solidFill>
                            <a:srgbClr val="6C757D"/>
                          </a:solidFill>
                          <a:latin typeface="Calibri (MS)"/>
                          <a:ea typeface="Calibri (MS)"/>
                          <a:cs typeface="Calibri (MS)"/>
                          <a:sym typeface="Calibri (MS)"/>
                        </a:rPr>
                        <a:t>Branded (Beemzy)</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€3,366</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€8,424</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2.50×</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€1.37</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5.2%</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r h="514350">
                <a:tc>
                  <a:txBody>
                    <a:bodyPr anchor="t" rtlCol="false"/>
                    <a:lstStyle/>
                    <a:p>
                      <a:pPr algn="l">
                        <a:lnSpc>
                          <a:spcPts val="1980"/>
                        </a:lnSpc>
                        <a:defRPr/>
                      </a:pPr>
                      <a:r>
                        <a:rPr lang="en-US" sz="1650" i="true">
                          <a:solidFill>
                            <a:srgbClr val="E76F51"/>
                          </a:solidFill>
                          <a:latin typeface="Calibri (MS) Italics"/>
                          <a:ea typeface="Calibri (MS) Italics"/>
                          <a:cs typeface="Calibri (MS) Italics"/>
                          <a:sym typeface="Calibri (MS) Italics"/>
                        </a:rPr>
                        <a:t>Competitor</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€3,134</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€5,564</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b="true">
                          <a:solidFill>
                            <a:srgbClr val="E76F51"/>
                          </a:solidFill>
                          <a:latin typeface="Calibri (MS) Bold"/>
                          <a:ea typeface="Calibri (MS) Bold"/>
                          <a:cs typeface="Calibri (MS) Bold"/>
                          <a:sym typeface="Calibri (MS) Bold"/>
                        </a:rPr>
                        <a:t>1.78×</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€1.86</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980"/>
                        </a:lnSpc>
                        <a:defRPr/>
                      </a:pPr>
                      <a:r>
                        <a:rPr lang="en-US" sz="1650">
                          <a:solidFill>
                            <a:srgbClr val="6C757D"/>
                          </a:solidFill>
                          <a:latin typeface="Calibri (MS)"/>
                          <a:ea typeface="Calibri (MS)"/>
                          <a:cs typeface="Calibri (MS)"/>
                          <a:sym typeface="Calibri (MS)"/>
                        </a:rPr>
                        <a:t>5.3%</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bl>
          </a:graphicData>
        </a:graphic>
      </p:graphicFrame>
      <p:grpSp>
        <p:nvGrpSpPr>
          <p:cNvPr name="Group 16" id="16"/>
          <p:cNvGrpSpPr/>
          <p:nvPr/>
        </p:nvGrpSpPr>
        <p:grpSpPr>
          <a:xfrm rot="0">
            <a:off x="9738360" y="7680960"/>
            <a:ext cx="7818120" cy="1440180"/>
            <a:chOff x="0" y="0"/>
            <a:chExt cx="10424160" cy="1920240"/>
          </a:xfrm>
        </p:grpSpPr>
        <p:sp>
          <p:nvSpPr>
            <p:cNvPr name="Freeform 17" id="17"/>
            <p:cNvSpPr/>
            <p:nvPr/>
          </p:nvSpPr>
          <p:spPr>
            <a:xfrm flipH="false" flipV="false" rot="0">
              <a:off x="0" y="0"/>
              <a:ext cx="10424160" cy="1920240"/>
            </a:xfrm>
            <a:custGeom>
              <a:avLst/>
              <a:gdLst/>
              <a:ahLst/>
              <a:cxnLst/>
              <a:rect r="r" b="b" t="t" l="l"/>
              <a:pathLst>
                <a:path h="1920240" w="10424160">
                  <a:moveTo>
                    <a:pt x="0" y="0"/>
                  </a:moveTo>
                  <a:lnTo>
                    <a:pt x="10424160" y="0"/>
                  </a:lnTo>
                  <a:lnTo>
                    <a:pt x="10424160" y="1920240"/>
                  </a:lnTo>
                  <a:lnTo>
                    <a:pt x="0" y="1920240"/>
                  </a:lnTo>
                  <a:close/>
                </a:path>
              </a:pathLst>
            </a:custGeom>
            <a:solidFill>
              <a:srgbClr val="D8F3DC"/>
            </a:solidFill>
          </p:spPr>
        </p:sp>
      </p:grpSp>
      <p:grpSp>
        <p:nvGrpSpPr>
          <p:cNvPr name="Group 18" id="18"/>
          <p:cNvGrpSpPr/>
          <p:nvPr/>
        </p:nvGrpSpPr>
        <p:grpSpPr>
          <a:xfrm rot="0">
            <a:off x="9738360" y="7680960"/>
            <a:ext cx="109728" cy="1440180"/>
            <a:chOff x="0" y="0"/>
            <a:chExt cx="146304" cy="1920240"/>
          </a:xfrm>
        </p:grpSpPr>
        <p:sp>
          <p:nvSpPr>
            <p:cNvPr name="Freeform 19" id="19"/>
            <p:cNvSpPr/>
            <p:nvPr/>
          </p:nvSpPr>
          <p:spPr>
            <a:xfrm flipH="false" flipV="false" rot="0">
              <a:off x="0" y="0"/>
              <a:ext cx="146304" cy="1920240"/>
            </a:xfrm>
            <a:custGeom>
              <a:avLst/>
              <a:gdLst/>
              <a:ahLst/>
              <a:cxnLst/>
              <a:rect r="r" b="b" t="t" l="l"/>
              <a:pathLst>
                <a:path h="1920240" w="146304">
                  <a:moveTo>
                    <a:pt x="0" y="0"/>
                  </a:moveTo>
                  <a:lnTo>
                    <a:pt x="146304" y="0"/>
                  </a:lnTo>
                  <a:lnTo>
                    <a:pt x="146304" y="1920240"/>
                  </a:lnTo>
                  <a:lnTo>
                    <a:pt x="0" y="1920240"/>
                  </a:lnTo>
                  <a:close/>
                </a:path>
              </a:pathLst>
            </a:custGeom>
            <a:solidFill>
              <a:srgbClr val="2D6A4F"/>
            </a:solidFill>
          </p:spPr>
        </p:sp>
      </p:grpSp>
      <p:sp>
        <p:nvSpPr>
          <p:cNvPr name="TextBox 20" id="20"/>
          <p:cNvSpPr txBox="true"/>
          <p:nvPr/>
        </p:nvSpPr>
        <p:spPr>
          <a:xfrm rot="0">
            <a:off x="10081260" y="7818120"/>
            <a:ext cx="7338060" cy="1234440"/>
          </a:xfrm>
          <a:prstGeom prst="rect">
            <a:avLst/>
          </a:prstGeom>
        </p:spPr>
        <p:txBody>
          <a:bodyPr anchor="t" rtlCol="false" tIns="0" lIns="0" bIns="0" rIns="0">
            <a:spAutoFit/>
          </a:bodyPr>
          <a:lstStyle/>
          <a:p>
            <a:pPr algn="l">
              <a:lnSpc>
                <a:spcPts val="2160"/>
              </a:lnSpc>
            </a:pPr>
            <a:r>
              <a:rPr lang="en-US" b="true" sz="1800" spc="-10">
                <a:solidFill>
                  <a:srgbClr val="1B4332"/>
                </a:solidFill>
                <a:latin typeface="TT Rounds Condensed Bold"/>
                <a:ea typeface="TT Rounds Condensed Bold"/>
                <a:cs typeface="TT Rounds Condensed Bold"/>
                <a:sym typeface="TT Rounds Condensed Bold"/>
              </a:rPr>
              <a:t>Key insight.  </a:t>
            </a:r>
            <a:r>
              <a:rPr lang="en-US" sz="1800" spc="-10">
                <a:solidFill>
                  <a:srgbClr val="1A2E23"/>
                </a:solidFill>
                <a:latin typeface="TT Rounds Condensed"/>
                <a:ea typeface="TT Rounds Condensed"/>
                <a:cs typeface="TT Rounds Condensed"/>
                <a:sym typeface="TT Rounds Condensed"/>
              </a:rPr>
              <a:t>Solution + Problem = </a:t>
            </a:r>
            <a:r>
              <a:rPr lang="en-US" b="true" sz="1800" spc="-10">
                <a:solidFill>
                  <a:srgbClr val="1B4332"/>
                </a:solidFill>
                <a:latin typeface="TT Rounds Condensed Bold"/>
                <a:ea typeface="TT Rounds Condensed Bold"/>
                <a:cs typeface="TT Rounds Condensed Bold"/>
                <a:sym typeface="TT Rounds Condensed Bold"/>
              </a:rPr>
              <a:t>67% of NL spend, 74% of NL revenue</a:t>
            </a:r>
            <a:r>
              <a:rPr lang="en-US" sz="1800" spc="-10">
                <a:solidFill>
                  <a:srgbClr val="1A2E23"/>
                </a:solidFill>
                <a:latin typeface="TT Rounds Condensed"/>
                <a:ea typeface="TT Rounds Condensed"/>
                <a:cs typeface="TT Rounds Condensed"/>
                <a:sym typeface="TT Rounds Condensed"/>
              </a:rPr>
              <a:t>. Competitor has the worst ROAS (1.78×) — expected to be worse in NO without brand trust. Branded won't exist in NO yet.</a:t>
            </a:r>
          </a:p>
        </p:txBody>
      </p:sp>
      <p:grpSp>
        <p:nvGrpSpPr>
          <p:cNvPr name="Group 21" id="21"/>
          <p:cNvGrpSpPr/>
          <p:nvPr/>
        </p:nvGrpSpPr>
        <p:grpSpPr>
          <a:xfrm rot="0">
            <a:off x="685800" y="9806940"/>
            <a:ext cx="13716000" cy="342900"/>
            <a:chOff x="0" y="0"/>
            <a:chExt cx="18288000" cy="457200"/>
          </a:xfrm>
        </p:grpSpPr>
        <p:sp>
          <p:nvSpPr>
            <p:cNvPr name="Freeform 22" id="22"/>
            <p:cNvSpPr/>
            <p:nvPr/>
          </p:nvSpPr>
          <p:spPr>
            <a:xfrm flipH="false" flipV="false" rot="0">
              <a:off x="0" y="0"/>
              <a:ext cx="18288000" cy="457200"/>
            </a:xfrm>
            <a:custGeom>
              <a:avLst/>
              <a:gdLst/>
              <a:ahLst/>
              <a:cxnLst/>
              <a:rect r="r" b="b" t="t" l="l"/>
              <a:pathLst>
                <a:path h="457200" w="18288000">
                  <a:moveTo>
                    <a:pt x="0" y="0"/>
                  </a:moveTo>
                  <a:lnTo>
                    <a:pt x="18288000" y="0"/>
                  </a:lnTo>
                  <a:lnTo>
                    <a:pt x="18288000" y="457200"/>
                  </a:lnTo>
                  <a:lnTo>
                    <a:pt x="0" y="457200"/>
                  </a:lnTo>
                  <a:close/>
                </a:path>
              </a:pathLst>
            </a:custGeom>
            <a:blipFill>
              <a:blip r:embed="rId3">
                <a:alphaModFix amt="0"/>
              </a:blip>
              <a:stretch>
                <a:fillRect l="0" t="-729401" r="0" b="-729401"/>
              </a:stretch>
            </a:blipFill>
          </p:spPr>
        </p:sp>
        <p:sp>
          <p:nvSpPr>
            <p:cNvPr name="TextBox 23" id="23"/>
            <p:cNvSpPr txBox="true"/>
            <p:nvPr/>
          </p:nvSpPr>
          <p:spPr>
            <a:xfrm>
              <a:off x="0" y="-28575"/>
              <a:ext cx="18288000" cy="485775"/>
            </a:xfrm>
            <a:prstGeom prst="rect">
              <a:avLst/>
            </a:prstGeom>
          </p:spPr>
          <p:txBody>
            <a:bodyPr anchor="ctr" rtlCol="false" tIns="0" lIns="0" bIns="0" rIns="0"/>
            <a:lstStyle/>
            <a:p>
              <a:pPr algn="l">
                <a:lnSpc>
                  <a:spcPts val="1620"/>
                </a:lnSpc>
              </a:pPr>
              <a:r>
                <a:rPr lang="en-US" sz="1350">
                  <a:solidFill>
                    <a:srgbClr val="6C757D"/>
                  </a:solidFill>
                  <a:latin typeface="Calibri (MS)"/>
                  <a:ea typeface="Calibri (MS)"/>
                  <a:cs typeface="Calibri (MS)"/>
                  <a:sym typeface="Calibri (MS)"/>
                </a:rPr>
                <a:t>Dental Bright → Norway  ·  Danil Sysenko  ·  April 2026</a:t>
              </a:r>
            </a:p>
          </p:txBody>
        </p:sp>
      </p:grpSp>
      <p:grpSp>
        <p:nvGrpSpPr>
          <p:cNvPr name="Group 24" id="24"/>
          <p:cNvGrpSpPr/>
          <p:nvPr/>
        </p:nvGrpSpPr>
        <p:grpSpPr>
          <a:xfrm rot="0">
            <a:off x="16870680" y="9806940"/>
            <a:ext cx="822960" cy="342900"/>
            <a:chOff x="0" y="0"/>
            <a:chExt cx="1097280" cy="457200"/>
          </a:xfrm>
        </p:grpSpPr>
        <p:sp>
          <p:nvSpPr>
            <p:cNvPr name="Freeform 25" id="25"/>
            <p:cNvSpPr/>
            <p:nvPr/>
          </p:nvSpPr>
          <p:spPr>
            <a:xfrm flipH="false" flipV="false" rot="0">
              <a:off x="0" y="0"/>
              <a:ext cx="1097280" cy="457200"/>
            </a:xfrm>
            <a:custGeom>
              <a:avLst/>
              <a:gdLst/>
              <a:ahLst/>
              <a:cxnLst/>
              <a:rect r="r" b="b" t="t" l="l"/>
              <a:pathLst>
                <a:path h="457200" w="1097280">
                  <a:moveTo>
                    <a:pt x="0" y="0"/>
                  </a:moveTo>
                  <a:lnTo>
                    <a:pt x="1097280" y="0"/>
                  </a:lnTo>
                  <a:lnTo>
                    <a:pt x="1097280" y="457200"/>
                  </a:lnTo>
                  <a:lnTo>
                    <a:pt x="0" y="457200"/>
                  </a:lnTo>
                  <a:close/>
                </a:path>
              </a:pathLst>
            </a:custGeom>
            <a:blipFill>
              <a:blip r:embed="rId3">
                <a:alphaModFix amt="0"/>
              </a:blip>
              <a:stretch>
                <a:fillRect l="-3459" t="0" r="-3459" b="0"/>
              </a:stretch>
            </a:blipFill>
          </p:spPr>
        </p:sp>
        <p:sp>
          <p:nvSpPr>
            <p:cNvPr name="TextBox 26" id="26"/>
            <p:cNvSpPr txBox="true"/>
            <p:nvPr/>
          </p:nvSpPr>
          <p:spPr>
            <a:xfrm>
              <a:off x="0" y="-28575"/>
              <a:ext cx="1097280" cy="485775"/>
            </a:xfrm>
            <a:prstGeom prst="rect">
              <a:avLst/>
            </a:prstGeom>
          </p:spPr>
          <p:txBody>
            <a:bodyPr anchor="ctr" rtlCol="false" tIns="0" lIns="0" bIns="0" rIns="0"/>
            <a:lstStyle/>
            <a:p>
              <a:pPr algn="r">
                <a:lnSpc>
                  <a:spcPts val="1620"/>
                </a:lnSpc>
              </a:pPr>
              <a:r>
                <a:rPr lang="en-US" sz="1350">
                  <a:solidFill>
                    <a:srgbClr val="6C757D"/>
                  </a:solidFill>
                  <a:latin typeface="Calibri (MS)"/>
                  <a:ea typeface="Calibri (MS)"/>
                  <a:cs typeface="Calibri (MS)"/>
                  <a:sym typeface="Calibri (MS)"/>
                </a:rPr>
                <a:t>3 / 8</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480060"/>
            <a:ext cx="16459200" cy="754380"/>
            <a:chOff x="0" y="0"/>
            <a:chExt cx="21945600" cy="1005840"/>
          </a:xfrm>
        </p:grpSpPr>
        <p:sp>
          <p:nvSpPr>
            <p:cNvPr name="Freeform 3" id="3"/>
            <p:cNvSpPr/>
            <p:nvPr/>
          </p:nvSpPr>
          <p:spPr>
            <a:xfrm flipH="false" flipV="false" rot="0">
              <a:off x="0" y="0"/>
              <a:ext cx="21945600" cy="1005840"/>
            </a:xfrm>
            <a:custGeom>
              <a:avLst/>
              <a:gdLst/>
              <a:ahLst/>
              <a:cxnLst/>
              <a:rect r="r" b="b" t="t" l="l"/>
              <a:pathLst>
                <a:path h="1005840" w="21945600">
                  <a:moveTo>
                    <a:pt x="0" y="0"/>
                  </a:moveTo>
                  <a:lnTo>
                    <a:pt x="21945600" y="0"/>
                  </a:lnTo>
                  <a:lnTo>
                    <a:pt x="21945600" y="1005840"/>
                  </a:lnTo>
                  <a:lnTo>
                    <a:pt x="0" y="1005840"/>
                  </a:lnTo>
                  <a:close/>
                </a:path>
              </a:pathLst>
            </a:custGeom>
            <a:blipFill>
              <a:blip r:embed="rId3">
                <a:alphaModFix amt="0"/>
              </a:blip>
              <a:stretch>
                <a:fillRect l="0" t="-375128" r="0" b="-375128"/>
              </a:stretch>
            </a:blipFill>
          </p:spPr>
        </p:sp>
        <p:sp>
          <p:nvSpPr>
            <p:cNvPr name="TextBox 4" id="4"/>
            <p:cNvSpPr txBox="true"/>
            <p:nvPr/>
          </p:nvSpPr>
          <p:spPr>
            <a:xfrm>
              <a:off x="0" y="-9525"/>
              <a:ext cx="21945600" cy="1015365"/>
            </a:xfrm>
            <a:prstGeom prst="rect">
              <a:avLst/>
            </a:prstGeom>
          </p:spPr>
          <p:txBody>
            <a:bodyPr anchor="ctr" rtlCol="false" tIns="0" lIns="0" bIns="0" rIns="0"/>
            <a:lstStyle/>
            <a:p>
              <a:pPr algn="l">
                <a:lnSpc>
                  <a:spcPts val="6839"/>
                </a:lnSpc>
              </a:pPr>
              <a:r>
                <a:rPr lang="en-US" sz="5700" b="true">
                  <a:solidFill>
                    <a:srgbClr val="1A2E23"/>
                  </a:solidFill>
                  <a:latin typeface="Georgia Bold"/>
                  <a:ea typeface="Georgia Bold"/>
                  <a:cs typeface="Georgia Bold"/>
                  <a:sym typeface="Georgia Bold"/>
                </a:rPr>
                <a:t>Norway: market and unit economics</a:t>
              </a:r>
            </a:p>
          </p:txBody>
        </p:sp>
      </p:grpSp>
      <p:grpSp>
        <p:nvGrpSpPr>
          <p:cNvPr name="Group 5" id="5"/>
          <p:cNvGrpSpPr/>
          <p:nvPr/>
        </p:nvGrpSpPr>
        <p:grpSpPr>
          <a:xfrm rot="0">
            <a:off x="685800" y="1303020"/>
            <a:ext cx="16459200" cy="548640"/>
            <a:chOff x="0" y="0"/>
            <a:chExt cx="21945600" cy="731520"/>
          </a:xfrm>
        </p:grpSpPr>
        <p:sp>
          <p:nvSpPr>
            <p:cNvPr name="Freeform 6" id="6"/>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7" id="7"/>
            <p:cNvSpPr txBox="true"/>
            <p:nvPr/>
          </p:nvSpPr>
          <p:spPr>
            <a:xfrm>
              <a:off x="0" y="-9525"/>
              <a:ext cx="21945600" cy="741045"/>
            </a:xfrm>
            <a:prstGeom prst="rect">
              <a:avLst/>
            </a:prstGeom>
          </p:spPr>
          <p:txBody>
            <a:bodyPr anchor="ctr" rtlCol="false" tIns="0" lIns="0" bIns="0" rIns="0"/>
            <a:lstStyle/>
            <a:p>
              <a:pPr algn="l">
                <a:lnSpc>
                  <a:spcPts val="2879"/>
                </a:lnSpc>
              </a:pPr>
              <a:r>
                <a:rPr lang="en-US" sz="2400" i="true" spc="-14">
                  <a:solidFill>
                    <a:srgbClr val="6C757D"/>
                  </a:solidFill>
                  <a:latin typeface="TT Rounds Condensed Italics"/>
                  <a:ea typeface="TT Rounds Condensed Italics"/>
                  <a:cs typeface="TT Rounds Condensed Italics"/>
                  <a:sym typeface="TT Rounds Condensed Italics"/>
                </a:rPr>
                <a:t>Explicit assumptions — every number is adjustable with Week 1 real data.</a:t>
              </a:r>
            </a:p>
          </p:txBody>
        </p:sp>
      </p:grpSp>
      <p:grpSp>
        <p:nvGrpSpPr>
          <p:cNvPr name="Group 8" id="8"/>
          <p:cNvGrpSpPr/>
          <p:nvPr/>
        </p:nvGrpSpPr>
        <p:grpSpPr>
          <a:xfrm rot="0">
            <a:off x="685800" y="2194560"/>
            <a:ext cx="617220" cy="617220"/>
            <a:chOff x="0" y="0"/>
            <a:chExt cx="822960" cy="822960"/>
          </a:xfrm>
        </p:grpSpPr>
        <p:sp>
          <p:nvSpPr>
            <p:cNvPr name="Freeform 9" id="9" descr="preencoded.png"/>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lnTo>
                    <a:pt x="0" y="0"/>
                  </a:lnTo>
                  <a:close/>
                </a:path>
              </a:pathLst>
            </a:custGeom>
            <a:blipFill>
              <a:blip r:embed="rId4"/>
              <a:stretch>
                <a:fillRect l="0" t="0" r="0" b="0"/>
              </a:stretch>
            </a:blipFill>
          </p:spPr>
        </p:sp>
      </p:grpSp>
      <p:grpSp>
        <p:nvGrpSpPr>
          <p:cNvPr name="Group 10" id="10"/>
          <p:cNvGrpSpPr/>
          <p:nvPr/>
        </p:nvGrpSpPr>
        <p:grpSpPr>
          <a:xfrm rot="0">
            <a:off x="1440180" y="2263140"/>
            <a:ext cx="6858000" cy="548640"/>
            <a:chOff x="0" y="0"/>
            <a:chExt cx="9144000" cy="731520"/>
          </a:xfrm>
        </p:grpSpPr>
        <p:sp>
          <p:nvSpPr>
            <p:cNvPr name="Freeform 11" id="11"/>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562" r="0" b="-193562"/>
              </a:stretch>
            </a:blipFill>
          </p:spPr>
        </p:sp>
        <p:sp>
          <p:nvSpPr>
            <p:cNvPr name="TextBox 12" id="12"/>
            <p:cNvSpPr txBox="true"/>
            <p:nvPr/>
          </p:nvSpPr>
          <p:spPr>
            <a:xfrm>
              <a:off x="0" y="-19050"/>
              <a:ext cx="9144000" cy="750570"/>
            </a:xfrm>
            <a:prstGeom prst="rect">
              <a:avLst/>
            </a:prstGeom>
          </p:spPr>
          <p:txBody>
            <a:bodyPr anchor="ctr" rtlCol="false" tIns="0" lIns="0" bIns="0" rIns="0"/>
            <a:lstStyle/>
            <a:p>
              <a:pPr algn="l">
                <a:lnSpc>
                  <a:spcPts val="3240"/>
                </a:lnSpc>
              </a:pPr>
              <a:r>
                <a:rPr lang="en-US" sz="2700" b="true">
                  <a:solidFill>
                    <a:srgbClr val="1A2E23"/>
                  </a:solidFill>
                  <a:latin typeface="Georgia Bold"/>
                  <a:ea typeface="Georgia Bold"/>
                  <a:cs typeface="Georgia Bold"/>
                  <a:sym typeface="Georgia Bold"/>
                </a:rPr>
                <a:t>Market context</a:t>
              </a:r>
            </a:p>
          </p:txBody>
        </p:sp>
      </p:grpSp>
      <p:grpSp>
        <p:nvGrpSpPr>
          <p:cNvPr name="Group 13" id="13"/>
          <p:cNvGrpSpPr/>
          <p:nvPr/>
        </p:nvGrpSpPr>
        <p:grpSpPr>
          <a:xfrm rot="0">
            <a:off x="685800" y="3017520"/>
            <a:ext cx="7955280" cy="342900"/>
            <a:chOff x="0" y="0"/>
            <a:chExt cx="10607040" cy="457200"/>
          </a:xfrm>
        </p:grpSpPr>
        <p:sp>
          <p:nvSpPr>
            <p:cNvPr name="Freeform 14" id="14"/>
            <p:cNvSpPr/>
            <p:nvPr/>
          </p:nvSpPr>
          <p:spPr>
            <a:xfrm flipH="false" flipV="false" rot="0">
              <a:off x="0" y="0"/>
              <a:ext cx="10607040" cy="457200"/>
            </a:xfrm>
            <a:custGeom>
              <a:avLst/>
              <a:gdLst/>
              <a:ahLst/>
              <a:cxnLst/>
              <a:rect r="r" b="b" t="t" l="l"/>
              <a:pathLst>
                <a:path h="457200" w="10607040">
                  <a:moveTo>
                    <a:pt x="0" y="0"/>
                  </a:moveTo>
                  <a:lnTo>
                    <a:pt x="10607040" y="0"/>
                  </a:lnTo>
                  <a:lnTo>
                    <a:pt x="10607040" y="457200"/>
                  </a:lnTo>
                  <a:lnTo>
                    <a:pt x="0" y="457200"/>
                  </a:lnTo>
                  <a:close/>
                </a:path>
              </a:pathLst>
            </a:custGeom>
            <a:blipFill>
              <a:blip r:embed="rId3">
                <a:alphaModFix amt="0"/>
              </a:blip>
              <a:stretch>
                <a:fillRect l="0" t="-402052" r="0" b="-402052"/>
              </a:stretch>
            </a:blipFill>
          </p:spPr>
        </p:sp>
        <p:sp>
          <p:nvSpPr>
            <p:cNvPr name="TextBox 15" id="15"/>
            <p:cNvSpPr txBox="true"/>
            <p:nvPr/>
          </p:nvSpPr>
          <p:spPr>
            <a:xfrm>
              <a:off x="0" y="-28575"/>
              <a:ext cx="10607040" cy="485775"/>
            </a:xfrm>
            <a:prstGeom prst="rect">
              <a:avLst/>
            </a:prstGeom>
          </p:spPr>
          <p:txBody>
            <a:bodyPr anchor="ctr" rtlCol="false" tIns="0" lIns="0" bIns="0" rIns="0"/>
            <a:lstStyle/>
            <a:p>
              <a:pPr algn="l">
                <a:lnSpc>
                  <a:spcPts val="1620"/>
                </a:lnSpc>
              </a:pPr>
              <a:r>
                <a:rPr lang="en-US" b="true" sz="1350" spc="450">
                  <a:solidFill>
                    <a:srgbClr val="6C757D"/>
                  </a:solidFill>
                  <a:latin typeface="Calibri (MS) Bold"/>
                  <a:ea typeface="Calibri (MS) Bold"/>
                  <a:cs typeface="Calibri (MS) Bold"/>
                  <a:sym typeface="Calibri (MS) Bold"/>
                </a:rPr>
                <a:t>POPULATION</a:t>
              </a:r>
            </a:p>
          </p:txBody>
        </p:sp>
      </p:grpSp>
      <p:grpSp>
        <p:nvGrpSpPr>
          <p:cNvPr name="Group 16" id="16"/>
          <p:cNvGrpSpPr/>
          <p:nvPr/>
        </p:nvGrpSpPr>
        <p:grpSpPr>
          <a:xfrm rot="0">
            <a:off x="685800" y="3319272"/>
            <a:ext cx="3154680" cy="617220"/>
            <a:chOff x="0" y="0"/>
            <a:chExt cx="4206240" cy="822960"/>
          </a:xfrm>
        </p:grpSpPr>
        <p:sp>
          <p:nvSpPr>
            <p:cNvPr name="Freeform 17" id="17"/>
            <p:cNvSpPr/>
            <p:nvPr/>
          </p:nvSpPr>
          <p:spPr>
            <a:xfrm flipH="false" flipV="false" rot="0">
              <a:off x="0" y="0"/>
              <a:ext cx="4206240" cy="822960"/>
            </a:xfrm>
            <a:custGeom>
              <a:avLst/>
              <a:gdLst/>
              <a:ahLst/>
              <a:cxnLst/>
              <a:rect r="r" b="b" t="t" l="l"/>
              <a:pathLst>
                <a:path h="822960" w="4206240">
                  <a:moveTo>
                    <a:pt x="0" y="0"/>
                  </a:moveTo>
                  <a:lnTo>
                    <a:pt x="4206240" y="0"/>
                  </a:lnTo>
                  <a:lnTo>
                    <a:pt x="4206240" y="822960"/>
                  </a:lnTo>
                  <a:lnTo>
                    <a:pt x="0" y="822960"/>
                  </a:lnTo>
                  <a:close/>
                </a:path>
              </a:pathLst>
            </a:custGeom>
            <a:blipFill>
              <a:blip r:embed="rId3">
                <a:alphaModFix amt="0"/>
              </a:blip>
              <a:stretch>
                <a:fillRect l="0" t="-49590" r="0" b="-49590"/>
              </a:stretch>
            </a:blipFill>
          </p:spPr>
        </p:sp>
        <p:sp>
          <p:nvSpPr>
            <p:cNvPr name="TextBox 18" id="18"/>
            <p:cNvSpPr txBox="true"/>
            <p:nvPr/>
          </p:nvSpPr>
          <p:spPr>
            <a:xfrm>
              <a:off x="0" y="-19050"/>
              <a:ext cx="4206240" cy="842010"/>
            </a:xfrm>
            <a:prstGeom prst="rect">
              <a:avLst/>
            </a:prstGeom>
          </p:spPr>
          <p:txBody>
            <a:bodyPr anchor="ctr" rtlCol="false" tIns="0" lIns="0" bIns="0" rIns="0"/>
            <a:lstStyle/>
            <a:p>
              <a:pPr algn="l">
                <a:lnSpc>
                  <a:spcPts val="3240"/>
                </a:lnSpc>
              </a:pPr>
              <a:r>
                <a:rPr lang="en-US" sz="2700" b="true">
                  <a:solidFill>
                    <a:srgbClr val="1A2E23"/>
                  </a:solidFill>
                  <a:latin typeface="Georgia Bold"/>
                  <a:ea typeface="Georgia Bold"/>
                  <a:cs typeface="Georgia Bold"/>
                  <a:sym typeface="Georgia Bold"/>
                </a:rPr>
                <a:t>5.55M</a:t>
              </a:r>
            </a:p>
          </p:txBody>
        </p:sp>
      </p:grpSp>
      <p:grpSp>
        <p:nvGrpSpPr>
          <p:cNvPr name="Group 19" id="19"/>
          <p:cNvGrpSpPr/>
          <p:nvPr/>
        </p:nvGrpSpPr>
        <p:grpSpPr>
          <a:xfrm rot="0">
            <a:off x="3909060" y="3360420"/>
            <a:ext cx="4663440" cy="754380"/>
            <a:chOff x="0" y="0"/>
            <a:chExt cx="6217920" cy="1005840"/>
          </a:xfrm>
        </p:grpSpPr>
        <p:sp>
          <p:nvSpPr>
            <p:cNvPr name="Freeform 20" id="20"/>
            <p:cNvSpPr/>
            <p:nvPr/>
          </p:nvSpPr>
          <p:spPr>
            <a:xfrm flipH="false" flipV="false" rot="0">
              <a:off x="0" y="0"/>
              <a:ext cx="6217920" cy="1005840"/>
            </a:xfrm>
            <a:custGeom>
              <a:avLst/>
              <a:gdLst/>
              <a:ahLst/>
              <a:cxnLst/>
              <a:rect r="r" b="b" t="t" l="l"/>
              <a:pathLst>
                <a:path h="1005840" w="6217920">
                  <a:moveTo>
                    <a:pt x="0" y="0"/>
                  </a:moveTo>
                  <a:lnTo>
                    <a:pt x="6217920" y="0"/>
                  </a:lnTo>
                  <a:lnTo>
                    <a:pt x="6217920" y="1005840"/>
                  </a:lnTo>
                  <a:lnTo>
                    <a:pt x="0" y="1005840"/>
                  </a:lnTo>
                  <a:close/>
                </a:path>
              </a:pathLst>
            </a:custGeom>
            <a:blipFill>
              <a:blip r:embed="rId3">
                <a:alphaModFix amt="0"/>
              </a:blip>
              <a:stretch>
                <a:fillRect l="0" t="-70452" r="0" b="-70452"/>
              </a:stretch>
            </a:blipFill>
          </p:spPr>
        </p:sp>
        <p:sp>
          <p:nvSpPr>
            <p:cNvPr name="TextBox 21" id="21"/>
            <p:cNvSpPr txBox="true"/>
            <p:nvPr/>
          </p:nvSpPr>
          <p:spPr>
            <a:xfrm>
              <a:off x="0" y="0"/>
              <a:ext cx="6217920" cy="1005840"/>
            </a:xfrm>
            <a:prstGeom prst="rect">
              <a:avLst/>
            </a:prstGeom>
          </p:spPr>
          <p:txBody>
            <a:bodyPr anchor="ctr" rtlCol="false" tIns="0" lIns="0" bIns="0" rIns="0"/>
            <a:lstStyle/>
            <a:p>
              <a:pPr algn="l">
                <a:lnSpc>
                  <a:spcPts val="1980"/>
                </a:lnSpc>
              </a:pPr>
              <a:r>
                <a:rPr lang="en-US" sz="1650" spc="-10">
                  <a:solidFill>
                    <a:srgbClr val="1A2E23"/>
                  </a:solidFill>
                  <a:latin typeface="TT Rounds Condensed"/>
                  <a:ea typeface="TT Rounds Condensed"/>
                  <a:cs typeface="TT Rounds Condensed"/>
                  <a:sym typeface="TT Rounds Condensed"/>
                </a:rPr>
                <a:t>~20% dog-owning households → ~560k dogs</a:t>
              </a:r>
            </a:p>
          </p:txBody>
        </p:sp>
      </p:grpSp>
      <p:grpSp>
        <p:nvGrpSpPr>
          <p:cNvPr name="Group 22" id="22"/>
          <p:cNvGrpSpPr/>
          <p:nvPr/>
        </p:nvGrpSpPr>
        <p:grpSpPr>
          <a:xfrm rot="0">
            <a:off x="685800" y="4279392"/>
            <a:ext cx="7955280" cy="342900"/>
            <a:chOff x="0" y="0"/>
            <a:chExt cx="10607040" cy="457200"/>
          </a:xfrm>
        </p:grpSpPr>
        <p:sp>
          <p:nvSpPr>
            <p:cNvPr name="Freeform 23" id="23"/>
            <p:cNvSpPr/>
            <p:nvPr/>
          </p:nvSpPr>
          <p:spPr>
            <a:xfrm flipH="false" flipV="false" rot="0">
              <a:off x="0" y="0"/>
              <a:ext cx="10607040" cy="457200"/>
            </a:xfrm>
            <a:custGeom>
              <a:avLst/>
              <a:gdLst/>
              <a:ahLst/>
              <a:cxnLst/>
              <a:rect r="r" b="b" t="t" l="l"/>
              <a:pathLst>
                <a:path h="457200" w="10607040">
                  <a:moveTo>
                    <a:pt x="0" y="0"/>
                  </a:moveTo>
                  <a:lnTo>
                    <a:pt x="10607040" y="0"/>
                  </a:lnTo>
                  <a:lnTo>
                    <a:pt x="10607040" y="457200"/>
                  </a:lnTo>
                  <a:lnTo>
                    <a:pt x="0" y="457200"/>
                  </a:lnTo>
                  <a:close/>
                </a:path>
              </a:pathLst>
            </a:custGeom>
            <a:blipFill>
              <a:blip r:embed="rId3">
                <a:alphaModFix amt="0"/>
              </a:blip>
              <a:stretch>
                <a:fillRect l="0" t="-402052" r="0" b="-402052"/>
              </a:stretch>
            </a:blipFill>
          </p:spPr>
        </p:sp>
        <p:sp>
          <p:nvSpPr>
            <p:cNvPr name="TextBox 24" id="24"/>
            <p:cNvSpPr txBox="true"/>
            <p:nvPr/>
          </p:nvSpPr>
          <p:spPr>
            <a:xfrm>
              <a:off x="0" y="-28575"/>
              <a:ext cx="10607040" cy="485775"/>
            </a:xfrm>
            <a:prstGeom prst="rect">
              <a:avLst/>
            </a:prstGeom>
          </p:spPr>
          <p:txBody>
            <a:bodyPr anchor="ctr" rtlCol="false" tIns="0" lIns="0" bIns="0" rIns="0"/>
            <a:lstStyle/>
            <a:p>
              <a:pPr algn="l">
                <a:lnSpc>
                  <a:spcPts val="1620"/>
                </a:lnSpc>
              </a:pPr>
              <a:r>
                <a:rPr lang="en-US" b="true" sz="1350" spc="450">
                  <a:solidFill>
                    <a:srgbClr val="6C757D"/>
                  </a:solidFill>
                  <a:latin typeface="Calibri (MS) Bold"/>
                  <a:ea typeface="Calibri (MS) Bold"/>
                  <a:cs typeface="Calibri (MS) Bold"/>
                  <a:sym typeface="Calibri (MS) Bold"/>
                </a:rPr>
                <a:t>LANGUAGE</a:t>
              </a:r>
            </a:p>
          </p:txBody>
        </p:sp>
      </p:grpSp>
      <p:grpSp>
        <p:nvGrpSpPr>
          <p:cNvPr name="Group 25" id="25"/>
          <p:cNvGrpSpPr/>
          <p:nvPr/>
        </p:nvGrpSpPr>
        <p:grpSpPr>
          <a:xfrm rot="0">
            <a:off x="685800" y="4581144"/>
            <a:ext cx="3154680" cy="617220"/>
            <a:chOff x="0" y="0"/>
            <a:chExt cx="4206240" cy="822960"/>
          </a:xfrm>
        </p:grpSpPr>
        <p:sp>
          <p:nvSpPr>
            <p:cNvPr name="Freeform 26" id="26"/>
            <p:cNvSpPr/>
            <p:nvPr/>
          </p:nvSpPr>
          <p:spPr>
            <a:xfrm flipH="false" flipV="false" rot="0">
              <a:off x="0" y="0"/>
              <a:ext cx="4206240" cy="822960"/>
            </a:xfrm>
            <a:custGeom>
              <a:avLst/>
              <a:gdLst/>
              <a:ahLst/>
              <a:cxnLst/>
              <a:rect r="r" b="b" t="t" l="l"/>
              <a:pathLst>
                <a:path h="822960" w="4206240">
                  <a:moveTo>
                    <a:pt x="0" y="0"/>
                  </a:moveTo>
                  <a:lnTo>
                    <a:pt x="4206240" y="0"/>
                  </a:lnTo>
                  <a:lnTo>
                    <a:pt x="4206240" y="822960"/>
                  </a:lnTo>
                  <a:lnTo>
                    <a:pt x="0" y="822960"/>
                  </a:lnTo>
                  <a:close/>
                </a:path>
              </a:pathLst>
            </a:custGeom>
            <a:blipFill>
              <a:blip r:embed="rId3">
                <a:alphaModFix amt="0"/>
              </a:blip>
              <a:stretch>
                <a:fillRect l="0" t="-49590" r="0" b="-49590"/>
              </a:stretch>
            </a:blipFill>
          </p:spPr>
        </p:sp>
        <p:sp>
          <p:nvSpPr>
            <p:cNvPr name="TextBox 27" id="27"/>
            <p:cNvSpPr txBox="true"/>
            <p:nvPr/>
          </p:nvSpPr>
          <p:spPr>
            <a:xfrm>
              <a:off x="0" y="-19050"/>
              <a:ext cx="4206240" cy="842010"/>
            </a:xfrm>
            <a:prstGeom prst="rect">
              <a:avLst/>
            </a:prstGeom>
          </p:spPr>
          <p:txBody>
            <a:bodyPr anchor="ctr" rtlCol="false" tIns="0" lIns="0" bIns="0" rIns="0"/>
            <a:lstStyle/>
            <a:p>
              <a:pPr algn="l">
                <a:lnSpc>
                  <a:spcPts val="3240"/>
                </a:lnSpc>
              </a:pPr>
              <a:r>
                <a:rPr lang="en-US" sz="2700" b="true">
                  <a:solidFill>
                    <a:srgbClr val="1A2E23"/>
                  </a:solidFill>
                  <a:latin typeface="Georgia Bold"/>
                  <a:ea typeface="Georgia Bold"/>
                  <a:cs typeface="Georgia Bold"/>
                  <a:sym typeface="Georgia Bold"/>
                </a:rPr>
                <a:t>Bokmål</a:t>
              </a:r>
            </a:p>
          </p:txBody>
        </p:sp>
      </p:grpSp>
      <p:grpSp>
        <p:nvGrpSpPr>
          <p:cNvPr name="Group 28" id="28"/>
          <p:cNvGrpSpPr/>
          <p:nvPr/>
        </p:nvGrpSpPr>
        <p:grpSpPr>
          <a:xfrm rot="0">
            <a:off x="3909060" y="4622292"/>
            <a:ext cx="4663440" cy="754380"/>
            <a:chOff x="0" y="0"/>
            <a:chExt cx="6217920" cy="1005840"/>
          </a:xfrm>
        </p:grpSpPr>
        <p:sp>
          <p:nvSpPr>
            <p:cNvPr name="Freeform 29" id="29"/>
            <p:cNvSpPr/>
            <p:nvPr/>
          </p:nvSpPr>
          <p:spPr>
            <a:xfrm flipH="false" flipV="false" rot="0">
              <a:off x="0" y="0"/>
              <a:ext cx="6217920" cy="1005840"/>
            </a:xfrm>
            <a:custGeom>
              <a:avLst/>
              <a:gdLst/>
              <a:ahLst/>
              <a:cxnLst/>
              <a:rect r="r" b="b" t="t" l="l"/>
              <a:pathLst>
                <a:path h="1005840" w="6217920">
                  <a:moveTo>
                    <a:pt x="0" y="0"/>
                  </a:moveTo>
                  <a:lnTo>
                    <a:pt x="6217920" y="0"/>
                  </a:lnTo>
                  <a:lnTo>
                    <a:pt x="6217920" y="1005840"/>
                  </a:lnTo>
                  <a:lnTo>
                    <a:pt x="0" y="1005840"/>
                  </a:lnTo>
                  <a:close/>
                </a:path>
              </a:pathLst>
            </a:custGeom>
            <a:blipFill>
              <a:blip r:embed="rId3">
                <a:alphaModFix amt="0"/>
              </a:blip>
              <a:stretch>
                <a:fillRect l="0" t="-70452" r="0" b="-70452"/>
              </a:stretch>
            </a:blipFill>
          </p:spPr>
        </p:sp>
        <p:sp>
          <p:nvSpPr>
            <p:cNvPr name="TextBox 30" id="30"/>
            <p:cNvSpPr txBox="true"/>
            <p:nvPr/>
          </p:nvSpPr>
          <p:spPr>
            <a:xfrm>
              <a:off x="0" y="0"/>
              <a:ext cx="6217920" cy="1005840"/>
            </a:xfrm>
            <a:prstGeom prst="rect">
              <a:avLst/>
            </a:prstGeom>
          </p:spPr>
          <p:txBody>
            <a:bodyPr anchor="ctr" rtlCol="false" tIns="0" lIns="0" bIns="0" rIns="0"/>
            <a:lstStyle/>
            <a:p>
              <a:pPr algn="l">
                <a:lnSpc>
                  <a:spcPts val="1980"/>
                </a:lnSpc>
              </a:pPr>
              <a:r>
                <a:rPr lang="en-US" sz="1650" spc="-10">
                  <a:solidFill>
                    <a:srgbClr val="1A2E23"/>
                  </a:solidFill>
                  <a:latin typeface="TT Rounds Condensed"/>
                  <a:ea typeface="TT Rounds Condensed"/>
                  <a:cs typeface="TT Rounds Condensed"/>
                  <a:sym typeface="TT Rounds Condensed"/>
                </a:rPr>
                <a:t>~90% of searches; Nynorsk covered via broad match</a:t>
              </a:r>
            </a:p>
          </p:txBody>
        </p:sp>
      </p:grpSp>
      <p:grpSp>
        <p:nvGrpSpPr>
          <p:cNvPr name="Group 31" id="31"/>
          <p:cNvGrpSpPr/>
          <p:nvPr/>
        </p:nvGrpSpPr>
        <p:grpSpPr>
          <a:xfrm rot="0">
            <a:off x="685800" y="5541264"/>
            <a:ext cx="7955280" cy="342900"/>
            <a:chOff x="0" y="0"/>
            <a:chExt cx="10607040" cy="457200"/>
          </a:xfrm>
        </p:grpSpPr>
        <p:sp>
          <p:nvSpPr>
            <p:cNvPr name="Freeform 32" id="32"/>
            <p:cNvSpPr/>
            <p:nvPr/>
          </p:nvSpPr>
          <p:spPr>
            <a:xfrm flipH="false" flipV="false" rot="0">
              <a:off x="0" y="0"/>
              <a:ext cx="10607040" cy="457200"/>
            </a:xfrm>
            <a:custGeom>
              <a:avLst/>
              <a:gdLst/>
              <a:ahLst/>
              <a:cxnLst/>
              <a:rect r="r" b="b" t="t" l="l"/>
              <a:pathLst>
                <a:path h="457200" w="10607040">
                  <a:moveTo>
                    <a:pt x="0" y="0"/>
                  </a:moveTo>
                  <a:lnTo>
                    <a:pt x="10607040" y="0"/>
                  </a:lnTo>
                  <a:lnTo>
                    <a:pt x="10607040" y="457200"/>
                  </a:lnTo>
                  <a:lnTo>
                    <a:pt x="0" y="457200"/>
                  </a:lnTo>
                  <a:close/>
                </a:path>
              </a:pathLst>
            </a:custGeom>
            <a:blipFill>
              <a:blip r:embed="rId3">
                <a:alphaModFix amt="0"/>
              </a:blip>
              <a:stretch>
                <a:fillRect l="0" t="-402052" r="0" b="-402052"/>
              </a:stretch>
            </a:blipFill>
          </p:spPr>
        </p:sp>
        <p:sp>
          <p:nvSpPr>
            <p:cNvPr name="TextBox 33" id="33"/>
            <p:cNvSpPr txBox="true"/>
            <p:nvPr/>
          </p:nvSpPr>
          <p:spPr>
            <a:xfrm>
              <a:off x="0" y="-28575"/>
              <a:ext cx="10607040" cy="485775"/>
            </a:xfrm>
            <a:prstGeom prst="rect">
              <a:avLst/>
            </a:prstGeom>
          </p:spPr>
          <p:txBody>
            <a:bodyPr anchor="ctr" rtlCol="false" tIns="0" lIns="0" bIns="0" rIns="0"/>
            <a:lstStyle/>
            <a:p>
              <a:pPr algn="l">
                <a:lnSpc>
                  <a:spcPts val="1620"/>
                </a:lnSpc>
              </a:pPr>
              <a:r>
                <a:rPr lang="en-US" b="true" sz="1350" spc="450">
                  <a:solidFill>
                    <a:srgbClr val="6C757D"/>
                  </a:solidFill>
                  <a:latin typeface="Calibri (MS) Bold"/>
                  <a:ea typeface="Calibri (MS) Bold"/>
                  <a:cs typeface="Calibri (MS) Bold"/>
                  <a:sym typeface="Calibri (MS) Bold"/>
                </a:rPr>
                <a:t>TOP PET E-TAIL</a:t>
              </a:r>
            </a:p>
          </p:txBody>
        </p:sp>
      </p:grpSp>
      <p:grpSp>
        <p:nvGrpSpPr>
          <p:cNvPr name="Group 34" id="34"/>
          <p:cNvGrpSpPr/>
          <p:nvPr/>
        </p:nvGrpSpPr>
        <p:grpSpPr>
          <a:xfrm rot="0">
            <a:off x="685800" y="5843016"/>
            <a:ext cx="3154680" cy="617220"/>
            <a:chOff x="0" y="0"/>
            <a:chExt cx="4206240" cy="822960"/>
          </a:xfrm>
        </p:grpSpPr>
        <p:sp>
          <p:nvSpPr>
            <p:cNvPr name="Freeform 35" id="35"/>
            <p:cNvSpPr/>
            <p:nvPr/>
          </p:nvSpPr>
          <p:spPr>
            <a:xfrm flipH="false" flipV="false" rot="0">
              <a:off x="0" y="0"/>
              <a:ext cx="4206240" cy="822960"/>
            </a:xfrm>
            <a:custGeom>
              <a:avLst/>
              <a:gdLst/>
              <a:ahLst/>
              <a:cxnLst/>
              <a:rect r="r" b="b" t="t" l="l"/>
              <a:pathLst>
                <a:path h="822960" w="4206240">
                  <a:moveTo>
                    <a:pt x="0" y="0"/>
                  </a:moveTo>
                  <a:lnTo>
                    <a:pt x="4206240" y="0"/>
                  </a:lnTo>
                  <a:lnTo>
                    <a:pt x="4206240" y="822960"/>
                  </a:lnTo>
                  <a:lnTo>
                    <a:pt x="0" y="822960"/>
                  </a:lnTo>
                  <a:close/>
                </a:path>
              </a:pathLst>
            </a:custGeom>
            <a:blipFill>
              <a:blip r:embed="rId3">
                <a:alphaModFix amt="0"/>
              </a:blip>
              <a:stretch>
                <a:fillRect l="0" t="-49590" r="0" b="-49590"/>
              </a:stretch>
            </a:blipFill>
          </p:spPr>
        </p:sp>
        <p:sp>
          <p:nvSpPr>
            <p:cNvPr name="TextBox 36" id="36"/>
            <p:cNvSpPr txBox="true"/>
            <p:nvPr/>
          </p:nvSpPr>
          <p:spPr>
            <a:xfrm>
              <a:off x="0" y="-19050"/>
              <a:ext cx="4206240" cy="842010"/>
            </a:xfrm>
            <a:prstGeom prst="rect">
              <a:avLst/>
            </a:prstGeom>
          </p:spPr>
          <p:txBody>
            <a:bodyPr anchor="ctr" rtlCol="false" tIns="0" lIns="0" bIns="0" rIns="0"/>
            <a:lstStyle/>
            <a:p>
              <a:pPr algn="l">
                <a:lnSpc>
                  <a:spcPts val="3240"/>
                </a:lnSpc>
              </a:pPr>
              <a:r>
                <a:rPr lang="en-US" sz="2700" b="true">
                  <a:solidFill>
                    <a:srgbClr val="1A2E23"/>
                  </a:solidFill>
                  <a:latin typeface="Georgia Bold"/>
                  <a:ea typeface="Georgia Bold"/>
                  <a:cs typeface="Georgia Bold"/>
                  <a:sym typeface="Georgia Bold"/>
                </a:rPr>
                <a:t>zooplus.no</a:t>
              </a:r>
            </a:p>
          </p:txBody>
        </p:sp>
      </p:grpSp>
      <p:grpSp>
        <p:nvGrpSpPr>
          <p:cNvPr name="Group 37" id="37"/>
          <p:cNvGrpSpPr/>
          <p:nvPr/>
        </p:nvGrpSpPr>
        <p:grpSpPr>
          <a:xfrm rot="0">
            <a:off x="3909060" y="5884164"/>
            <a:ext cx="4663440" cy="754380"/>
            <a:chOff x="0" y="0"/>
            <a:chExt cx="6217920" cy="1005840"/>
          </a:xfrm>
        </p:grpSpPr>
        <p:sp>
          <p:nvSpPr>
            <p:cNvPr name="Freeform 38" id="38"/>
            <p:cNvSpPr/>
            <p:nvPr/>
          </p:nvSpPr>
          <p:spPr>
            <a:xfrm flipH="false" flipV="false" rot="0">
              <a:off x="0" y="0"/>
              <a:ext cx="6217920" cy="1005840"/>
            </a:xfrm>
            <a:custGeom>
              <a:avLst/>
              <a:gdLst/>
              <a:ahLst/>
              <a:cxnLst/>
              <a:rect r="r" b="b" t="t" l="l"/>
              <a:pathLst>
                <a:path h="1005840" w="6217920">
                  <a:moveTo>
                    <a:pt x="0" y="0"/>
                  </a:moveTo>
                  <a:lnTo>
                    <a:pt x="6217920" y="0"/>
                  </a:lnTo>
                  <a:lnTo>
                    <a:pt x="6217920" y="1005840"/>
                  </a:lnTo>
                  <a:lnTo>
                    <a:pt x="0" y="1005840"/>
                  </a:lnTo>
                  <a:close/>
                </a:path>
              </a:pathLst>
            </a:custGeom>
            <a:blipFill>
              <a:blip r:embed="rId3">
                <a:alphaModFix amt="0"/>
              </a:blip>
              <a:stretch>
                <a:fillRect l="0" t="-70452" r="0" b="-70452"/>
              </a:stretch>
            </a:blipFill>
          </p:spPr>
        </p:sp>
        <p:sp>
          <p:nvSpPr>
            <p:cNvPr name="TextBox 39" id="39"/>
            <p:cNvSpPr txBox="true"/>
            <p:nvPr/>
          </p:nvSpPr>
          <p:spPr>
            <a:xfrm>
              <a:off x="0" y="0"/>
              <a:ext cx="6217920" cy="1005840"/>
            </a:xfrm>
            <a:prstGeom prst="rect">
              <a:avLst/>
            </a:prstGeom>
          </p:spPr>
          <p:txBody>
            <a:bodyPr anchor="ctr" rtlCol="false" tIns="0" lIns="0" bIns="0" rIns="0"/>
            <a:lstStyle/>
            <a:p>
              <a:pPr algn="l">
                <a:lnSpc>
                  <a:spcPts val="1980"/>
                </a:lnSpc>
              </a:pPr>
              <a:r>
                <a:rPr lang="en-US" sz="1650" spc="-10">
                  <a:solidFill>
                    <a:srgbClr val="1A2E23"/>
                  </a:solidFill>
                  <a:latin typeface="TT Rounds Condensed"/>
                  <a:ea typeface="TT Rounds Condensed"/>
                  <a:cs typeface="TT Rounds Condensed"/>
                  <a:sym typeface="TT Rounds Condensed"/>
                </a:rPr>
                <a:t>then musti.no, buddy.no, dyrelege.no</a:t>
              </a:r>
            </a:p>
          </p:txBody>
        </p:sp>
      </p:grpSp>
      <p:grpSp>
        <p:nvGrpSpPr>
          <p:cNvPr name="Group 40" id="40"/>
          <p:cNvGrpSpPr/>
          <p:nvPr/>
        </p:nvGrpSpPr>
        <p:grpSpPr>
          <a:xfrm rot="0">
            <a:off x="685800" y="6803136"/>
            <a:ext cx="7955280" cy="342900"/>
            <a:chOff x="0" y="0"/>
            <a:chExt cx="10607040" cy="457200"/>
          </a:xfrm>
        </p:grpSpPr>
        <p:sp>
          <p:nvSpPr>
            <p:cNvPr name="Freeform 41" id="41"/>
            <p:cNvSpPr/>
            <p:nvPr/>
          </p:nvSpPr>
          <p:spPr>
            <a:xfrm flipH="false" flipV="false" rot="0">
              <a:off x="0" y="0"/>
              <a:ext cx="10607040" cy="457200"/>
            </a:xfrm>
            <a:custGeom>
              <a:avLst/>
              <a:gdLst/>
              <a:ahLst/>
              <a:cxnLst/>
              <a:rect r="r" b="b" t="t" l="l"/>
              <a:pathLst>
                <a:path h="457200" w="10607040">
                  <a:moveTo>
                    <a:pt x="0" y="0"/>
                  </a:moveTo>
                  <a:lnTo>
                    <a:pt x="10607040" y="0"/>
                  </a:lnTo>
                  <a:lnTo>
                    <a:pt x="10607040" y="457200"/>
                  </a:lnTo>
                  <a:lnTo>
                    <a:pt x="0" y="457200"/>
                  </a:lnTo>
                  <a:close/>
                </a:path>
              </a:pathLst>
            </a:custGeom>
            <a:blipFill>
              <a:blip r:embed="rId3">
                <a:alphaModFix amt="0"/>
              </a:blip>
              <a:stretch>
                <a:fillRect l="0" t="-402052" r="0" b="-402052"/>
              </a:stretch>
            </a:blipFill>
          </p:spPr>
        </p:sp>
        <p:sp>
          <p:nvSpPr>
            <p:cNvPr name="TextBox 42" id="42"/>
            <p:cNvSpPr txBox="true"/>
            <p:nvPr/>
          </p:nvSpPr>
          <p:spPr>
            <a:xfrm>
              <a:off x="0" y="-28575"/>
              <a:ext cx="10607040" cy="485775"/>
            </a:xfrm>
            <a:prstGeom prst="rect">
              <a:avLst/>
            </a:prstGeom>
          </p:spPr>
          <p:txBody>
            <a:bodyPr anchor="ctr" rtlCol="false" tIns="0" lIns="0" bIns="0" rIns="0"/>
            <a:lstStyle/>
            <a:p>
              <a:pPr algn="l">
                <a:lnSpc>
                  <a:spcPts val="1620"/>
                </a:lnSpc>
              </a:pPr>
              <a:r>
                <a:rPr lang="en-US" b="true" sz="1350" spc="450">
                  <a:solidFill>
                    <a:srgbClr val="6C757D"/>
                  </a:solidFill>
                  <a:latin typeface="Calibri (MS) Bold"/>
                  <a:ea typeface="Calibri (MS) Bold"/>
                  <a:cs typeface="Calibri (MS) Bold"/>
                  <a:sym typeface="Calibri (MS) Bold"/>
                </a:rPr>
                <a:t>COMPETITOR DENSITY</a:t>
              </a:r>
            </a:p>
          </p:txBody>
        </p:sp>
      </p:grpSp>
      <p:grpSp>
        <p:nvGrpSpPr>
          <p:cNvPr name="Group 43" id="43"/>
          <p:cNvGrpSpPr/>
          <p:nvPr/>
        </p:nvGrpSpPr>
        <p:grpSpPr>
          <a:xfrm rot="0">
            <a:off x="685800" y="7104888"/>
            <a:ext cx="3154680" cy="617220"/>
            <a:chOff x="0" y="0"/>
            <a:chExt cx="4206240" cy="822960"/>
          </a:xfrm>
        </p:grpSpPr>
        <p:sp>
          <p:nvSpPr>
            <p:cNvPr name="Freeform 44" id="44"/>
            <p:cNvSpPr/>
            <p:nvPr/>
          </p:nvSpPr>
          <p:spPr>
            <a:xfrm flipH="false" flipV="false" rot="0">
              <a:off x="0" y="0"/>
              <a:ext cx="4206240" cy="822960"/>
            </a:xfrm>
            <a:custGeom>
              <a:avLst/>
              <a:gdLst/>
              <a:ahLst/>
              <a:cxnLst/>
              <a:rect r="r" b="b" t="t" l="l"/>
              <a:pathLst>
                <a:path h="822960" w="4206240">
                  <a:moveTo>
                    <a:pt x="0" y="0"/>
                  </a:moveTo>
                  <a:lnTo>
                    <a:pt x="4206240" y="0"/>
                  </a:lnTo>
                  <a:lnTo>
                    <a:pt x="4206240" y="822960"/>
                  </a:lnTo>
                  <a:lnTo>
                    <a:pt x="0" y="822960"/>
                  </a:lnTo>
                  <a:close/>
                </a:path>
              </a:pathLst>
            </a:custGeom>
            <a:blipFill>
              <a:blip r:embed="rId3">
                <a:alphaModFix amt="0"/>
              </a:blip>
              <a:stretch>
                <a:fillRect l="0" t="-49590" r="0" b="-49590"/>
              </a:stretch>
            </a:blipFill>
          </p:spPr>
        </p:sp>
        <p:sp>
          <p:nvSpPr>
            <p:cNvPr name="TextBox 45" id="45"/>
            <p:cNvSpPr txBox="true"/>
            <p:nvPr/>
          </p:nvSpPr>
          <p:spPr>
            <a:xfrm>
              <a:off x="0" y="-19050"/>
              <a:ext cx="4206240" cy="842010"/>
            </a:xfrm>
            <a:prstGeom prst="rect">
              <a:avLst/>
            </a:prstGeom>
          </p:spPr>
          <p:txBody>
            <a:bodyPr anchor="ctr" rtlCol="false" tIns="0" lIns="0" bIns="0" rIns="0"/>
            <a:lstStyle/>
            <a:p>
              <a:pPr algn="l">
                <a:lnSpc>
                  <a:spcPts val="3240"/>
                </a:lnSpc>
              </a:pPr>
              <a:r>
                <a:rPr lang="en-US" sz="2700" b="true">
                  <a:solidFill>
                    <a:srgbClr val="1A2E23"/>
                  </a:solidFill>
                  <a:latin typeface="Georgia Bold"/>
                  <a:ea typeface="Georgia Bold"/>
                  <a:cs typeface="Georgia Bold"/>
                  <a:sym typeface="Georgia Bold"/>
                </a:rPr>
                <a:t>Low–Medium</a:t>
              </a:r>
            </a:p>
          </p:txBody>
        </p:sp>
      </p:grpSp>
      <p:grpSp>
        <p:nvGrpSpPr>
          <p:cNvPr name="Group 46" id="46"/>
          <p:cNvGrpSpPr/>
          <p:nvPr/>
        </p:nvGrpSpPr>
        <p:grpSpPr>
          <a:xfrm rot="0">
            <a:off x="3909060" y="7146036"/>
            <a:ext cx="4663440" cy="754380"/>
            <a:chOff x="0" y="0"/>
            <a:chExt cx="6217920" cy="1005840"/>
          </a:xfrm>
        </p:grpSpPr>
        <p:sp>
          <p:nvSpPr>
            <p:cNvPr name="Freeform 47" id="47"/>
            <p:cNvSpPr/>
            <p:nvPr/>
          </p:nvSpPr>
          <p:spPr>
            <a:xfrm flipH="false" flipV="false" rot="0">
              <a:off x="0" y="0"/>
              <a:ext cx="6217920" cy="1005840"/>
            </a:xfrm>
            <a:custGeom>
              <a:avLst/>
              <a:gdLst/>
              <a:ahLst/>
              <a:cxnLst/>
              <a:rect r="r" b="b" t="t" l="l"/>
              <a:pathLst>
                <a:path h="1005840" w="6217920">
                  <a:moveTo>
                    <a:pt x="0" y="0"/>
                  </a:moveTo>
                  <a:lnTo>
                    <a:pt x="6217920" y="0"/>
                  </a:lnTo>
                  <a:lnTo>
                    <a:pt x="6217920" y="1005840"/>
                  </a:lnTo>
                  <a:lnTo>
                    <a:pt x="0" y="1005840"/>
                  </a:lnTo>
                  <a:close/>
                </a:path>
              </a:pathLst>
            </a:custGeom>
            <a:blipFill>
              <a:blip r:embed="rId3">
                <a:alphaModFix amt="0"/>
              </a:blip>
              <a:stretch>
                <a:fillRect l="0" t="-70452" r="0" b="-70452"/>
              </a:stretch>
            </a:blipFill>
          </p:spPr>
        </p:sp>
        <p:sp>
          <p:nvSpPr>
            <p:cNvPr name="TextBox 48" id="48"/>
            <p:cNvSpPr txBox="true"/>
            <p:nvPr/>
          </p:nvSpPr>
          <p:spPr>
            <a:xfrm>
              <a:off x="0" y="0"/>
              <a:ext cx="6217920" cy="1005840"/>
            </a:xfrm>
            <a:prstGeom prst="rect">
              <a:avLst/>
            </a:prstGeom>
          </p:spPr>
          <p:txBody>
            <a:bodyPr anchor="ctr" rtlCol="false" tIns="0" lIns="0" bIns="0" rIns="0"/>
            <a:lstStyle/>
            <a:p>
              <a:pPr algn="l">
                <a:lnSpc>
                  <a:spcPts val="1980"/>
                </a:lnSpc>
              </a:pPr>
              <a:r>
                <a:rPr lang="en-US" sz="1650" spc="-10">
                  <a:solidFill>
                    <a:srgbClr val="1A2E23"/>
                  </a:solidFill>
                  <a:latin typeface="TT Rounds Condensed"/>
                  <a:ea typeface="TT Rounds Condensed"/>
                  <a:cs typeface="TT Rounds Condensed"/>
                  <a:sym typeface="TT Rounds Condensed"/>
                </a:rPr>
                <a:t>Plaque Off, DentaLife present; natural powder = white space</a:t>
              </a:r>
            </a:p>
          </p:txBody>
        </p:sp>
      </p:grpSp>
      <p:grpSp>
        <p:nvGrpSpPr>
          <p:cNvPr name="Group 49" id="49"/>
          <p:cNvGrpSpPr/>
          <p:nvPr/>
        </p:nvGrpSpPr>
        <p:grpSpPr>
          <a:xfrm rot="0">
            <a:off x="9601200" y="2194560"/>
            <a:ext cx="617220" cy="617220"/>
            <a:chOff x="0" y="0"/>
            <a:chExt cx="822960" cy="822960"/>
          </a:xfrm>
        </p:grpSpPr>
        <p:sp>
          <p:nvSpPr>
            <p:cNvPr name="Freeform 50" id="50" descr="preencoded.png"/>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lnTo>
                    <a:pt x="0" y="0"/>
                  </a:lnTo>
                  <a:close/>
                </a:path>
              </a:pathLst>
            </a:custGeom>
            <a:blipFill>
              <a:blip r:embed="rId5"/>
              <a:stretch>
                <a:fillRect l="0" t="0" r="0" b="0"/>
              </a:stretch>
            </a:blipFill>
          </p:spPr>
        </p:sp>
      </p:grpSp>
      <p:grpSp>
        <p:nvGrpSpPr>
          <p:cNvPr name="Group 51" id="51"/>
          <p:cNvGrpSpPr/>
          <p:nvPr/>
        </p:nvGrpSpPr>
        <p:grpSpPr>
          <a:xfrm rot="0">
            <a:off x="10355580" y="2263140"/>
            <a:ext cx="8229600" cy="548640"/>
            <a:chOff x="0" y="0"/>
            <a:chExt cx="10972800" cy="731520"/>
          </a:xfrm>
        </p:grpSpPr>
        <p:sp>
          <p:nvSpPr>
            <p:cNvPr name="Freeform 52" id="52"/>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53" id="53"/>
            <p:cNvSpPr txBox="true"/>
            <p:nvPr/>
          </p:nvSpPr>
          <p:spPr>
            <a:xfrm>
              <a:off x="0" y="-19050"/>
              <a:ext cx="10972800" cy="750570"/>
            </a:xfrm>
            <a:prstGeom prst="rect">
              <a:avLst/>
            </a:prstGeom>
          </p:spPr>
          <p:txBody>
            <a:bodyPr anchor="ctr" rtlCol="false" tIns="0" lIns="0" bIns="0" rIns="0"/>
            <a:lstStyle/>
            <a:p>
              <a:pPr algn="l">
                <a:lnSpc>
                  <a:spcPts val="3240"/>
                </a:lnSpc>
              </a:pPr>
              <a:r>
                <a:rPr lang="en-US" sz="2700" b="true">
                  <a:solidFill>
                    <a:srgbClr val="1A2E23"/>
                  </a:solidFill>
                  <a:latin typeface="Georgia Bold"/>
                  <a:ea typeface="Georgia Bold"/>
                  <a:cs typeface="Georgia Bold"/>
                  <a:sym typeface="Georgia Bold"/>
                </a:rPr>
                <a:t>Unit economics (NO vs NL baseline)</a:t>
              </a:r>
            </a:p>
          </p:txBody>
        </p:sp>
      </p:grpSp>
      <p:grpSp>
        <p:nvGrpSpPr>
          <p:cNvPr name="Group 54" id="54"/>
          <p:cNvGrpSpPr/>
          <p:nvPr/>
        </p:nvGrpSpPr>
        <p:grpSpPr>
          <a:xfrm rot="0">
            <a:off x="9591675" y="3076575"/>
            <a:ext cx="3996690" cy="2145030"/>
            <a:chOff x="0" y="0"/>
            <a:chExt cx="5328920" cy="2860040"/>
          </a:xfrm>
        </p:grpSpPr>
        <p:sp>
          <p:nvSpPr>
            <p:cNvPr name="Freeform 55" id="55"/>
            <p:cNvSpPr/>
            <p:nvPr/>
          </p:nvSpPr>
          <p:spPr>
            <a:xfrm flipH="false" flipV="false" rot="0">
              <a:off x="12700" y="12700"/>
              <a:ext cx="5303520" cy="2834640"/>
            </a:xfrm>
            <a:custGeom>
              <a:avLst/>
              <a:gdLst/>
              <a:ahLst/>
              <a:cxnLst/>
              <a:rect r="r" b="b" t="t" l="l"/>
              <a:pathLst>
                <a:path h="2834640" w="5303520">
                  <a:moveTo>
                    <a:pt x="0" y="0"/>
                  </a:moveTo>
                  <a:lnTo>
                    <a:pt x="5303520" y="0"/>
                  </a:lnTo>
                  <a:lnTo>
                    <a:pt x="5303520" y="2834640"/>
                  </a:lnTo>
                  <a:lnTo>
                    <a:pt x="0" y="2834640"/>
                  </a:lnTo>
                  <a:close/>
                </a:path>
              </a:pathLst>
            </a:custGeom>
            <a:solidFill>
              <a:srgbClr val="F8F9FA"/>
            </a:solidFill>
          </p:spPr>
        </p:sp>
        <p:sp>
          <p:nvSpPr>
            <p:cNvPr name="Freeform 56" id="56"/>
            <p:cNvSpPr/>
            <p:nvPr/>
          </p:nvSpPr>
          <p:spPr>
            <a:xfrm flipH="false" flipV="false" rot="0">
              <a:off x="0" y="0"/>
              <a:ext cx="5328920" cy="2860040"/>
            </a:xfrm>
            <a:custGeom>
              <a:avLst/>
              <a:gdLst/>
              <a:ahLst/>
              <a:cxnLst/>
              <a:rect r="r" b="b" t="t" l="l"/>
              <a:pathLst>
                <a:path h="2860040" w="5328920">
                  <a:moveTo>
                    <a:pt x="12700" y="0"/>
                  </a:moveTo>
                  <a:lnTo>
                    <a:pt x="5316220" y="0"/>
                  </a:lnTo>
                  <a:cubicBezTo>
                    <a:pt x="5323205" y="0"/>
                    <a:pt x="5328920" y="5715"/>
                    <a:pt x="5328920" y="12700"/>
                  </a:cubicBezTo>
                  <a:lnTo>
                    <a:pt x="5328920" y="2847340"/>
                  </a:lnTo>
                  <a:cubicBezTo>
                    <a:pt x="5328920" y="2854325"/>
                    <a:pt x="5323205" y="2860040"/>
                    <a:pt x="5316220" y="2860040"/>
                  </a:cubicBezTo>
                  <a:lnTo>
                    <a:pt x="12700" y="2860040"/>
                  </a:lnTo>
                  <a:cubicBezTo>
                    <a:pt x="5715" y="2860040"/>
                    <a:pt x="0" y="2854325"/>
                    <a:pt x="0" y="2847340"/>
                  </a:cubicBezTo>
                  <a:lnTo>
                    <a:pt x="0" y="12700"/>
                  </a:lnTo>
                  <a:cubicBezTo>
                    <a:pt x="0" y="5715"/>
                    <a:pt x="5715" y="0"/>
                    <a:pt x="12700" y="0"/>
                  </a:cubicBezTo>
                  <a:moveTo>
                    <a:pt x="12700" y="25400"/>
                  </a:moveTo>
                  <a:lnTo>
                    <a:pt x="12700" y="12700"/>
                  </a:lnTo>
                  <a:lnTo>
                    <a:pt x="25400" y="12700"/>
                  </a:lnTo>
                  <a:lnTo>
                    <a:pt x="25400" y="2847340"/>
                  </a:lnTo>
                  <a:lnTo>
                    <a:pt x="12700" y="2847340"/>
                  </a:lnTo>
                  <a:lnTo>
                    <a:pt x="12700" y="2834640"/>
                  </a:lnTo>
                  <a:lnTo>
                    <a:pt x="5316220" y="2834640"/>
                  </a:lnTo>
                  <a:lnTo>
                    <a:pt x="5316220" y="2847340"/>
                  </a:lnTo>
                  <a:lnTo>
                    <a:pt x="5303520" y="2847340"/>
                  </a:lnTo>
                  <a:lnTo>
                    <a:pt x="5303520" y="12700"/>
                  </a:lnTo>
                  <a:lnTo>
                    <a:pt x="5316220" y="12700"/>
                  </a:lnTo>
                  <a:lnTo>
                    <a:pt x="5316220" y="25400"/>
                  </a:lnTo>
                  <a:lnTo>
                    <a:pt x="12700" y="25400"/>
                  </a:lnTo>
                  <a:close/>
                </a:path>
              </a:pathLst>
            </a:custGeom>
            <a:solidFill>
              <a:srgbClr val="E9ECEF"/>
            </a:solidFill>
          </p:spPr>
        </p:sp>
      </p:grpSp>
      <p:grpSp>
        <p:nvGrpSpPr>
          <p:cNvPr name="Group 57" id="57"/>
          <p:cNvGrpSpPr/>
          <p:nvPr/>
        </p:nvGrpSpPr>
        <p:grpSpPr>
          <a:xfrm rot="0">
            <a:off x="9875520" y="3223260"/>
            <a:ext cx="3429000" cy="411480"/>
            <a:chOff x="0" y="0"/>
            <a:chExt cx="4572000" cy="548640"/>
          </a:xfrm>
        </p:grpSpPr>
        <p:sp>
          <p:nvSpPr>
            <p:cNvPr name="Freeform 58" id="58"/>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59" id="59"/>
            <p:cNvSpPr txBox="true"/>
            <p:nvPr/>
          </p:nvSpPr>
          <p:spPr>
            <a:xfrm>
              <a:off x="0" y="-28575"/>
              <a:ext cx="4572000" cy="577215"/>
            </a:xfrm>
            <a:prstGeom prst="rect">
              <a:avLst/>
            </a:prstGeom>
          </p:spPr>
          <p:txBody>
            <a:bodyPr anchor="ctr" rtlCol="false" tIns="0" lIns="0" bIns="0" rIns="0"/>
            <a:lstStyle/>
            <a:p>
              <a:pPr algn="l">
                <a:lnSpc>
                  <a:spcPts val="1980"/>
                </a:lnSpc>
              </a:pPr>
              <a:r>
                <a:rPr lang="en-US" b="true" sz="1650" spc="300">
                  <a:solidFill>
                    <a:srgbClr val="6C757D"/>
                  </a:solidFill>
                  <a:latin typeface="Calibri (MS) Bold"/>
                  <a:ea typeface="Calibri (MS) Bold"/>
                  <a:cs typeface="Calibri (MS) Bold"/>
                  <a:sym typeface="Calibri (MS) Bold"/>
                </a:rPr>
                <a:t>CPC</a:t>
              </a:r>
            </a:p>
          </p:txBody>
        </p:sp>
      </p:grpSp>
      <p:grpSp>
        <p:nvGrpSpPr>
          <p:cNvPr name="Group 60" id="60"/>
          <p:cNvGrpSpPr/>
          <p:nvPr/>
        </p:nvGrpSpPr>
        <p:grpSpPr>
          <a:xfrm rot="0">
            <a:off x="9875520" y="3634740"/>
            <a:ext cx="3429000" cy="685800"/>
            <a:chOff x="0" y="0"/>
            <a:chExt cx="4572000" cy="914400"/>
          </a:xfrm>
        </p:grpSpPr>
        <p:sp>
          <p:nvSpPr>
            <p:cNvPr name="Freeform 61" id="61"/>
            <p:cNvSpPr/>
            <p:nvPr/>
          </p:nvSpPr>
          <p:spPr>
            <a:xfrm flipH="false" flipV="false" rot="0">
              <a:off x="0" y="0"/>
              <a:ext cx="4572000" cy="914400"/>
            </a:xfrm>
            <a:custGeom>
              <a:avLst/>
              <a:gdLst/>
              <a:ahLst/>
              <a:cxnLst/>
              <a:rect r="r" b="b" t="t" l="l"/>
              <a:pathLst>
                <a:path h="914400" w="4572000">
                  <a:moveTo>
                    <a:pt x="0" y="0"/>
                  </a:moveTo>
                  <a:lnTo>
                    <a:pt x="4572000" y="0"/>
                  </a:lnTo>
                  <a:lnTo>
                    <a:pt x="4572000" y="914400"/>
                  </a:lnTo>
                  <a:lnTo>
                    <a:pt x="0" y="914400"/>
                  </a:lnTo>
                  <a:close/>
                </a:path>
              </a:pathLst>
            </a:custGeom>
            <a:blipFill>
              <a:blip r:embed="rId3">
                <a:alphaModFix amt="0"/>
              </a:blip>
              <a:stretch>
                <a:fillRect l="0" t="-47425" r="0" b="-47425"/>
              </a:stretch>
            </a:blipFill>
          </p:spPr>
        </p:sp>
        <p:sp>
          <p:nvSpPr>
            <p:cNvPr name="TextBox 62" id="62"/>
            <p:cNvSpPr txBox="true"/>
            <p:nvPr/>
          </p:nvSpPr>
          <p:spPr>
            <a:xfrm>
              <a:off x="0" y="-9525"/>
              <a:ext cx="4572000" cy="923925"/>
            </a:xfrm>
            <a:prstGeom prst="rect">
              <a:avLst/>
            </a:prstGeom>
          </p:spPr>
          <p:txBody>
            <a:bodyPr anchor="ctr" rtlCol="false" tIns="0" lIns="0" bIns="0" rIns="0"/>
            <a:lstStyle/>
            <a:p>
              <a:pPr algn="l">
                <a:lnSpc>
                  <a:spcPts val="4320"/>
                </a:lnSpc>
              </a:pPr>
              <a:r>
                <a:rPr lang="en-US" sz="3600" b="true">
                  <a:solidFill>
                    <a:srgbClr val="1A2E23"/>
                  </a:solidFill>
                  <a:latin typeface="Georgia Bold"/>
                  <a:ea typeface="Georgia Bold"/>
                  <a:cs typeface="Georgia Bold"/>
                  <a:sym typeface="Georgia Bold"/>
                </a:rPr>
                <a:t>€1.45</a:t>
              </a:r>
            </a:p>
          </p:txBody>
        </p:sp>
      </p:grpSp>
      <p:grpSp>
        <p:nvGrpSpPr>
          <p:cNvPr name="Group 63" id="63"/>
          <p:cNvGrpSpPr/>
          <p:nvPr/>
        </p:nvGrpSpPr>
        <p:grpSpPr>
          <a:xfrm rot="0">
            <a:off x="9875520" y="4389120"/>
            <a:ext cx="3429000" cy="342900"/>
            <a:chOff x="0" y="0"/>
            <a:chExt cx="4572000" cy="457200"/>
          </a:xfrm>
        </p:grpSpPr>
        <p:sp>
          <p:nvSpPr>
            <p:cNvPr name="Freeform 64" id="64"/>
            <p:cNvSpPr/>
            <p:nvPr/>
          </p:nvSpPr>
          <p:spPr>
            <a:xfrm flipH="false" flipV="false" rot="0">
              <a:off x="0" y="0"/>
              <a:ext cx="4572000" cy="457200"/>
            </a:xfrm>
            <a:custGeom>
              <a:avLst/>
              <a:gdLst/>
              <a:ahLst/>
              <a:cxnLst/>
              <a:rect r="r" b="b" t="t" l="l"/>
              <a:pathLst>
                <a:path h="457200" w="4572000">
                  <a:moveTo>
                    <a:pt x="0" y="0"/>
                  </a:moveTo>
                  <a:lnTo>
                    <a:pt x="4572000" y="0"/>
                  </a:lnTo>
                  <a:lnTo>
                    <a:pt x="4572000" y="457200"/>
                  </a:lnTo>
                  <a:lnTo>
                    <a:pt x="0" y="457200"/>
                  </a:lnTo>
                  <a:close/>
                </a:path>
              </a:pathLst>
            </a:custGeom>
            <a:blipFill>
              <a:blip r:embed="rId3">
                <a:alphaModFix amt="0"/>
              </a:blip>
              <a:stretch>
                <a:fillRect l="0" t="-144850" r="0" b="-144850"/>
              </a:stretch>
            </a:blipFill>
          </p:spPr>
        </p:sp>
        <p:sp>
          <p:nvSpPr>
            <p:cNvPr name="TextBox 65" id="65"/>
            <p:cNvSpPr txBox="true"/>
            <p:nvPr/>
          </p:nvSpPr>
          <p:spPr>
            <a:xfrm>
              <a:off x="0" y="-28575"/>
              <a:ext cx="4572000" cy="485775"/>
            </a:xfrm>
            <a:prstGeom prst="rect">
              <a:avLst/>
            </a:prstGeom>
          </p:spPr>
          <p:txBody>
            <a:bodyPr anchor="ctr" rtlCol="false" tIns="0" lIns="0" bIns="0" rIns="0"/>
            <a:lstStyle/>
            <a:p>
              <a:pPr algn="l">
                <a:lnSpc>
                  <a:spcPts val="1980"/>
                </a:lnSpc>
              </a:pPr>
              <a:r>
                <a:rPr lang="en-US" sz="1650">
                  <a:solidFill>
                    <a:srgbClr val="6C757D"/>
                  </a:solidFill>
                  <a:latin typeface="Calibri (MS)"/>
                  <a:ea typeface="Calibri (MS)"/>
                  <a:cs typeface="Calibri (MS)"/>
                  <a:sym typeface="Calibri (MS)"/>
                </a:rPr>
                <a:t>NL €1.22</a:t>
              </a:r>
              <a:r>
                <a:rPr lang="en-US" sz="1650" b="true">
                  <a:solidFill>
                    <a:srgbClr val="E76F51"/>
                  </a:solidFill>
                  <a:latin typeface="Calibri (MS) Bold"/>
                  <a:ea typeface="Calibri (MS) Bold"/>
                  <a:cs typeface="Calibri (MS) Bold"/>
                  <a:sym typeface="Calibri (MS) Bold"/>
                </a:rPr>
                <a:t>   +20%</a:t>
              </a:r>
            </a:p>
          </p:txBody>
        </p:sp>
      </p:grpSp>
      <p:grpSp>
        <p:nvGrpSpPr>
          <p:cNvPr name="Group 66" id="66"/>
          <p:cNvGrpSpPr/>
          <p:nvPr/>
        </p:nvGrpSpPr>
        <p:grpSpPr>
          <a:xfrm rot="0">
            <a:off x="9875520" y="4732020"/>
            <a:ext cx="3429000" cy="411480"/>
            <a:chOff x="0" y="0"/>
            <a:chExt cx="4572000" cy="548640"/>
          </a:xfrm>
        </p:grpSpPr>
        <p:sp>
          <p:nvSpPr>
            <p:cNvPr name="Freeform 67" id="67"/>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68" id="68"/>
            <p:cNvSpPr txBox="true"/>
            <p:nvPr/>
          </p:nvSpPr>
          <p:spPr>
            <a:xfrm>
              <a:off x="0" y="-9525"/>
              <a:ext cx="4572000" cy="558165"/>
            </a:xfrm>
            <a:prstGeom prst="rect">
              <a:avLst/>
            </a:prstGeom>
          </p:spPr>
          <p:txBody>
            <a:bodyPr anchor="ctr" rtlCol="false" tIns="0" lIns="0" bIns="0" rIns="0"/>
            <a:lstStyle/>
            <a:p>
              <a:pPr algn="l">
                <a:lnSpc>
                  <a:spcPts val="1800"/>
                </a:lnSpc>
              </a:pPr>
              <a:r>
                <a:rPr lang="en-US" sz="1500" i="true" spc="-9">
                  <a:solidFill>
                    <a:srgbClr val="1A2E23"/>
                  </a:solidFill>
                  <a:latin typeface="TT Rounds Condensed Italics"/>
                  <a:ea typeface="TT Rounds Condensed Italics"/>
                  <a:cs typeface="TT Rounds Condensed Italics"/>
                  <a:sym typeface="TT Rounds Condensed Italics"/>
                </a:rPr>
                <a:t>Cold market, Nordic auction density</a:t>
              </a:r>
            </a:p>
          </p:txBody>
        </p:sp>
      </p:grpSp>
      <p:grpSp>
        <p:nvGrpSpPr>
          <p:cNvPr name="Group 69" id="69"/>
          <p:cNvGrpSpPr/>
          <p:nvPr/>
        </p:nvGrpSpPr>
        <p:grpSpPr>
          <a:xfrm rot="0">
            <a:off x="13843635" y="3076575"/>
            <a:ext cx="3996690" cy="2145030"/>
            <a:chOff x="0" y="0"/>
            <a:chExt cx="5328920" cy="2860040"/>
          </a:xfrm>
        </p:grpSpPr>
        <p:sp>
          <p:nvSpPr>
            <p:cNvPr name="Freeform 70" id="70"/>
            <p:cNvSpPr/>
            <p:nvPr/>
          </p:nvSpPr>
          <p:spPr>
            <a:xfrm flipH="false" flipV="false" rot="0">
              <a:off x="12700" y="12700"/>
              <a:ext cx="5303520" cy="2834640"/>
            </a:xfrm>
            <a:custGeom>
              <a:avLst/>
              <a:gdLst/>
              <a:ahLst/>
              <a:cxnLst/>
              <a:rect r="r" b="b" t="t" l="l"/>
              <a:pathLst>
                <a:path h="2834640" w="5303520">
                  <a:moveTo>
                    <a:pt x="0" y="0"/>
                  </a:moveTo>
                  <a:lnTo>
                    <a:pt x="5303520" y="0"/>
                  </a:lnTo>
                  <a:lnTo>
                    <a:pt x="5303520" y="2834640"/>
                  </a:lnTo>
                  <a:lnTo>
                    <a:pt x="0" y="2834640"/>
                  </a:lnTo>
                  <a:close/>
                </a:path>
              </a:pathLst>
            </a:custGeom>
            <a:solidFill>
              <a:srgbClr val="F8F9FA"/>
            </a:solidFill>
          </p:spPr>
        </p:sp>
        <p:sp>
          <p:nvSpPr>
            <p:cNvPr name="Freeform 71" id="71"/>
            <p:cNvSpPr/>
            <p:nvPr/>
          </p:nvSpPr>
          <p:spPr>
            <a:xfrm flipH="false" flipV="false" rot="0">
              <a:off x="0" y="0"/>
              <a:ext cx="5328920" cy="2860040"/>
            </a:xfrm>
            <a:custGeom>
              <a:avLst/>
              <a:gdLst/>
              <a:ahLst/>
              <a:cxnLst/>
              <a:rect r="r" b="b" t="t" l="l"/>
              <a:pathLst>
                <a:path h="2860040" w="5328920">
                  <a:moveTo>
                    <a:pt x="12700" y="0"/>
                  </a:moveTo>
                  <a:lnTo>
                    <a:pt x="5316220" y="0"/>
                  </a:lnTo>
                  <a:cubicBezTo>
                    <a:pt x="5323205" y="0"/>
                    <a:pt x="5328920" y="5715"/>
                    <a:pt x="5328920" y="12700"/>
                  </a:cubicBezTo>
                  <a:lnTo>
                    <a:pt x="5328920" y="2847340"/>
                  </a:lnTo>
                  <a:cubicBezTo>
                    <a:pt x="5328920" y="2854325"/>
                    <a:pt x="5323205" y="2860040"/>
                    <a:pt x="5316220" y="2860040"/>
                  </a:cubicBezTo>
                  <a:lnTo>
                    <a:pt x="12700" y="2860040"/>
                  </a:lnTo>
                  <a:cubicBezTo>
                    <a:pt x="5715" y="2860040"/>
                    <a:pt x="0" y="2854325"/>
                    <a:pt x="0" y="2847340"/>
                  </a:cubicBezTo>
                  <a:lnTo>
                    <a:pt x="0" y="12700"/>
                  </a:lnTo>
                  <a:cubicBezTo>
                    <a:pt x="0" y="5715"/>
                    <a:pt x="5715" y="0"/>
                    <a:pt x="12700" y="0"/>
                  </a:cubicBezTo>
                  <a:moveTo>
                    <a:pt x="12700" y="25400"/>
                  </a:moveTo>
                  <a:lnTo>
                    <a:pt x="12700" y="12700"/>
                  </a:lnTo>
                  <a:lnTo>
                    <a:pt x="25400" y="12700"/>
                  </a:lnTo>
                  <a:lnTo>
                    <a:pt x="25400" y="2847340"/>
                  </a:lnTo>
                  <a:lnTo>
                    <a:pt x="12700" y="2847340"/>
                  </a:lnTo>
                  <a:lnTo>
                    <a:pt x="12700" y="2834640"/>
                  </a:lnTo>
                  <a:lnTo>
                    <a:pt x="5316220" y="2834640"/>
                  </a:lnTo>
                  <a:lnTo>
                    <a:pt x="5316220" y="2847340"/>
                  </a:lnTo>
                  <a:lnTo>
                    <a:pt x="5303520" y="2847340"/>
                  </a:lnTo>
                  <a:lnTo>
                    <a:pt x="5303520" y="12700"/>
                  </a:lnTo>
                  <a:lnTo>
                    <a:pt x="5316220" y="12700"/>
                  </a:lnTo>
                  <a:lnTo>
                    <a:pt x="5316220" y="25400"/>
                  </a:lnTo>
                  <a:lnTo>
                    <a:pt x="12700" y="25400"/>
                  </a:lnTo>
                  <a:close/>
                </a:path>
              </a:pathLst>
            </a:custGeom>
            <a:solidFill>
              <a:srgbClr val="E9ECEF"/>
            </a:solidFill>
          </p:spPr>
        </p:sp>
      </p:grpSp>
      <p:grpSp>
        <p:nvGrpSpPr>
          <p:cNvPr name="Group 72" id="72"/>
          <p:cNvGrpSpPr/>
          <p:nvPr/>
        </p:nvGrpSpPr>
        <p:grpSpPr>
          <a:xfrm rot="0">
            <a:off x="14127480" y="3223260"/>
            <a:ext cx="3429000" cy="411480"/>
            <a:chOff x="0" y="0"/>
            <a:chExt cx="4572000" cy="548640"/>
          </a:xfrm>
        </p:grpSpPr>
        <p:sp>
          <p:nvSpPr>
            <p:cNvPr name="Freeform 73" id="73"/>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74" id="74"/>
            <p:cNvSpPr txBox="true"/>
            <p:nvPr/>
          </p:nvSpPr>
          <p:spPr>
            <a:xfrm>
              <a:off x="0" y="-28575"/>
              <a:ext cx="4572000" cy="577215"/>
            </a:xfrm>
            <a:prstGeom prst="rect">
              <a:avLst/>
            </a:prstGeom>
          </p:spPr>
          <p:txBody>
            <a:bodyPr anchor="ctr" rtlCol="false" tIns="0" lIns="0" bIns="0" rIns="0"/>
            <a:lstStyle/>
            <a:p>
              <a:pPr algn="l">
                <a:lnSpc>
                  <a:spcPts val="1980"/>
                </a:lnSpc>
              </a:pPr>
              <a:r>
                <a:rPr lang="en-US" b="true" sz="1650" spc="300">
                  <a:solidFill>
                    <a:srgbClr val="6C757D"/>
                  </a:solidFill>
                  <a:latin typeface="Calibri (MS) Bold"/>
                  <a:ea typeface="Calibri (MS) Bold"/>
                  <a:cs typeface="Calibri (MS) Bold"/>
                  <a:sym typeface="Calibri (MS) Bold"/>
                </a:rPr>
                <a:t>CVR</a:t>
              </a:r>
            </a:p>
          </p:txBody>
        </p:sp>
      </p:grpSp>
      <p:grpSp>
        <p:nvGrpSpPr>
          <p:cNvPr name="Group 75" id="75"/>
          <p:cNvGrpSpPr/>
          <p:nvPr/>
        </p:nvGrpSpPr>
        <p:grpSpPr>
          <a:xfrm rot="0">
            <a:off x="14127480" y="3634740"/>
            <a:ext cx="3429000" cy="685800"/>
            <a:chOff x="0" y="0"/>
            <a:chExt cx="4572000" cy="914400"/>
          </a:xfrm>
        </p:grpSpPr>
        <p:sp>
          <p:nvSpPr>
            <p:cNvPr name="Freeform 76" id="76"/>
            <p:cNvSpPr/>
            <p:nvPr/>
          </p:nvSpPr>
          <p:spPr>
            <a:xfrm flipH="false" flipV="false" rot="0">
              <a:off x="0" y="0"/>
              <a:ext cx="4572000" cy="914400"/>
            </a:xfrm>
            <a:custGeom>
              <a:avLst/>
              <a:gdLst/>
              <a:ahLst/>
              <a:cxnLst/>
              <a:rect r="r" b="b" t="t" l="l"/>
              <a:pathLst>
                <a:path h="914400" w="4572000">
                  <a:moveTo>
                    <a:pt x="0" y="0"/>
                  </a:moveTo>
                  <a:lnTo>
                    <a:pt x="4572000" y="0"/>
                  </a:lnTo>
                  <a:lnTo>
                    <a:pt x="4572000" y="914400"/>
                  </a:lnTo>
                  <a:lnTo>
                    <a:pt x="0" y="914400"/>
                  </a:lnTo>
                  <a:close/>
                </a:path>
              </a:pathLst>
            </a:custGeom>
            <a:blipFill>
              <a:blip r:embed="rId3">
                <a:alphaModFix amt="0"/>
              </a:blip>
              <a:stretch>
                <a:fillRect l="0" t="-47425" r="0" b="-47425"/>
              </a:stretch>
            </a:blipFill>
          </p:spPr>
        </p:sp>
        <p:sp>
          <p:nvSpPr>
            <p:cNvPr name="TextBox 77" id="77"/>
            <p:cNvSpPr txBox="true"/>
            <p:nvPr/>
          </p:nvSpPr>
          <p:spPr>
            <a:xfrm>
              <a:off x="0" y="-9525"/>
              <a:ext cx="4572000" cy="923925"/>
            </a:xfrm>
            <a:prstGeom prst="rect">
              <a:avLst/>
            </a:prstGeom>
          </p:spPr>
          <p:txBody>
            <a:bodyPr anchor="ctr" rtlCol="false" tIns="0" lIns="0" bIns="0" rIns="0"/>
            <a:lstStyle/>
            <a:p>
              <a:pPr algn="l">
                <a:lnSpc>
                  <a:spcPts val="4320"/>
                </a:lnSpc>
              </a:pPr>
              <a:r>
                <a:rPr lang="en-US" sz="3600" b="true">
                  <a:solidFill>
                    <a:srgbClr val="1A2E23"/>
                  </a:solidFill>
                  <a:latin typeface="Georgia Bold"/>
                  <a:ea typeface="Georgia Bold"/>
                  <a:cs typeface="Georgia Bold"/>
                  <a:sym typeface="Georgia Bold"/>
                </a:rPr>
                <a:t>4.20%</a:t>
              </a:r>
            </a:p>
          </p:txBody>
        </p:sp>
      </p:grpSp>
      <p:grpSp>
        <p:nvGrpSpPr>
          <p:cNvPr name="Group 78" id="78"/>
          <p:cNvGrpSpPr/>
          <p:nvPr/>
        </p:nvGrpSpPr>
        <p:grpSpPr>
          <a:xfrm rot="0">
            <a:off x="14127480" y="4389120"/>
            <a:ext cx="3429000" cy="342900"/>
            <a:chOff x="0" y="0"/>
            <a:chExt cx="4572000" cy="457200"/>
          </a:xfrm>
        </p:grpSpPr>
        <p:sp>
          <p:nvSpPr>
            <p:cNvPr name="Freeform 79" id="79"/>
            <p:cNvSpPr/>
            <p:nvPr/>
          </p:nvSpPr>
          <p:spPr>
            <a:xfrm flipH="false" flipV="false" rot="0">
              <a:off x="0" y="0"/>
              <a:ext cx="4572000" cy="457200"/>
            </a:xfrm>
            <a:custGeom>
              <a:avLst/>
              <a:gdLst/>
              <a:ahLst/>
              <a:cxnLst/>
              <a:rect r="r" b="b" t="t" l="l"/>
              <a:pathLst>
                <a:path h="457200" w="4572000">
                  <a:moveTo>
                    <a:pt x="0" y="0"/>
                  </a:moveTo>
                  <a:lnTo>
                    <a:pt x="4572000" y="0"/>
                  </a:lnTo>
                  <a:lnTo>
                    <a:pt x="4572000" y="457200"/>
                  </a:lnTo>
                  <a:lnTo>
                    <a:pt x="0" y="457200"/>
                  </a:lnTo>
                  <a:close/>
                </a:path>
              </a:pathLst>
            </a:custGeom>
            <a:blipFill>
              <a:blip r:embed="rId3">
                <a:alphaModFix amt="0"/>
              </a:blip>
              <a:stretch>
                <a:fillRect l="0" t="-144850" r="0" b="-144850"/>
              </a:stretch>
            </a:blipFill>
          </p:spPr>
        </p:sp>
        <p:sp>
          <p:nvSpPr>
            <p:cNvPr name="TextBox 80" id="80"/>
            <p:cNvSpPr txBox="true"/>
            <p:nvPr/>
          </p:nvSpPr>
          <p:spPr>
            <a:xfrm>
              <a:off x="0" y="-28575"/>
              <a:ext cx="4572000" cy="485775"/>
            </a:xfrm>
            <a:prstGeom prst="rect">
              <a:avLst/>
            </a:prstGeom>
          </p:spPr>
          <p:txBody>
            <a:bodyPr anchor="ctr" rtlCol="false" tIns="0" lIns="0" bIns="0" rIns="0"/>
            <a:lstStyle/>
            <a:p>
              <a:pPr algn="l">
                <a:lnSpc>
                  <a:spcPts val="1980"/>
                </a:lnSpc>
              </a:pPr>
              <a:r>
                <a:rPr lang="en-US" sz="1650">
                  <a:solidFill>
                    <a:srgbClr val="6C757D"/>
                  </a:solidFill>
                  <a:latin typeface="Calibri (MS)"/>
                  <a:ea typeface="Calibri (MS)"/>
                  <a:cs typeface="Calibri (MS)"/>
                  <a:sym typeface="Calibri (MS)"/>
                </a:rPr>
                <a:t>NL 5.66%</a:t>
              </a:r>
              <a:r>
                <a:rPr lang="en-US" sz="1650" b="true">
                  <a:solidFill>
                    <a:srgbClr val="E76F51"/>
                  </a:solidFill>
                  <a:latin typeface="Calibri (MS) Bold"/>
                  <a:ea typeface="Calibri (MS) Bold"/>
                  <a:cs typeface="Calibri (MS) Bold"/>
                  <a:sym typeface="Calibri (MS) Bold"/>
                </a:rPr>
                <a:t>   −25%</a:t>
              </a:r>
            </a:p>
          </p:txBody>
        </p:sp>
      </p:grpSp>
      <p:grpSp>
        <p:nvGrpSpPr>
          <p:cNvPr name="Group 81" id="81"/>
          <p:cNvGrpSpPr/>
          <p:nvPr/>
        </p:nvGrpSpPr>
        <p:grpSpPr>
          <a:xfrm rot="0">
            <a:off x="14127480" y="4732020"/>
            <a:ext cx="3429000" cy="411480"/>
            <a:chOff x="0" y="0"/>
            <a:chExt cx="4572000" cy="548640"/>
          </a:xfrm>
        </p:grpSpPr>
        <p:sp>
          <p:nvSpPr>
            <p:cNvPr name="Freeform 82" id="82"/>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83" id="83"/>
            <p:cNvSpPr txBox="true"/>
            <p:nvPr/>
          </p:nvSpPr>
          <p:spPr>
            <a:xfrm>
              <a:off x="0" y="-9525"/>
              <a:ext cx="4572000" cy="558165"/>
            </a:xfrm>
            <a:prstGeom prst="rect">
              <a:avLst/>
            </a:prstGeom>
          </p:spPr>
          <p:txBody>
            <a:bodyPr anchor="ctr" rtlCol="false" tIns="0" lIns="0" bIns="0" rIns="0"/>
            <a:lstStyle/>
            <a:p>
              <a:pPr algn="l">
                <a:lnSpc>
                  <a:spcPts val="1800"/>
                </a:lnSpc>
              </a:pPr>
              <a:r>
                <a:rPr lang="en-US" sz="1500" i="true" spc="-9">
                  <a:solidFill>
                    <a:srgbClr val="1A2E23"/>
                  </a:solidFill>
                  <a:latin typeface="TT Rounds Condensed Italics"/>
                  <a:ea typeface="TT Rounds Condensed Italics"/>
                  <a:cs typeface="TT Rounds Condensed Italics"/>
                  <a:sym typeface="TT Rounds Condensed Italics"/>
                </a:rPr>
                <a:t>No brand trust yet; improves W3-4</a:t>
              </a:r>
            </a:p>
          </p:txBody>
        </p:sp>
      </p:grpSp>
      <p:grpSp>
        <p:nvGrpSpPr>
          <p:cNvPr name="Group 84" id="84"/>
          <p:cNvGrpSpPr/>
          <p:nvPr/>
        </p:nvGrpSpPr>
        <p:grpSpPr>
          <a:xfrm rot="0">
            <a:off x="9591675" y="5476875"/>
            <a:ext cx="3996690" cy="2145030"/>
            <a:chOff x="0" y="0"/>
            <a:chExt cx="5328920" cy="2860040"/>
          </a:xfrm>
        </p:grpSpPr>
        <p:sp>
          <p:nvSpPr>
            <p:cNvPr name="Freeform 85" id="85"/>
            <p:cNvSpPr/>
            <p:nvPr/>
          </p:nvSpPr>
          <p:spPr>
            <a:xfrm flipH="false" flipV="false" rot="0">
              <a:off x="12700" y="12700"/>
              <a:ext cx="5303520" cy="2834640"/>
            </a:xfrm>
            <a:custGeom>
              <a:avLst/>
              <a:gdLst/>
              <a:ahLst/>
              <a:cxnLst/>
              <a:rect r="r" b="b" t="t" l="l"/>
              <a:pathLst>
                <a:path h="2834640" w="5303520">
                  <a:moveTo>
                    <a:pt x="0" y="0"/>
                  </a:moveTo>
                  <a:lnTo>
                    <a:pt x="5303520" y="0"/>
                  </a:lnTo>
                  <a:lnTo>
                    <a:pt x="5303520" y="2834640"/>
                  </a:lnTo>
                  <a:lnTo>
                    <a:pt x="0" y="2834640"/>
                  </a:lnTo>
                  <a:close/>
                </a:path>
              </a:pathLst>
            </a:custGeom>
            <a:solidFill>
              <a:srgbClr val="F8F9FA"/>
            </a:solidFill>
          </p:spPr>
        </p:sp>
        <p:sp>
          <p:nvSpPr>
            <p:cNvPr name="Freeform 86" id="86"/>
            <p:cNvSpPr/>
            <p:nvPr/>
          </p:nvSpPr>
          <p:spPr>
            <a:xfrm flipH="false" flipV="false" rot="0">
              <a:off x="0" y="0"/>
              <a:ext cx="5328920" cy="2860040"/>
            </a:xfrm>
            <a:custGeom>
              <a:avLst/>
              <a:gdLst/>
              <a:ahLst/>
              <a:cxnLst/>
              <a:rect r="r" b="b" t="t" l="l"/>
              <a:pathLst>
                <a:path h="2860040" w="5328920">
                  <a:moveTo>
                    <a:pt x="12700" y="0"/>
                  </a:moveTo>
                  <a:lnTo>
                    <a:pt x="5316220" y="0"/>
                  </a:lnTo>
                  <a:cubicBezTo>
                    <a:pt x="5323205" y="0"/>
                    <a:pt x="5328920" y="5715"/>
                    <a:pt x="5328920" y="12700"/>
                  </a:cubicBezTo>
                  <a:lnTo>
                    <a:pt x="5328920" y="2847340"/>
                  </a:lnTo>
                  <a:cubicBezTo>
                    <a:pt x="5328920" y="2854325"/>
                    <a:pt x="5323205" y="2860040"/>
                    <a:pt x="5316220" y="2860040"/>
                  </a:cubicBezTo>
                  <a:lnTo>
                    <a:pt x="12700" y="2860040"/>
                  </a:lnTo>
                  <a:cubicBezTo>
                    <a:pt x="5715" y="2860040"/>
                    <a:pt x="0" y="2854325"/>
                    <a:pt x="0" y="2847340"/>
                  </a:cubicBezTo>
                  <a:lnTo>
                    <a:pt x="0" y="12700"/>
                  </a:lnTo>
                  <a:cubicBezTo>
                    <a:pt x="0" y="5715"/>
                    <a:pt x="5715" y="0"/>
                    <a:pt x="12700" y="0"/>
                  </a:cubicBezTo>
                  <a:moveTo>
                    <a:pt x="12700" y="25400"/>
                  </a:moveTo>
                  <a:lnTo>
                    <a:pt x="12700" y="12700"/>
                  </a:lnTo>
                  <a:lnTo>
                    <a:pt x="25400" y="12700"/>
                  </a:lnTo>
                  <a:lnTo>
                    <a:pt x="25400" y="2847340"/>
                  </a:lnTo>
                  <a:lnTo>
                    <a:pt x="12700" y="2847340"/>
                  </a:lnTo>
                  <a:lnTo>
                    <a:pt x="12700" y="2834640"/>
                  </a:lnTo>
                  <a:lnTo>
                    <a:pt x="5316220" y="2834640"/>
                  </a:lnTo>
                  <a:lnTo>
                    <a:pt x="5316220" y="2847340"/>
                  </a:lnTo>
                  <a:lnTo>
                    <a:pt x="5303520" y="2847340"/>
                  </a:lnTo>
                  <a:lnTo>
                    <a:pt x="5303520" y="12700"/>
                  </a:lnTo>
                  <a:lnTo>
                    <a:pt x="5316220" y="12700"/>
                  </a:lnTo>
                  <a:lnTo>
                    <a:pt x="5316220" y="25400"/>
                  </a:lnTo>
                  <a:lnTo>
                    <a:pt x="12700" y="25400"/>
                  </a:lnTo>
                  <a:close/>
                </a:path>
              </a:pathLst>
            </a:custGeom>
            <a:solidFill>
              <a:srgbClr val="E9ECEF"/>
            </a:solidFill>
          </p:spPr>
        </p:sp>
      </p:grpSp>
      <p:grpSp>
        <p:nvGrpSpPr>
          <p:cNvPr name="Group 87" id="87"/>
          <p:cNvGrpSpPr/>
          <p:nvPr/>
        </p:nvGrpSpPr>
        <p:grpSpPr>
          <a:xfrm rot="0">
            <a:off x="9875520" y="5623560"/>
            <a:ext cx="3429000" cy="411480"/>
            <a:chOff x="0" y="0"/>
            <a:chExt cx="4572000" cy="548640"/>
          </a:xfrm>
        </p:grpSpPr>
        <p:sp>
          <p:nvSpPr>
            <p:cNvPr name="Freeform 88" id="88"/>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89" id="89"/>
            <p:cNvSpPr txBox="true"/>
            <p:nvPr/>
          </p:nvSpPr>
          <p:spPr>
            <a:xfrm>
              <a:off x="0" y="-28575"/>
              <a:ext cx="4572000" cy="577215"/>
            </a:xfrm>
            <a:prstGeom prst="rect">
              <a:avLst/>
            </a:prstGeom>
          </p:spPr>
          <p:txBody>
            <a:bodyPr anchor="ctr" rtlCol="false" tIns="0" lIns="0" bIns="0" rIns="0"/>
            <a:lstStyle/>
            <a:p>
              <a:pPr algn="l">
                <a:lnSpc>
                  <a:spcPts val="1980"/>
                </a:lnSpc>
              </a:pPr>
              <a:r>
                <a:rPr lang="en-US" b="true" sz="1650" spc="300">
                  <a:solidFill>
                    <a:srgbClr val="6C757D"/>
                  </a:solidFill>
                  <a:latin typeface="Calibri (MS) Bold"/>
                  <a:ea typeface="Calibri (MS) Bold"/>
                  <a:cs typeface="Calibri (MS) Bold"/>
                  <a:sym typeface="Calibri (MS) Bold"/>
                </a:rPr>
                <a:t>AOV</a:t>
              </a:r>
            </a:p>
          </p:txBody>
        </p:sp>
      </p:grpSp>
      <p:grpSp>
        <p:nvGrpSpPr>
          <p:cNvPr name="Group 90" id="90"/>
          <p:cNvGrpSpPr/>
          <p:nvPr/>
        </p:nvGrpSpPr>
        <p:grpSpPr>
          <a:xfrm rot="0">
            <a:off x="9875520" y="6035040"/>
            <a:ext cx="3429000" cy="685800"/>
            <a:chOff x="0" y="0"/>
            <a:chExt cx="4572000" cy="914400"/>
          </a:xfrm>
        </p:grpSpPr>
        <p:sp>
          <p:nvSpPr>
            <p:cNvPr name="Freeform 91" id="91"/>
            <p:cNvSpPr/>
            <p:nvPr/>
          </p:nvSpPr>
          <p:spPr>
            <a:xfrm flipH="false" flipV="false" rot="0">
              <a:off x="0" y="0"/>
              <a:ext cx="4572000" cy="914400"/>
            </a:xfrm>
            <a:custGeom>
              <a:avLst/>
              <a:gdLst/>
              <a:ahLst/>
              <a:cxnLst/>
              <a:rect r="r" b="b" t="t" l="l"/>
              <a:pathLst>
                <a:path h="914400" w="4572000">
                  <a:moveTo>
                    <a:pt x="0" y="0"/>
                  </a:moveTo>
                  <a:lnTo>
                    <a:pt x="4572000" y="0"/>
                  </a:lnTo>
                  <a:lnTo>
                    <a:pt x="4572000" y="914400"/>
                  </a:lnTo>
                  <a:lnTo>
                    <a:pt x="0" y="914400"/>
                  </a:lnTo>
                  <a:close/>
                </a:path>
              </a:pathLst>
            </a:custGeom>
            <a:blipFill>
              <a:blip r:embed="rId3">
                <a:alphaModFix amt="0"/>
              </a:blip>
              <a:stretch>
                <a:fillRect l="0" t="-47425" r="0" b="-47425"/>
              </a:stretch>
            </a:blipFill>
          </p:spPr>
        </p:sp>
        <p:sp>
          <p:nvSpPr>
            <p:cNvPr name="TextBox 92" id="92"/>
            <p:cNvSpPr txBox="true"/>
            <p:nvPr/>
          </p:nvSpPr>
          <p:spPr>
            <a:xfrm>
              <a:off x="0" y="-9525"/>
              <a:ext cx="4572000" cy="923925"/>
            </a:xfrm>
            <a:prstGeom prst="rect">
              <a:avLst/>
            </a:prstGeom>
          </p:spPr>
          <p:txBody>
            <a:bodyPr anchor="ctr" rtlCol="false" tIns="0" lIns="0" bIns="0" rIns="0"/>
            <a:lstStyle/>
            <a:p>
              <a:pPr algn="l">
                <a:lnSpc>
                  <a:spcPts val="4320"/>
                </a:lnSpc>
              </a:pPr>
              <a:r>
                <a:rPr lang="en-US" sz="3600" b="true">
                  <a:solidFill>
                    <a:srgbClr val="1A2E23"/>
                  </a:solidFill>
                  <a:latin typeface="Georgia Bold"/>
                  <a:ea typeface="Georgia Bold"/>
                  <a:cs typeface="Georgia Bold"/>
                  <a:sym typeface="Georgia Bold"/>
                </a:rPr>
                <a:t>€62.00</a:t>
              </a:r>
            </a:p>
          </p:txBody>
        </p:sp>
      </p:grpSp>
      <p:grpSp>
        <p:nvGrpSpPr>
          <p:cNvPr name="Group 93" id="93"/>
          <p:cNvGrpSpPr/>
          <p:nvPr/>
        </p:nvGrpSpPr>
        <p:grpSpPr>
          <a:xfrm rot="0">
            <a:off x="9875520" y="6789420"/>
            <a:ext cx="3429000" cy="342900"/>
            <a:chOff x="0" y="0"/>
            <a:chExt cx="4572000" cy="457200"/>
          </a:xfrm>
        </p:grpSpPr>
        <p:sp>
          <p:nvSpPr>
            <p:cNvPr name="Freeform 94" id="94"/>
            <p:cNvSpPr/>
            <p:nvPr/>
          </p:nvSpPr>
          <p:spPr>
            <a:xfrm flipH="false" flipV="false" rot="0">
              <a:off x="0" y="0"/>
              <a:ext cx="4572000" cy="457200"/>
            </a:xfrm>
            <a:custGeom>
              <a:avLst/>
              <a:gdLst/>
              <a:ahLst/>
              <a:cxnLst/>
              <a:rect r="r" b="b" t="t" l="l"/>
              <a:pathLst>
                <a:path h="457200" w="4572000">
                  <a:moveTo>
                    <a:pt x="0" y="0"/>
                  </a:moveTo>
                  <a:lnTo>
                    <a:pt x="4572000" y="0"/>
                  </a:lnTo>
                  <a:lnTo>
                    <a:pt x="4572000" y="457200"/>
                  </a:lnTo>
                  <a:lnTo>
                    <a:pt x="0" y="457200"/>
                  </a:lnTo>
                  <a:close/>
                </a:path>
              </a:pathLst>
            </a:custGeom>
            <a:blipFill>
              <a:blip r:embed="rId3">
                <a:alphaModFix amt="0"/>
              </a:blip>
              <a:stretch>
                <a:fillRect l="0" t="-144850" r="0" b="-144850"/>
              </a:stretch>
            </a:blipFill>
          </p:spPr>
        </p:sp>
        <p:sp>
          <p:nvSpPr>
            <p:cNvPr name="TextBox 95" id="95"/>
            <p:cNvSpPr txBox="true"/>
            <p:nvPr/>
          </p:nvSpPr>
          <p:spPr>
            <a:xfrm>
              <a:off x="0" y="-28575"/>
              <a:ext cx="4572000" cy="485775"/>
            </a:xfrm>
            <a:prstGeom prst="rect">
              <a:avLst/>
            </a:prstGeom>
          </p:spPr>
          <p:txBody>
            <a:bodyPr anchor="ctr" rtlCol="false" tIns="0" lIns="0" bIns="0" rIns="0"/>
            <a:lstStyle/>
            <a:p>
              <a:pPr algn="l">
                <a:lnSpc>
                  <a:spcPts val="1980"/>
                </a:lnSpc>
              </a:pPr>
              <a:r>
                <a:rPr lang="en-US" sz="1650">
                  <a:solidFill>
                    <a:srgbClr val="6C757D"/>
                  </a:solidFill>
                  <a:latin typeface="Calibri (MS)"/>
                  <a:ea typeface="Calibri (MS)"/>
                  <a:cs typeface="Calibri (MS)"/>
                  <a:sym typeface="Calibri (MS)"/>
                </a:rPr>
                <a:t>NL €58.83</a:t>
              </a:r>
              <a:r>
                <a:rPr lang="en-US" sz="1650" b="true">
                  <a:solidFill>
                    <a:srgbClr val="E76F51"/>
                  </a:solidFill>
                  <a:latin typeface="Calibri (MS) Bold"/>
                  <a:ea typeface="Calibri (MS) Bold"/>
                  <a:cs typeface="Calibri (MS) Bold"/>
                  <a:sym typeface="Calibri (MS) Bold"/>
                </a:rPr>
                <a:t>   +5%</a:t>
              </a:r>
            </a:p>
          </p:txBody>
        </p:sp>
      </p:grpSp>
      <p:grpSp>
        <p:nvGrpSpPr>
          <p:cNvPr name="Group 96" id="96"/>
          <p:cNvGrpSpPr/>
          <p:nvPr/>
        </p:nvGrpSpPr>
        <p:grpSpPr>
          <a:xfrm rot="0">
            <a:off x="9875520" y="7132320"/>
            <a:ext cx="3429000" cy="411480"/>
            <a:chOff x="0" y="0"/>
            <a:chExt cx="4572000" cy="548640"/>
          </a:xfrm>
        </p:grpSpPr>
        <p:sp>
          <p:nvSpPr>
            <p:cNvPr name="Freeform 97" id="97"/>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98" id="98"/>
            <p:cNvSpPr txBox="true"/>
            <p:nvPr/>
          </p:nvSpPr>
          <p:spPr>
            <a:xfrm>
              <a:off x="0" y="-9525"/>
              <a:ext cx="4572000" cy="558165"/>
            </a:xfrm>
            <a:prstGeom prst="rect">
              <a:avLst/>
            </a:prstGeom>
          </p:spPr>
          <p:txBody>
            <a:bodyPr anchor="ctr" rtlCol="false" tIns="0" lIns="0" bIns="0" rIns="0"/>
            <a:lstStyle/>
            <a:p>
              <a:pPr algn="l">
                <a:lnSpc>
                  <a:spcPts val="1800"/>
                </a:lnSpc>
              </a:pPr>
              <a:r>
                <a:rPr lang="en-US" sz="1500" i="true" spc="-9">
                  <a:solidFill>
                    <a:srgbClr val="1A2E23"/>
                  </a:solidFill>
                  <a:latin typeface="TT Rounds Condensed Italics"/>
                  <a:ea typeface="TT Rounds Condensed Italics"/>
                  <a:cs typeface="TT Rounds Condensed Italics"/>
                  <a:sym typeface="TT Rounds Condensed Italics"/>
                </a:rPr>
                <a:t>Nordic price index uplift</a:t>
              </a:r>
            </a:p>
          </p:txBody>
        </p:sp>
      </p:grpSp>
      <p:grpSp>
        <p:nvGrpSpPr>
          <p:cNvPr name="Group 99" id="99"/>
          <p:cNvGrpSpPr/>
          <p:nvPr/>
        </p:nvGrpSpPr>
        <p:grpSpPr>
          <a:xfrm rot="0">
            <a:off x="13843635" y="5476875"/>
            <a:ext cx="3996690" cy="2145030"/>
            <a:chOff x="0" y="0"/>
            <a:chExt cx="5328920" cy="2860040"/>
          </a:xfrm>
        </p:grpSpPr>
        <p:sp>
          <p:nvSpPr>
            <p:cNvPr name="Freeform 100" id="100"/>
            <p:cNvSpPr/>
            <p:nvPr/>
          </p:nvSpPr>
          <p:spPr>
            <a:xfrm flipH="false" flipV="false" rot="0">
              <a:off x="12700" y="12700"/>
              <a:ext cx="5303520" cy="2834640"/>
            </a:xfrm>
            <a:custGeom>
              <a:avLst/>
              <a:gdLst/>
              <a:ahLst/>
              <a:cxnLst/>
              <a:rect r="r" b="b" t="t" l="l"/>
              <a:pathLst>
                <a:path h="2834640" w="5303520">
                  <a:moveTo>
                    <a:pt x="0" y="0"/>
                  </a:moveTo>
                  <a:lnTo>
                    <a:pt x="5303520" y="0"/>
                  </a:lnTo>
                  <a:lnTo>
                    <a:pt x="5303520" y="2834640"/>
                  </a:lnTo>
                  <a:lnTo>
                    <a:pt x="0" y="2834640"/>
                  </a:lnTo>
                  <a:close/>
                </a:path>
              </a:pathLst>
            </a:custGeom>
            <a:solidFill>
              <a:srgbClr val="F8F9FA"/>
            </a:solidFill>
          </p:spPr>
        </p:sp>
        <p:sp>
          <p:nvSpPr>
            <p:cNvPr name="Freeform 101" id="101"/>
            <p:cNvSpPr/>
            <p:nvPr/>
          </p:nvSpPr>
          <p:spPr>
            <a:xfrm flipH="false" flipV="false" rot="0">
              <a:off x="0" y="0"/>
              <a:ext cx="5328920" cy="2860040"/>
            </a:xfrm>
            <a:custGeom>
              <a:avLst/>
              <a:gdLst/>
              <a:ahLst/>
              <a:cxnLst/>
              <a:rect r="r" b="b" t="t" l="l"/>
              <a:pathLst>
                <a:path h="2860040" w="5328920">
                  <a:moveTo>
                    <a:pt x="12700" y="0"/>
                  </a:moveTo>
                  <a:lnTo>
                    <a:pt x="5316220" y="0"/>
                  </a:lnTo>
                  <a:cubicBezTo>
                    <a:pt x="5323205" y="0"/>
                    <a:pt x="5328920" y="5715"/>
                    <a:pt x="5328920" y="12700"/>
                  </a:cubicBezTo>
                  <a:lnTo>
                    <a:pt x="5328920" y="2847340"/>
                  </a:lnTo>
                  <a:cubicBezTo>
                    <a:pt x="5328920" y="2854325"/>
                    <a:pt x="5323205" y="2860040"/>
                    <a:pt x="5316220" y="2860040"/>
                  </a:cubicBezTo>
                  <a:lnTo>
                    <a:pt x="12700" y="2860040"/>
                  </a:lnTo>
                  <a:cubicBezTo>
                    <a:pt x="5715" y="2860040"/>
                    <a:pt x="0" y="2854325"/>
                    <a:pt x="0" y="2847340"/>
                  </a:cubicBezTo>
                  <a:lnTo>
                    <a:pt x="0" y="12700"/>
                  </a:lnTo>
                  <a:cubicBezTo>
                    <a:pt x="0" y="5715"/>
                    <a:pt x="5715" y="0"/>
                    <a:pt x="12700" y="0"/>
                  </a:cubicBezTo>
                  <a:moveTo>
                    <a:pt x="12700" y="25400"/>
                  </a:moveTo>
                  <a:lnTo>
                    <a:pt x="12700" y="12700"/>
                  </a:lnTo>
                  <a:lnTo>
                    <a:pt x="25400" y="12700"/>
                  </a:lnTo>
                  <a:lnTo>
                    <a:pt x="25400" y="2847340"/>
                  </a:lnTo>
                  <a:lnTo>
                    <a:pt x="12700" y="2847340"/>
                  </a:lnTo>
                  <a:lnTo>
                    <a:pt x="12700" y="2834640"/>
                  </a:lnTo>
                  <a:lnTo>
                    <a:pt x="5316220" y="2834640"/>
                  </a:lnTo>
                  <a:lnTo>
                    <a:pt x="5316220" y="2847340"/>
                  </a:lnTo>
                  <a:lnTo>
                    <a:pt x="5303520" y="2847340"/>
                  </a:lnTo>
                  <a:lnTo>
                    <a:pt x="5303520" y="12700"/>
                  </a:lnTo>
                  <a:lnTo>
                    <a:pt x="5316220" y="12700"/>
                  </a:lnTo>
                  <a:lnTo>
                    <a:pt x="5316220" y="25400"/>
                  </a:lnTo>
                  <a:lnTo>
                    <a:pt x="12700" y="25400"/>
                  </a:lnTo>
                  <a:close/>
                </a:path>
              </a:pathLst>
            </a:custGeom>
            <a:solidFill>
              <a:srgbClr val="E9ECEF"/>
            </a:solidFill>
          </p:spPr>
        </p:sp>
      </p:grpSp>
      <p:grpSp>
        <p:nvGrpSpPr>
          <p:cNvPr name="Group 102" id="102"/>
          <p:cNvGrpSpPr/>
          <p:nvPr/>
        </p:nvGrpSpPr>
        <p:grpSpPr>
          <a:xfrm rot="0">
            <a:off x="14127480" y="5623560"/>
            <a:ext cx="3429000" cy="411480"/>
            <a:chOff x="0" y="0"/>
            <a:chExt cx="4572000" cy="548640"/>
          </a:xfrm>
        </p:grpSpPr>
        <p:sp>
          <p:nvSpPr>
            <p:cNvPr name="Freeform 103" id="103"/>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104" id="104"/>
            <p:cNvSpPr txBox="true"/>
            <p:nvPr/>
          </p:nvSpPr>
          <p:spPr>
            <a:xfrm>
              <a:off x="0" y="-28575"/>
              <a:ext cx="4572000" cy="577215"/>
            </a:xfrm>
            <a:prstGeom prst="rect">
              <a:avLst/>
            </a:prstGeom>
          </p:spPr>
          <p:txBody>
            <a:bodyPr anchor="ctr" rtlCol="false" tIns="0" lIns="0" bIns="0" rIns="0"/>
            <a:lstStyle/>
            <a:p>
              <a:pPr algn="l">
                <a:lnSpc>
                  <a:spcPts val="1980"/>
                </a:lnSpc>
              </a:pPr>
              <a:r>
                <a:rPr lang="en-US" b="true" sz="1650" spc="300">
                  <a:solidFill>
                    <a:srgbClr val="6C757D"/>
                  </a:solidFill>
                  <a:latin typeface="Calibri (MS) Bold"/>
                  <a:ea typeface="Calibri (MS) Bold"/>
                  <a:cs typeface="Calibri (MS) Bold"/>
                  <a:sym typeface="Calibri (MS) Bold"/>
                </a:rPr>
                <a:t>Target ROAS</a:t>
              </a:r>
            </a:p>
          </p:txBody>
        </p:sp>
      </p:grpSp>
      <p:grpSp>
        <p:nvGrpSpPr>
          <p:cNvPr name="Group 105" id="105"/>
          <p:cNvGrpSpPr/>
          <p:nvPr/>
        </p:nvGrpSpPr>
        <p:grpSpPr>
          <a:xfrm rot="0">
            <a:off x="14127480" y="6035040"/>
            <a:ext cx="3429000" cy="685800"/>
            <a:chOff x="0" y="0"/>
            <a:chExt cx="4572000" cy="914400"/>
          </a:xfrm>
        </p:grpSpPr>
        <p:sp>
          <p:nvSpPr>
            <p:cNvPr name="Freeform 106" id="106"/>
            <p:cNvSpPr/>
            <p:nvPr/>
          </p:nvSpPr>
          <p:spPr>
            <a:xfrm flipH="false" flipV="false" rot="0">
              <a:off x="0" y="0"/>
              <a:ext cx="4572000" cy="914400"/>
            </a:xfrm>
            <a:custGeom>
              <a:avLst/>
              <a:gdLst/>
              <a:ahLst/>
              <a:cxnLst/>
              <a:rect r="r" b="b" t="t" l="l"/>
              <a:pathLst>
                <a:path h="914400" w="4572000">
                  <a:moveTo>
                    <a:pt x="0" y="0"/>
                  </a:moveTo>
                  <a:lnTo>
                    <a:pt x="4572000" y="0"/>
                  </a:lnTo>
                  <a:lnTo>
                    <a:pt x="4572000" y="914400"/>
                  </a:lnTo>
                  <a:lnTo>
                    <a:pt x="0" y="914400"/>
                  </a:lnTo>
                  <a:close/>
                </a:path>
              </a:pathLst>
            </a:custGeom>
            <a:blipFill>
              <a:blip r:embed="rId3">
                <a:alphaModFix amt="0"/>
              </a:blip>
              <a:stretch>
                <a:fillRect l="0" t="-47425" r="0" b="-47425"/>
              </a:stretch>
            </a:blipFill>
          </p:spPr>
        </p:sp>
        <p:sp>
          <p:nvSpPr>
            <p:cNvPr name="TextBox 107" id="107"/>
            <p:cNvSpPr txBox="true"/>
            <p:nvPr/>
          </p:nvSpPr>
          <p:spPr>
            <a:xfrm>
              <a:off x="0" y="-9525"/>
              <a:ext cx="4572000" cy="923925"/>
            </a:xfrm>
            <a:prstGeom prst="rect">
              <a:avLst/>
            </a:prstGeom>
          </p:spPr>
          <p:txBody>
            <a:bodyPr anchor="ctr" rtlCol="false" tIns="0" lIns="0" bIns="0" rIns="0"/>
            <a:lstStyle/>
            <a:p>
              <a:pPr algn="l">
                <a:lnSpc>
                  <a:spcPts val="4320"/>
                </a:lnSpc>
              </a:pPr>
              <a:r>
                <a:rPr lang="en-US" sz="3600" b="true">
                  <a:solidFill>
                    <a:srgbClr val="1A2E23"/>
                  </a:solidFill>
                  <a:latin typeface="Georgia Bold"/>
                  <a:ea typeface="Georgia Bold"/>
                  <a:cs typeface="Georgia Bold"/>
                  <a:sym typeface="Georgia Bold"/>
                </a:rPr>
                <a:t>1.50×</a:t>
              </a:r>
            </a:p>
          </p:txBody>
        </p:sp>
      </p:grpSp>
      <p:grpSp>
        <p:nvGrpSpPr>
          <p:cNvPr name="Group 108" id="108"/>
          <p:cNvGrpSpPr/>
          <p:nvPr/>
        </p:nvGrpSpPr>
        <p:grpSpPr>
          <a:xfrm rot="0">
            <a:off x="14127480" y="6789420"/>
            <a:ext cx="3429000" cy="342900"/>
            <a:chOff x="0" y="0"/>
            <a:chExt cx="4572000" cy="457200"/>
          </a:xfrm>
        </p:grpSpPr>
        <p:sp>
          <p:nvSpPr>
            <p:cNvPr name="Freeform 109" id="109"/>
            <p:cNvSpPr/>
            <p:nvPr/>
          </p:nvSpPr>
          <p:spPr>
            <a:xfrm flipH="false" flipV="false" rot="0">
              <a:off x="0" y="0"/>
              <a:ext cx="4572000" cy="457200"/>
            </a:xfrm>
            <a:custGeom>
              <a:avLst/>
              <a:gdLst/>
              <a:ahLst/>
              <a:cxnLst/>
              <a:rect r="r" b="b" t="t" l="l"/>
              <a:pathLst>
                <a:path h="457200" w="4572000">
                  <a:moveTo>
                    <a:pt x="0" y="0"/>
                  </a:moveTo>
                  <a:lnTo>
                    <a:pt x="4572000" y="0"/>
                  </a:lnTo>
                  <a:lnTo>
                    <a:pt x="4572000" y="457200"/>
                  </a:lnTo>
                  <a:lnTo>
                    <a:pt x="0" y="457200"/>
                  </a:lnTo>
                  <a:close/>
                </a:path>
              </a:pathLst>
            </a:custGeom>
            <a:blipFill>
              <a:blip r:embed="rId3">
                <a:alphaModFix amt="0"/>
              </a:blip>
              <a:stretch>
                <a:fillRect l="0" t="-144850" r="0" b="-144850"/>
              </a:stretch>
            </a:blipFill>
          </p:spPr>
        </p:sp>
        <p:sp>
          <p:nvSpPr>
            <p:cNvPr name="TextBox 110" id="110"/>
            <p:cNvSpPr txBox="true"/>
            <p:nvPr/>
          </p:nvSpPr>
          <p:spPr>
            <a:xfrm>
              <a:off x="0" y="-28575"/>
              <a:ext cx="4572000" cy="485775"/>
            </a:xfrm>
            <a:prstGeom prst="rect">
              <a:avLst/>
            </a:prstGeom>
          </p:spPr>
          <p:txBody>
            <a:bodyPr anchor="ctr" rtlCol="false" tIns="0" lIns="0" bIns="0" rIns="0"/>
            <a:lstStyle/>
            <a:p>
              <a:pPr algn="l">
                <a:lnSpc>
                  <a:spcPts val="1980"/>
                </a:lnSpc>
              </a:pPr>
              <a:r>
                <a:rPr lang="en-US" sz="1650">
                  <a:solidFill>
                    <a:srgbClr val="6C757D"/>
                  </a:solidFill>
                  <a:latin typeface="Calibri (MS)"/>
                  <a:ea typeface="Calibri (MS)"/>
                  <a:cs typeface="Calibri (MS)"/>
                  <a:sym typeface="Calibri (MS)"/>
                </a:rPr>
                <a:t>NL 2.72×</a:t>
              </a:r>
              <a:r>
                <a:rPr lang="en-US" sz="1650" b="true">
                  <a:solidFill>
                    <a:srgbClr val="E76F51"/>
                  </a:solidFill>
                  <a:latin typeface="Calibri (MS) Bold"/>
                  <a:ea typeface="Calibri (MS) Bold"/>
                  <a:cs typeface="Calibri (MS) Bold"/>
                  <a:sym typeface="Calibri (MS) Bold"/>
                </a:rPr>
                <a:t>   min</a:t>
              </a:r>
            </a:p>
          </p:txBody>
        </p:sp>
      </p:grpSp>
      <p:grpSp>
        <p:nvGrpSpPr>
          <p:cNvPr name="Group 111" id="111"/>
          <p:cNvGrpSpPr/>
          <p:nvPr/>
        </p:nvGrpSpPr>
        <p:grpSpPr>
          <a:xfrm rot="0">
            <a:off x="14127480" y="7132320"/>
            <a:ext cx="3429000" cy="411480"/>
            <a:chOff x="0" y="0"/>
            <a:chExt cx="4572000" cy="548640"/>
          </a:xfrm>
        </p:grpSpPr>
        <p:sp>
          <p:nvSpPr>
            <p:cNvPr name="Freeform 112" id="112"/>
            <p:cNvSpPr/>
            <p:nvPr/>
          </p:nvSpPr>
          <p:spPr>
            <a:xfrm flipH="false" flipV="false" rot="0">
              <a:off x="0" y="0"/>
              <a:ext cx="4572000" cy="548640"/>
            </a:xfrm>
            <a:custGeom>
              <a:avLst/>
              <a:gdLst/>
              <a:ahLst/>
              <a:cxnLst/>
              <a:rect r="r" b="b" t="t" l="l"/>
              <a:pathLst>
                <a:path h="548640" w="4572000">
                  <a:moveTo>
                    <a:pt x="0" y="0"/>
                  </a:moveTo>
                  <a:lnTo>
                    <a:pt x="4572000" y="0"/>
                  </a:lnTo>
                  <a:lnTo>
                    <a:pt x="4572000" y="548640"/>
                  </a:lnTo>
                  <a:lnTo>
                    <a:pt x="0" y="548640"/>
                  </a:lnTo>
                  <a:close/>
                </a:path>
              </a:pathLst>
            </a:custGeom>
            <a:blipFill>
              <a:blip r:embed="rId3">
                <a:alphaModFix amt="0"/>
              </a:blip>
              <a:stretch>
                <a:fillRect l="0" t="-112375" r="0" b="-112375"/>
              </a:stretch>
            </a:blipFill>
          </p:spPr>
        </p:sp>
        <p:sp>
          <p:nvSpPr>
            <p:cNvPr name="TextBox 113" id="113"/>
            <p:cNvSpPr txBox="true"/>
            <p:nvPr/>
          </p:nvSpPr>
          <p:spPr>
            <a:xfrm>
              <a:off x="0" y="-9525"/>
              <a:ext cx="4572000" cy="558165"/>
            </a:xfrm>
            <a:prstGeom prst="rect">
              <a:avLst/>
            </a:prstGeom>
          </p:spPr>
          <p:txBody>
            <a:bodyPr anchor="ctr" rtlCol="false" tIns="0" lIns="0" bIns="0" rIns="0"/>
            <a:lstStyle/>
            <a:p>
              <a:pPr algn="l">
                <a:lnSpc>
                  <a:spcPts val="1800"/>
                </a:lnSpc>
              </a:pPr>
              <a:r>
                <a:rPr lang="en-US" sz="1500" i="true" spc="-9">
                  <a:solidFill>
                    <a:srgbClr val="1A2E23"/>
                  </a:solidFill>
                  <a:latin typeface="TT Rounds Condensed Italics"/>
                  <a:ea typeface="TT Rounds Condensed Italics"/>
                  <a:cs typeface="TT Rounds Condensed Italics"/>
                  <a:sym typeface="TT Rounds Condensed Italics"/>
                </a:rPr>
                <a:t>Brief target; model lands at 1.81×</a:t>
              </a:r>
            </a:p>
          </p:txBody>
        </p:sp>
      </p:grpSp>
      <p:grpSp>
        <p:nvGrpSpPr>
          <p:cNvPr name="Group 114" id="114"/>
          <p:cNvGrpSpPr/>
          <p:nvPr/>
        </p:nvGrpSpPr>
        <p:grpSpPr>
          <a:xfrm rot="0">
            <a:off x="685800" y="8366760"/>
            <a:ext cx="16870680" cy="1165860"/>
            <a:chOff x="0" y="0"/>
            <a:chExt cx="22494240" cy="1554480"/>
          </a:xfrm>
        </p:grpSpPr>
        <p:sp>
          <p:nvSpPr>
            <p:cNvPr name="Freeform 115" id="115"/>
            <p:cNvSpPr/>
            <p:nvPr/>
          </p:nvSpPr>
          <p:spPr>
            <a:xfrm flipH="false" flipV="false" rot="0">
              <a:off x="0" y="0"/>
              <a:ext cx="22494239" cy="1554480"/>
            </a:xfrm>
            <a:custGeom>
              <a:avLst/>
              <a:gdLst/>
              <a:ahLst/>
              <a:cxnLst/>
              <a:rect r="r" b="b" t="t" l="l"/>
              <a:pathLst>
                <a:path h="1554480" w="22494239">
                  <a:moveTo>
                    <a:pt x="0" y="0"/>
                  </a:moveTo>
                  <a:lnTo>
                    <a:pt x="22494239" y="0"/>
                  </a:lnTo>
                  <a:lnTo>
                    <a:pt x="22494239" y="1554480"/>
                  </a:lnTo>
                  <a:lnTo>
                    <a:pt x="0" y="1554480"/>
                  </a:lnTo>
                  <a:close/>
                </a:path>
              </a:pathLst>
            </a:custGeom>
            <a:solidFill>
              <a:srgbClr val="1B4332"/>
            </a:solidFill>
          </p:spPr>
        </p:sp>
      </p:grpSp>
      <p:grpSp>
        <p:nvGrpSpPr>
          <p:cNvPr name="Group 116" id="116"/>
          <p:cNvGrpSpPr/>
          <p:nvPr/>
        </p:nvGrpSpPr>
        <p:grpSpPr>
          <a:xfrm rot="0">
            <a:off x="1097280" y="8435340"/>
            <a:ext cx="16047720" cy="1028700"/>
            <a:chOff x="0" y="0"/>
            <a:chExt cx="21396960" cy="1371600"/>
          </a:xfrm>
        </p:grpSpPr>
        <p:sp>
          <p:nvSpPr>
            <p:cNvPr name="Freeform 117" id="117"/>
            <p:cNvSpPr/>
            <p:nvPr/>
          </p:nvSpPr>
          <p:spPr>
            <a:xfrm flipH="false" flipV="false" rot="0">
              <a:off x="0" y="0"/>
              <a:ext cx="21396961" cy="1371600"/>
            </a:xfrm>
            <a:custGeom>
              <a:avLst/>
              <a:gdLst/>
              <a:ahLst/>
              <a:cxnLst/>
              <a:rect r="r" b="b" t="t" l="l"/>
              <a:pathLst>
                <a:path h="1371600" w="21396961">
                  <a:moveTo>
                    <a:pt x="0" y="0"/>
                  </a:moveTo>
                  <a:lnTo>
                    <a:pt x="21396961" y="0"/>
                  </a:lnTo>
                  <a:lnTo>
                    <a:pt x="21396961" y="1371600"/>
                  </a:lnTo>
                  <a:lnTo>
                    <a:pt x="0" y="1371600"/>
                  </a:lnTo>
                  <a:close/>
                </a:path>
              </a:pathLst>
            </a:custGeom>
            <a:blipFill>
              <a:blip r:embed="rId3">
                <a:alphaModFix amt="0"/>
              </a:blip>
              <a:stretch>
                <a:fillRect l="0" t="-253966" r="0" b="-253966"/>
              </a:stretch>
            </a:blipFill>
          </p:spPr>
        </p:sp>
        <p:sp>
          <p:nvSpPr>
            <p:cNvPr name="TextBox 118" id="118"/>
            <p:cNvSpPr txBox="true"/>
            <p:nvPr/>
          </p:nvSpPr>
          <p:spPr>
            <a:xfrm>
              <a:off x="0" y="-9525"/>
              <a:ext cx="21396960" cy="1381125"/>
            </a:xfrm>
            <a:prstGeom prst="rect">
              <a:avLst/>
            </a:prstGeom>
          </p:spPr>
          <p:txBody>
            <a:bodyPr anchor="ctr" rtlCol="false" tIns="0" lIns="0" bIns="0" rIns="0"/>
            <a:lstStyle/>
            <a:p>
              <a:pPr algn="l">
                <a:lnSpc>
                  <a:spcPts val="2340"/>
                </a:lnSpc>
              </a:pPr>
              <a:r>
                <a:rPr lang="en-US" b="true" sz="1950" spc="-11">
                  <a:solidFill>
                    <a:srgbClr val="F4A261"/>
                  </a:solidFill>
                  <a:latin typeface="TT Rounds Condensed Bold"/>
                  <a:ea typeface="TT Rounds Condensed Bold"/>
                  <a:cs typeface="TT Rounds Condensed Bold"/>
                  <a:sym typeface="TT Rounds Condensed Bold"/>
                </a:rPr>
                <a:t>Break-even check.  </a:t>
              </a:r>
              <a:r>
                <a:rPr lang="en-US" sz="1950" spc="-11">
                  <a:solidFill>
                    <a:srgbClr val="FFFFFF"/>
                  </a:solidFill>
                  <a:latin typeface="TT Rounds Condensed"/>
                  <a:ea typeface="TT Rounds Condensed"/>
                  <a:cs typeface="TT Rounds Condensed"/>
                  <a:sym typeface="TT Rounds Condensed"/>
                </a:rPr>
                <a:t>At €1k/day and CPC €1.45, we need </a:t>
              </a:r>
              <a:r>
                <a:rPr lang="en-US" b="true" sz="1950" spc="-11">
                  <a:solidFill>
                    <a:srgbClr val="FFFFFF"/>
                  </a:solidFill>
                  <a:latin typeface="TT Rounds Condensed Bold"/>
                  <a:ea typeface="TT Rounds Condensed Bold"/>
                  <a:cs typeface="TT Rounds Condensed Bold"/>
                  <a:sym typeface="TT Rounds Condensed Bold"/>
                </a:rPr>
                <a:t>CVR ≥ 3.5%</a:t>
              </a:r>
              <a:r>
                <a:rPr lang="en-US" sz="1950" spc="-11">
                  <a:solidFill>
                    <a:srgbClr val="FFFFFF"/>
                  </a:solidFill>
                  <a:latin typeface="TT Rounds Condensed"/>
                  <a:ea typeface="TT Rounds Condensed"/>
                  <a:cs typeface="TT Rounds Condensed"/>
                  <a:sym typeface="TT Rounds Condensed"/>
                </a:rPr>
                <a:t> to hit 1.5× ROAS. Baseline assumes 4.2%. Safety buffer holds even if NO CVR is 40% below NL.</a:t>
              </a:r>
            </a:p>
          </p:txBody>
        </p:sp>
      </p:grpSp>
      <p:grpSp>
        <p:nvGrpSpPr>
          <p:cNvPr name="Group 119" id="119"/>
          <p:cNvGrpSpPr/>
          <p:nvPr/>
        </p:nvGrpSpPr>
        <p:grpSpPr>
          <a:xfrm rot="0">
            <a:off x="685800" y="9806940"/>
            <a:ext cx="13716000" cy="342900"/>
            <a:chOff x="0" y="0"/>
            <a:chExt cx="18288000" cy="457200"/>
          </a:xfrm>
        </p:grpSpPr>
        <p:sp>
          <p:nvSpPr>
            <p:cNvPr name="Freeform 120" id="120"/>
            <p:cNvSpPr/>
            <p:nvPr/>
          </p:nvSpPr>
          <p:spPr>
            <a:xfrm flipH="false" flipV="false" rot="0">
              <a:off x="0" y="0"/>
              <a:ext cx="18288000" cy="457200"/>
            </a:xfrm>
            <a:custGeom>
              <a:avLst/>
              <a:gdLst/>
              <a:ahLst/>
              <a:cxnLst/>
              <a:rect r="r" b="b" t="t" l="l"/>
              <a:pathLst>
                <a:path h="457200" w="18288000">
                  <a:moveTo>
                    <a:pt x="0" y="0"/>
                  </a:moveTo>
                  <a:lnTo>
                    <a:pt x="18288000" y="0"/>
                  </a:lnTo>
                  <a:lnTo>
                    <a:pt x="18288000" y="457200"/>
                  </a:lnTo>
                  <a:lnTo>
                    <a:pt x="0" y="457200"/>
                  </a:lnTo>
                  <a:close/>
                </a:path>
              </a:pathLst>
            </a:custGeom>
            <a:blipFill>
              <a:blip r:embed="rId3">
                <a:alphaModFix amt="0"/>
              </a:blip>
              <a:stretch>
                <a:fillRect l="0" t="-729401" r="0" b="-729401"/>
              </a:stretch>
            </a:blipFill>
          </p:spPr>
        </p:sp>
        <p:sp>
          <p:nvSpPr>
            <p:cNvPr name="TextBox 121" id="121"/>
            <p:cNvSpPr txBox="true"/>
            <p:nvPr/>
          </p:nvSpPr>
          <p:spPr>
            <a:xfrm>
              <a:off x="0" y="-28575"/>
              <a:ext cx="18288000" cy="485775"/>
            </a:xfrm>
            <a:prstGeom prst="rect">
              <a:avLst/>
            </a:prstGeom>
          </p:spPr>
          <p:txBody>
            <a:bodyPr anchor="ctr" rtlCol="false" tIns="0" lIns="0" bIns="0" rIns="0"/>
            <a:lstStyle/>
            <a:p>
              <a:pPr algn="l">
                <a:lnSpc>
                  <a:spcPts val="1620"/>
                </a:lnSpc>
              </a:pPr>
              <a:r>
                <a:rPr lang="en-US" sz="1350">
                  <a:solidFill>
                    <a:srgbClr val="6C757D"/>
                  </a:solidFill>
                  <a:latin typeface="Calibri (MS)"/>
                  <a:ea typeface="Calibri (MS)"/>
                  <a:cs typeface="Calibri (MS)"/>
                  <a:sym typeface="Calibri (MS)"/>
                </a:rPr>
                <a:t>Dental Bright → Norway  ·  Danil Sysenko  ·  April 2026</a:t>
              </a:r>
            </a:p>
          </p:txBody>
        </p:sp>
      </p:grpSp>
      <p:grpSp>
        <p:nvGrpSpPr>
          <p:cNvPr name="Group 122" id="122"/>
          <p:cNvGrpSpPr/>
          <p:nvPr/>
        </p:nvGrpSpPr>
        <p:grpSpPr>
          <a:xfrm rot="0">
            <a:off x="16870680" y="9806940"/>
            <a:ext cx="822960" cy="342900"/>
            <a:chOff x="0" y="0"/>
            <a:chExt cx="1097280" cy="457200"/>
          </a:xfrm>
        </p:grpSpPr>
        <p:sp>
          <p:nvSpPr>
            <p:cNvPr name="Freeform 123" id="123"/>
            <p:cNvSpPr/>
            <p:nvPr/>
          </p:nvSpPr>
          <p:spPr>
            <a:xfrm flipH="false" flipV="false" rot="0">
              <a:off x="0" y="0"/>
              <a:ext cx="1097280" cy="457200"/>
            </a:xfrm>
            <a:custGeom>
              <a:avLst/>
              <a:gdLst/>
              <a:ahLst/>
              <a:cxnLst/>
              <a:rect r="r" b="b" t="t" l="l"/>
              <a:pathLst>
                <a:path h="457200" w="1097280">
                  <a:moveTo>
                    <a:pt x="0" y="0"/>
                  </a:moveTo>
                  <a:lnTo>
                    <a:pt x="1097280" y="0"/>
                  </a:lnTo>
                  <a:lnTo>
                    <a:pt x="1097280" y="457200"/>
                  </a:lnTo>
                  <a:lnTo>
                    <a:pt x="0" y="457200"/>
                  </a:lnTo>
                  <a:close/>
                </a:path>
              </a:pathLst>
            </a:custGeom>
            <a:blipFill>
              <a:blip r:embed="rId3">
                <a:alphaModFix amt="0"/>
              </a:blip>
              <a:stretch>
                <a:fillRect l="-3459" t="0" r="-3459" b="0"/>
              </a:stretch>
            </a:blipFill>
          </p:spPr>
        </p:sp>
        <p:sp>
          <p:nvSpPr>
            <p:cNvPr name="TextBox 124" id="124"/>
            <p:cNvSpPr txBox="true"/>
            <p:nvPr/>
          </p:nvSpPr>
          <p:spPr>
            <a:xfrm>
              <a:off x="0" y="-28575"/>
              <a:ext cx="1097280" cy="485775"/>
            </a:xfrm>
            <a:prstGeom prst="rect">
              <a:avLst/>
            </a:prstGeom>
          </p:spPr>
          <p:txBody>
            <a:bodyPr anchor="ctr" rtlCol="false" tIns="0" lIns="0" bIns="0" rIns="0"/>
            <a:lstStyle/>
            <a:p>
              <a:pPr algn="r">
                <a:lnSpc>
                  <a:spcPts val="1620"/>
                </a:lnSpc>
              </a:pPr>
              <a:r>
                <a:rPr lang="en-US" sz="1350">
                  <a:solidFill>
                    <a:srgbClr val="6C757D"/>
                  </a:solidFill>
                  <a:latin typeface="Calibri (MS)"/>
                  <a:ea typeface="Calibri (MS)"/>
                  <a:cs typeface="Calibri (MS)"/>
                  <a:sym typeface="Calibri (MS)"/>
                </a:rPr>
                <a:t>4 / 8</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548640"/>
            <a:ext cx="6858000" cy="411480"/>
            <a:chOff x="0" y="0"/>
            <a:chExt cx="9144000" cy="548640"/>
          </a:xfrm>
        </p:grpSpPr>
        <p:sp>
          <p:nvSpPr>
            <p:cNvPr name="Freeform 3" id="3"/>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3">
                <a:alphaModFix amt="0"/>
              </a:blip>
              <a:stretch>
                <a:fillRect l="0" t="-274750" r="0" b="-274750"/>
              </a:stretch>
            </a:blipFill>
          </p:spPr>
        </p:sp>
        <p:sp>
          <p:nvSpPr>
            <p:cNvPr name="TextBox 4" id="4"/>
            <p:cNvSpPr txBox="true"/>
            <p:nvPr/>
          </p:nvSpPr>
          <p:spPr>
            <a:xfrm>
              <a:off x="0" y="-28575"/>
              <a:ext cx="9144000" cy="577215"/>
            </a:xfrm>
            <a:prstGeom prst="rect">
              <a:avLst/>
            </a:prstGeom>
          </p:spPr>
          <p:txBody>
            <a:bodyPr anchor="ctr" rtlCol="false" tIns="0" lIns="0" bIns="0" rIns="0"/>
            <a:lstStyle/>
            <a:p>
              <a:pPr algn="l">
                <a:lnSpc>
                  <a:spcPts val="1980"/>
                </a:lnSpc>
              </a:pPr>
              <a:r>
                <a:rPr lang="en-US" b="true" sz="1650" spc="600">
                  <a:solidFill>
                    <a:srgbClr val="E76F51"/>
                  </a:solidFill>
                  <a:latin typeface="Calibri (MS) Bold"/>
                  <a:ea typeface="Calibri (MS) Bold"/>
                  <a:cs typeface="Calibri (MS) Bold"/>
                  <a:sym typeface="Calibri (MS) Bold"/>
                </a:rPr>
                <a:t>CAMPAIGNS 1 &amp; 2</a:t>
              </a:r>
            </a:p>
          </p:txBody>
        </p:sp>
      </p:grpSp>
      <p:grpSp>
        <p:nvGrpSpPr>
          <p:cNvPr name="Group 5" id="5"/>
          <p:cNvGrpSpPr/>
          <p:nvPr/>
        </p:nvGrpSpPr>
        <p:grpSpPr>
          <a:xfrm rot="0">
            <a:off x="685800" y="960120"/>
            <a:ext cx="16459200" cy="960120"/>
            <a:chOff x="0" y="0"/>
            <a:chExt cx="21945600" cy="1280160"/>
          </a:xfrm>
        </p:grpSpPr>
        <p:sp>
          <p:nvSpPr>
            <p:cNvPr name="Freeform 6" id="6"/>
            <p:cNvSpPr/>
            <p:nvPr/>
          </p:nvSpPr>
          <p:spPr>
            <a:xfrm flipH="false" flipV="false" rot="0">
              <a:off x="0" y="0"/>
              <a:ext cx="21945600" cy="1280160"/>
            </a:xfrm>
            <a:custGeom>
              <a:avLst/>
              <a:gdLst/>
              <a:ahLst/>
              <a:cxnLst/>
              <a:rect r="r" b="b" t="t" l="l"/>
              <a:pathLst>
                <a:path h="1280160" w="21945600">
                  <a:moveTo>
                    <a:pt x="0" y="0"/>
                  </a:moveTo>
                  <a:lnTo>
                    <a:pt x="21945600" y="0"/>
                  </a:lnTo>
                  <a:lnTo>
                    <a:pt x="21945600" y="1280160"/>
                  </a:lnTo>
                  <a:lnTo>
                    <a:pt x="0" y="1280160"/>
                  </a:lnTo>
                  <a:close/>
                </a:path>
              </a:pathLst>
            </a:custGeom>
            <a:blipFill>
              <a:blip r:embed="rId3">
                <a:alphaModFix amt="0"/>
              </a:blip>
              <a:stretch>
                <a:fillRect l="0" t="-284029" r="0" b="-284029"/>
              </a:stretch>
            </a:blipFill>
          </p:spPr>
        </p:sp>
        <p:sp>
          <p:nvSpPr>
            <p:cNvPr name="TextBox 7" id="7"/>
            <p:cNvSpPr txBox="true"/>
            <p:nvPr/>
          </p:nvSpPr>
          <p:spPr>
            <a:xfrm>
              <a:off x="0" y="-9525"/>
              <a:ext cx="21945600" cy="1289685"/>
            </a:xfrm>
            <a:prstGeom prst="rect">
              <a:avLst/>
            </a:prstGeom>
          </p:spPr>
          <p:txBody>
            <a:bodyPr anchor="ctr" rtlCol="false" tIns="0" lIns="0" bIns="0" rIns="0"/>
            <a:lstStyle/>
            <a:p>
              <a:pPr algn="l">
                <a:lnSpc>
                  <a:spcPts val="6839"/>
                </a:lnSpc>
              </a:pPr>
              <a:r>
                <a:rPr lang="en-US" sz="5700" b="true">
                  <a:solidFill>
                    <a:srgbClr val="1A2E23"/>
                  </a:solidFill>
                  <a:latin typeface="Georgia Bold"/>
                  <a:ea typeface="Georgia Bold"/>
                  <a:cs typeface="Georgia Bold"/>
                  <a:sym typeface="Georgia Bold"/>
                </a:rPr>
                <a:t>Where the revenue lives</a:t>
              </a:r>
            </a:p>
          </p:txBody>
        </p:sp>
      </p:grpSp>
      <p:grpSp>
        <p:nvGrpSpPr>
          <p:cNvPr name="Group 8" id="8"/>
          <p:cNvGrpSpPr/>
          <p:nvPr/>
        </p:nvGrpSpPr>
        <p:grpSpPr>
          <a:xfrm rot="0">
            <a:off x="685800" y="1920240"/>
            <a:ext cx="16870680" cy="548640"/>
            <a:chOff x="0" y="0"/>
            <a:chExt cx="22494240" cy="731520"/>
          </a:xfrm>
        </p:grpSpPr>
        <p:sp>
          <p:nvSpPr>
            <p:cNvPr name="Freeform 9" id="9"/>
            <p:cNvSpPr/>
            <p:nvPr/>
          </p:nvSpPr>
          <p:spPr>
            <a:xfrm flipH="false" flipV="false" rot="0">
              <a:off x="0" y="0"/>
              <a:ext cx="22494239" cy="731520"/>
            </a:xfrm>
            <a:custGeom>
              <a:avLst/>
              <a:gdLst/>
              <a:ahLst/>
              <a:cxnLst/>
              <a:rect r="r" b="b" t="t" l="l"/>
              <a:pathLst>
                <a:path h="731520" w="22494239">
                  <a:moveTo>
                    <a:pt x="0" y="0"/>
                  </a:moveTo>
                  <a:lnTo>
                    <a:pt x="22494239" y="0"/>
                  </a:lnTo>
                  <a:lnTo>
                    <a:pt x="22494239" y="731520"/>
                  </a:lnTo>
                  <a:lnTo>
                    <a:pt x="0" y="731520"/>
                  </a:lnTo>
                  <a:close/>
                </a:path>
              </a:pathLst>
            </a:custGeom>
            <a:blipFill>
              <a:blip r:embed="rId3">
                <a:alphaModFix amt="0"/>
              </a:blip>
              <a:stretch>
                <a:fillRect l="0" t="-549164" r="0" b="-549164"/>
              </a:stretch>
            </a:blipFill>
          </p:spPr>
        </p:sp>
        <p:sp>
          <p:nvSpPr>
            <p:cNvPr name="TextBox 10" id="10"/>
            <p:cNvSpPr txBox="true"/>
            <p:nvPr/>
          </p:nvSpPr>
          <p:spPr>
            <a:xfrm>
              <a:off x="0" y="-9525"/>
              <a:ext cx="22494240" cy="741045"/>
            </a:xfrm>
            <a:prstGeom prst="rect">
              <a:avLst/>
            </a:prstGeom>
          </p:spPr>
          <p:txBody>
            <a:bodyPr anchor="ctr" rtlCol="false" tIns="0" lIns="0" bIns="0" rIns="0"/>
            <a:lstStyle/>
            <a:p>
              <a:pPr algn="l">
                <a:lnSpc>
                  <a:spcPts val="2520"/>
                </a:lnSpc>
              </a:pPr>
              <a:r>
                <a:rPr lang="en-US" sz="2100" i="true" spc="-12">
                  <a:solidFill>
                    <a:srgbClr val="6C757D"/>
                  </a:solidFill>
                  <a:latin typeface="TT Rounds Condensed Italics"/>
                  <a:ea typeface="TT Rounds Condensed Italics"/>
                  <a:cs typeface="TT Rounds Condensed Italics"/>
                  <a:sym typeface="TT Rounds Condensed Italics"/>
                </a:rPr>
                <a:t>85% of the budget. Both clusters did the heavy lifting in NL — there's no reason Norway should be different.</a:t>
              </a:r>
            </a:p>
          </p:txBody>
        </p:sp>
      </p:grpSp>
      <p:grpSp>
        <p:nvGrpSpPr>
          <p:cNvPr name="Group 11" id="11"/>
          <p:cNvGrpSpPr/>
          <p:nvPr/>
        </p:nvGrpSpPr>
        <p:grpSpPr>
          <a:xfrm rot="0">
            <a:off x="676275" y="2733675"/>
            <a:ext cx="8385810" cy="6396990"/>
            <a:chOff x="0" y="0"/>
            <a:chExt cx="11181080" cy="8529320"/>
          </a:xfrm>
        </p:grpSpPr>
        <p:sp>
          <p:nvSpPr>
            <p:cNvPr name="Freeform 12" id="12"/>
            <p:cNvSpPr/>
            <p:nvPr/>
          </p:nvSpPr>
          <p:spPr>
            <a:xfrm flipH="false" flipV="false" rot="0">
              <a:off x="12700" y="12700"/>
              <a:ext cx="11155680" cy="8503920"/>
            </a:xfrm>
            <a:custGeom>
              <a:avLst/>
              <a:gdLst/>
              <a:ahLst/>
              <a:cxnLst/>
              <a:rect r="r" b="b" t="t" l="l"/>
              <a:pathLst>
                <a:path h="8503920" w="11155680">
                  <a:moveTo>
                    <a:pt x="0" y="0"/>
                  </a:moveTo>
                  <a:lnTo>
                    <a:pt x="11155680" y="0"/>
                  </a:lnTo>
                  <a:lnTo>
                    <a:pt x="11155680" y="8503920"/>
                  </a:lnTo>
                  <a:lnTo>
                    <a:pt x="0" y="8503920"/>
                  </a:lnTo>
                  <a:close/>
                </a:path>
              </a:pathLst>
            </a:custGeom>
            <a:solidFill>
              <a:srgbClr val="F8F9FA"/>
            </a:solidFill>
          </p:spPr>
        </p:sp>
        <p:sp>
          <p:nvSpPr>
            <p:cNvPr name="Freeform 13" id="13"/>
            <p:cNvSpPr/>
            <p:nvPr/>
          </p:nvSpPr>
          <p:spPr>
            <a:xfrm flipH="false" flipV="false" rot="0">
              <a:off x="0" y="0"/>
              <a:ext cx="11181080" cy="8529320"/>
            </a:xfrm>
            <a:custGeom>
              <a:avLst/>
              <a:gdLst/>
              <a:ahLst/>
              <a:cxnLst/>
              <a:rect r="r" b="b" t="t" l="l"/>
              <a:pathLst>
                <a:path h="8529320" w="11181080">
                  <a:moveTo>
                    <a:pt x="12700" y="0"/>
                  </a:moveTo>
                  <a:lnTo>
                    <a:pt x="11168380" y="0"/>
                  </a:lnTo>
                  <a:cubicBezTo>
                    <a:pt x="11175365" y="0"/>
                    <a:pt x="11181080" y="5715"/>
                    <a:pt x="11181080" y="12700"/>
                  </a:cubicBezTo>
                  <a:lnTo>
                    <a:pt x="11181080" y="8516620"/>
                  </a:lnTo>
                  <a:cubicBezTo>
                    <a:pt x="11181080" y="8523605"/>
                    <a:pt x="11175365" y="8529320"/>
                    <a:pt x="11168380" y="8529320"/>
                  </a:cubicBezTo>
                  <a:lnTo>
                    <a:pt x="12700" y="8529320"/>
                  </a:lnTo>
                  <a:cubicBezTo>
                    <a:pt x="5715" y="8529320"/>
                    <a:pt x="0" y="8523605"/>
                    <a:pt x="0" y="8516620"/>
                  </a:cubicBezTo>
                  <a:lnTo>
                    <a:pt x="0" y="12700"/>
                  </a:lnTo>
                  <a:cubicBezTo>
                    <a:pt x="0" y="5715"/>
                    <a:pt x="5715" y="0"/>
                    <a:pt x="12700" y="0"/>
                  </a:cubicBezTo>
                  <a:moveTo>
                    <a:pt x="12700" y="25400"/>
                  </a:moveTo>
                  <a:lnTo>
                    <a:pt x="12700" y="12700"/>
                  </a:lnTo>
                  <a:lnTo>
                    <a:pt x="25400" y="12700"/>
                  </a:lnTo>
                  <a:lnTo>
                    <a:pt x="25400" y="8516620"/>
                  </a:lnTo>
                  <a:lnTo>
                    <a:pt x="12700" y="8516620"/>
                  </a:lnTo>
                  <a:lnTo>
                    <a:pt x="12700" y="8503920"/>
                  </a:lnTo>
                  <a:lnTo>
                    <a:pt x="11168380" y="8503920"/>
                  </a:lnTo>
                  <a:lnTo>
                    <a:pt x="11168380" y="8516620"/>
                  </a:lnTo>
                  <a:lnTo>
                    <a:pt x="11155680" y="8516620"/>
                  </a:lnTo>
                  <a:lnTo>
                    <a:pt x="11155680" y="12700"/>
                  </a:lnTo>
                  <a:lnTo>
                    <a:pt x="11168380" y="12700"/>
                  </a:lnTo>
                  <a:lnTo>
                    <a:pt x="11168380" y="25400"/>
                  </a:lnTo>
                  <a:lnTo>
                    <a:pt x="12700" y="25400"/>
                  </a:lnTo>
                  <a:close/>
                </a:path>
              </a:pathLst>
            </a:custGeom>
            <a:solidFill>
              <a:srgbClr val="E9ECEF"/>
            </a:solidFill>
          </p:spPr>
        </p:sp>
      </p:grpSp>
      <p:grpSp>
        <p:nvGrpSpPr>
          <p:cNvPr name="Group 14" id="14"/>
          <p:cNvGrpSpPr/>
          <p:nvPr/>
        </p:nvGrpSpPr>
        <p:grpSpPr>
          <a:xfrm rot="0">
            <a:off x="685800" y="2743200"/>
            <a:ext cx="109728" cy="6377940"/>
            <a:chOff x="0" y="0"/>
            <a:chExt cx="146304" cy="8503920"/>
          </a:xfrm>
        </p:grpSpPr>
        <p:sp>
          <p:nvSpPr>
            <p:cNvPr name="Freeform 15" id="15"/>
            <p:cNvSpPr/>
            <p:nvPr/>
          </p:nvSpPr>
          <p:spPr>
            <a:xfrm flipH="false" flipV="false" rot="0">
              <a:off x="0" y="0"/>
              <a:ext cx="146304" cy="8503920"/>
            </a:xfrm>
            <a:custGeom>
              <a:avLst/>
              <a:gdLst/>
              <a:ahLst/>
              <a:cxnLst/>
              <a:rect r="r" b="b" t="t" l="l"/>
              <a:pathLst>
                <a:path h="8503920" w="146304">
                  <a:moveTo>
                    <a:pt x="0" y="0"/>
                  </a:moveTo>
                  <a:lnTo>
                    <a:pt x="146304" y="0"/>
                  </a:lnTo>
                  <a:lnTo>
                    <a:pt x="146304" y="8503920"/>
                  </a:lnTo>
                  <a:lnTo>
                    <a:pt x="0" y="8503920"/>
                  </a:lnTo>
                  <a:close/>
                </a:path>
              </a:pathLst>
            </a:custGeom>
            <a:solidFill>
              <a:srgbClr val="E76F51"/>
            </a:solidFill>
          </p:spPr>
        </p:sp>
      </p:grpSp>
      <p:grpSp>
        <p:nvGrpSpPr>
          <p:cNvPr name="Group 16" id="16"/>
          <p:cNvGrpSpPr/>
          <p:nvPr/>
        </p:nvGrpSpPr>
        <p:grpSpPr>
          <a:xfrm rot="0">
            <a:off x="1028700" y="2880360"/>
            <a:ext cx="1371600" cy="411480"/>
            <a:chOff x="0" y="0"/>
            <a:chExt cx="1828800" cy="548640"/>
          </a:xfrm>
        </p:grpSpPr>
        <p:sp>
          <p:nvSpPr>
            <p:cNvPr name="Freeform 17" id="17"/>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18" id="18"/>
            <p:cNvSpPr txBox="true"/>
            <p:nvPr/>
          </p:nvSpPr>
          <p:spPr>
            <a:xfrm>
              <a:off x="0" y="-28575"/>
              <a:ext cx="1828800" cy="577215"/>
            </a:xfrm>
            <a:prstGeom prst="rect">
              <a:avLst/>
            </a:prstGeom>
          </p:spPr>
          <p:txBody>
            <a:bodyPr anchor="ctr" rtlCol="false" tIns="0" lIns="0" bIns="0" rIns="0"/>
            <a:lstStyle/>
            <a:p>
              <a:pPr algn="l">
                <a:lnSpc>
                  <a:spcPts val="1980"/>
                </a:lnSpc>
              </a:pPr>
              <a:r>
                <a:rPr lang="en-US" b="true" sz="1650" spc="300">
                  <a:solidFill>
                    <a:srgbClr val="E76F51"/>
                  </a:solidFill>
                  <a:latin typeface="Calibri (MS) Bold"/>
                  <a:ea typeface="Calibri (MS) Bold"/>
                  <a:cs typeface="Calibri (MS) Bold"/>
                  <a:sym typeface="Calibri (MS) Bold"/>
                </a:rPr>
                <a:t>01</a:t>
              </a:r>
            </a:p>
          </p:txBody>
        </p:sp>
      </p:grpSp>
      <p:grpSp>
        <p:nvGrpSpPr>
          <p:cNvPr name="Group 19" id="19"/>
          <p:cNvGrpSpPr/>
          <p:nvPr/>
        </p:nvGrpSpPr>
        <p:grpSpPr>
          <a:xfrm rot="0">
            <a:off x="1028700" y="3291840"/>
            <a:ext cx="7818120" cy="685800"/>
            <a:chOff x="0" y="0"/>
            <a:chExt cx="10424160" cy="914400"/>
          </a:xfrm>
        </p:grpSpPr>
        <p:sp>
          <p:nvSpPr>
            <p:cNvPr name="Freeform 20" id="20"/>
            <p:cNvSpPr/>
            <p:nvPr/>
          </p:nvSpPr>
          <p:spPr>
            <a:xfrm flipH="false" flipV="false" rot="0">
              <a:off x="0" y="0"/>
              <a:ext cx="10424160" cy="914400"/>
            </a:xfrm>
            <a:custGeom>
              <a:avLst/>
              <a:gdLst/>
              <a:ahLst/>
              <a:cxnLst/>
              <a:rect r="r" b="b" t="t" l="l"/>
              <a:pathLst>
                <a:path h="914400" w="10424160">
                  <a:moveTo>
                    <a:pt x="0" y="0"/>
                  </a:moveTo>
                  <a:lnTo>
                    <a:pt x="10424160" y="0"/>
                  </a:lnTo>
                  <a:lnTo>
                    <a:pt x="10424160" y="914400"/>
                  </a:lnTo>
                  <a:lnTo>
                    <a:pt x="0" y="914400"/>
                  </a:lnTo>
                  <a:close/>
                </a:path>
              </a:pathLst>
            </a:custGeom>
            <a:blipFill>
              <a:blip r:embed="rId3">
                <a:alphaModFix amt="0"/>
              </a:blip>
              <a:stretch>
                <a:fillRect l="0" t="-172129" r="0" b="-172129"/>
              </a:stretch>
            </a:blipFill>
          </p:spPr>
        </p:sp>
        <p:sp>
          <p:nvSpPr>
            <p:cNvPr name="TextBox 21" id="21"/>
            <p:cNvSpPr txBox="true"/>
            <p:nvPr/>
          </p:nvSpPr>
          <p:spPr>
            <a:xfrm>
              <a:off x="0" y="0"/>
              <a:ext cx="10424160" cy="914400"/>
            </a:xfrm>
            <a:prstGeom prst="rect">
              <a:avLst/>
            </a:prstGeom>
          </p:spPr>
          <p:txBody>
            <a:bodyPr anchor="ctr" rtlCol="false" tIns="0" lIns="0" bIns="0" rIns="0"/>
            <a:lstStyle/>
            <a:p>
              <a:pPr algn="l">
                <a:lnSpc>
                  <a:spcPts val="3960"/>
                </a:lnSpc>
              </a:pPr>
              <a:r>
                <a:rPr lang="en-US" sz="3300" b="true">
                  <a:solidFill>
                    <a:srgbClr val="1A2E23"/>
                  </a:solidFill>
                  <a:latin typeface="Georgia Bold"/>
                  <a:ea typeface="Georgia Bold"/>
                  <a:cs typeface="Georgia Bold"/>
                  <a:sym typeface="Georgia Bold"/>
                </a:rPr>
                <a:t>Problem-Aware</a:t>
              </a:r>
            </a:p>
          </p:txBody>
        </p:sp>
      </p:grpSp>
      <p:sp>
        <p:nvSpPr>
          <p:cNvPr name="TextBox 22" id="22"/>
          <p:cNvSpPr txBox="true"/>
          <p:nvPr/>
        </p:nvSpPr>
        <p:spPr>
          <a:xfrm rot="0">
            <a:off x="1028700" y="3977640"/>
            <a:ext cx="7818120" cy="754380"/>
          </a:xfrm>
          <a:prstGeom prst="rect">
            <a:avLst/>
          </a:prstGeom>
        </p:spPr>
        <p:txBody>
          <a:bodyPr anchor="t" rtlCol="false" tIns="0" lIns="0" bIns="0" rIns="0">
            <a:spAutoFit/>
          </a:bodyPr>
          <a:lstStyle/>
          <a:p>
            <a:pPr algn="l">
              <a:lnSpc>
                <a:spcPts val="2070"/>
              </a:lnSpc>
            </a:pPr>
            <a:r>
              <a:rPr lang="en-US" sz="1725" i="true" spc="-10">
                <a:solidFill>
                  <a:srgbClr val="1A2E23"/>
                </a:solidFill>
                <a:latin typeface="TT Rounds Condensed Italics"/>
                <a:ea typeface="TT Rounds Condensed Italics"/>
                <a:cs typeface="TT Rounds Condensed Italics"/>
                <a:sym typeface="TT Rounds Condensed Italics"/>
              </a:rPr>
              <a:t>They don't know tannpulver exists. They just know the dog stinks.</a:t>
            </a:r>
          </a:p>
        </p:txBody>
      </p:sp>
      <p:grpSp>
        <p:nvGrpSpPr>
          <p:cNvPr name="Group 23" id="23"/>
          <p:cNvGrpSpPr/>
          <p:nvPr/>
        </p:nvGrpSpPr>
        <p:grpSpPr>
          <a:xfrm rot="0">
            <a:off x="1028700" y="4800600"/>
            <a:ext cx="7818120" cy="411480"/>
            <a:chOff x="0" y="0"/>
            <a:chExt cx="10424160" cy="548640"/>
          </a:xfrm>
        </p:grpSpPr>
        <p:sp>
          <p:nvSpPr>
            <p:cNvPr name="Freeform 24" id="24"/>
            <p:cNvSpPr/>
            <p:nvPr/>
          </p:nvSpPr>
          <p:spPr>
            <a:xfrm flipH="false" flipV="false" rot="0">
              <a:off x="0" y="0"/>
              <a:ext cx="10424160" cy="548640"/>
            </a:xfrm>
            <a:custGeom>
              <a:avLst/>
              <a:gdLst/>
              <a:ahLst/>
              <a:cxnLst/>
              <a:rect r="r" b="b" t="t" l="l"/>
              <a:pathLst>
                <a:path h="548640" w="10424160">
                  <a:moveTo>
                    <a:pt x="0" y="0"/>
                  </a:moveTo>
                  <a:lnTo>
                    <a:pt x="10424160" y="0"/>
                  </a:lnTo>
                  <a:lnTo>
                    <a:pt x="10424160" y="548640"/>
                  </a:lnTo>
                  <a:lnTo>
                    <a:pt x="0" y="548640"/>
                  </a:lnTo>
                  <a:close/>
                </a:path>
              </a:pathLst>
            </a:custGeom>
            <a:blipFill>
              <a:blip r:embed="rId3">
                <a:alphaModFix amt="0"/>
              </a:blip>
              <a:stretch>
                <a:fillRect l="0" t="-320215" r="0" b="-320215"/>
              </a:stretch>
            </a:blipFill>
          </p:spPr>
        </p:sp>
        <p:sp>
          <p:nvSpPr>
            <p:cNvPr name="TextBox 25" id="25"/>
            <p:cNvSpPr txBox="true"/>
            <p:nvPr/>
          </p:nvSpPr>
          <p:spPr>
            <a:xfrm>
              <a:off x="0" y="-19050"/>
              <a:ext cx="10424160" cy="567690"/>
            </a:xfrm>
            <a:prstGeom prst="rect">
              <a:avLst/>
            </a:prstGeom>
          </p:spPr>
          <p:txBody>
            <a:bodyPr anchor="ctr" rtlCol="false" tIns="0" lIns="0" bIns="0" rIns="0"/>
            <a:lstStyle/>
            <a:p>
              <a:pPr algn="l">
                <a:lnSpc>
                  <a:spcPts val="1889"/>
                </a:lnSpc>
              </a:pPr>
              <a:r>
                <a:rPr lang="en-US" sz="1575" b="true">
                  <a:solidFill>
                    <a:srgbClr val="1B4332"/>
                  </a:solidFill>
                  <a:latin typeface="Calibri (MS) Bold"/>
                  <a:ea typeface="Calibri (MS) Bold"/>
                  <a:cs typeface="Calibri (MS) Bold"/>
                  <a:sym typeface="Calibri (MS) Bold"/>
                </a:rPr>
                <a:t>30% · €300/day</a:t>
              </a:r>
              <a:r>
                <a:rPr lang="en-US" sz="1575">
                  <a:solidFill>
                    <a:srgbClr val="6C757D"/>
                  </a:solidFill>
                  <a:latin typeface="Calibri (MS)"/>
                  <a:ea typeface="Calibri (MS)"/>
                  <a:cs typeface="Calibri (MS)"/>
                  <a:sym typeface="Calibri (MS)"/>
                </a:rPr>
                <a:t>   ·   NL: CPC €0.94 · CVR 4.8% · ROAS 2.87×</a:t>
              </a:r>
            </a:p>
          </p:txBody>
        </p:sp>
      </p:grpSp>
      <p:sp>
        <p:nvSpPr>
          <p:cNvPr name="TextBox 26" id="26"/>
          <p:cNvSpPr txBox="true"/>
          <p:nvPr/>
        </p:nvSpPr>
        <p:spPr>
          <a:xfrm rot="0">
            <a:off x="1028700" y="5330190"/>
            <a:ext cx="7818120" cy="1939290"/>
          </a:xfrm>
          <a:prstGeom prst="rect">
            <a:avLst/>
          </a:prstGeom>
        </p:spPr>
        <p:txBody>
          <a:bodyPr anchor="t" rtlCol="false" tIns="0" lIns="0" bIns="0" rIns="0">
            <a:spAutoFit/>
          </a:bodyPr>
          <a:lstStyle/>
          <a:p>
            <a:pPr algn="l">
              <a:lnSpc>
                <a:spcPts val="1889"/>
              </a:lnSpc>
            </a:pPr>
            <a:r>
              <a:rPr lang="en-US" sz="1575" b="true">
                <a:solidFill>
                  <a:srgbClr val="1A2E23"/>
                </a:solidFill>
                <a:latin typeface="Calibri (MS) Bold"/>
                <a:ea typeface="Calibri (MS) Bold"/>
                <a:cs typeface="Calibri (MS) Bold"/>
                <a:sym typeface="Calibri (MS) Bold"/>
              </a:rPr>
              <a:t>hund dårlig ånde</a:t>
            </a:r>
            <a:r>
              <a:rPr lang="en-US" sz="1575" i="true">
                <a:solidFill>
                  <a:srgbClr val="6C757D"/>
                </a:solidFill>
                <a:latin typeface="Calibri (MS) Italics"/>
                <a:ea typeface="Calibri (MS) Italics"/>
                <a:cs typeface="Calibri (MS) Italics"/>
                <a:sym typeface="Calibri (MS) Italics"/>
              </a:rPr>
              <a:t>  bad breath dog</a:t>
            </a:r>
          </a:p>
          <a:p>
            <a:pPr algn="l">
              <a:lnSpc>
                <a:spcPts val="1889"/>
              </a:lnSpc>
            </a:pPr>
            <a:r>
              <a:rPr lang="en-US" sz="1575" b="true">
                <a:solidFill>
                  <a:srgbClr val="1A2E23"/>
                </a:solidFill>
                <a:latin typeface="Calibri (MS) Bold"/>
                <a:ea typeface="Calibri (MS) Bold"/>
                <a:cs typeface="Calibri (MS) Bold"/>
                <a:sym typeface="Calibri (MS) Bold"/>
              </a:rPr>
              <a:t>tannstein hund</a:t>
            </a:r>
            <a:r>
              <a:rPr lang="en-US" sz="1575" i="true">
                <a:solidFill>
                  <a:srgbClr val="6C757D"/>
                </a:solidFill>
                <a:latin typeface="Calibri (MS) Italics"/>
                <a:ea typeface="Calibri (MS) Italics"/>
                <a:cs typeface="Calibri (MS) Italics"/>
                <a:sym typeface="Calibri (MS) Italics"/>
              </a:rPr>
              <a:t>  tartar dog</a:t>
            </a:r>
          </a:p>
          <a:p>
            <a:pPr algn="l">
              <a:lnSpc>
                <a:spcPts val="1889"/>
              </a:lnSpc>
            </a:pPr>
            <a:r>
              <a:rPr lang="en-US" sz="1575" b="true">
                <a:solidFill>
                  <a:srgbClr val="1A2E23"/>
                </a:solidFill>
                <a:latin typeface="Calibri (MS) Bold"/>
                <a:ea typeface="Calibri (MS) Bold"/>
                <a:cs typeface="Calibri (MS) Bold"/>
                <a:sym typeface="Calibri (MS) Bold"/>
              </a:rPr>
              <a:t>fjerne tannstein hund</a:t>
            </a:r>
            <a:r>
              <a:rPr lang="en-US" sz="1575" i="true">
                <a:solidFill>
                  <a:srgbClr val="6C757D"/>
                </a:solidFill>
                <a:latin typeface="Calibri (MS) Italics"/>
                <a:ea typeface="Calibri (MS) Italics"/>
                <a:cs typeface="Calibri (MS) Italics"/>
                <a:sym typeface="Calibri (MS) Italics"/>
              </a:rPr>
              <a:t>  remove tartar dog</a:t>
            </a:r>
          </a:p>
          <a:p>
            <a:pPr algn="l">
              <a:lnSpc>
                <a:spcPts val="1889"/>
              </a:lnSpc>
            </a:pPr>
            <a:r>
              <a:rPr lang="en-US" sz="1575" b="true">
                <a:solidFill>
                  <a:srgbClr val="1A2E23"/>
                </a:solidFill>
                <a:latin typeface="Calibri (MS) Bold"/>
                <a:ea typeface="Calibri (MS) Bold"/>
                <a:cs typeface="Calibri (MS) Bold"/>
                <a:sym typeface="Calibri (MS) Bold"/>
              </a:rPr>
              <a:t>hund stinker fra munnen</a:t>
            </a:r>
            <a:r>
              <a:rPr lang="en-US" sz="1575" i="true">
                <a:solidFill>
                  <a:srgbClr val="6C757D"/>
                </a:solidFill>
                <a:latin typeface="Calibri (MS) Italics"/>
                <a:ea typeface="Calibri (MS) Italics"/>
                <a:cs typeface="Calibri (MS) Italics"/>
                <a:sym typeface="Calibri (MS) Italics"/>
              </a:rPr>
              <a:t>  dog smells from mouth</a:t>
            </a:r>
          </a:p>
          <a:p>
            <a:pPr algn="l">
              <a:lnSpc>
                <a:spcPts val="1889"/>
              </a:lnSpc>
            </a:pPr>
            <a:r>
              <a:rPr lang="en-US" sz="1575" b="true">
                <a:solidFill>
                  <a:srgbClr val="1A2E23"/>
                </a:solidFill>
                <a:latin typeface="Calibri (MS) Bold"/>
                <a:ea typeface="Calibri (MS) Bold"/>
                <a:cs typeface="Calibri (MS) Bold"/>
                <a:sym typeface="Calibri (MS) Bold"/>
              </a:rPr>
              <a:t>betennelse tannkjøtt hund</a:t>
            </a:r>
            <a:r>
              <a:rPr lang="en-US" sz="1575" i="true">
                <a:solidFill>
                  <a:srgbClr val="6C757D"/>
                </a:solidFill>
                <a:latin typeface="Calibri (MS) Italics"/>
                <a:ea typeface="Calibri (MS) Italics"/>
                <a:cs typeface="Calibri (MS) Italics"/>
                <a:sym typeface="Calibri (MS) Italics"/>
              </a:rPr>
              <a:t>  gum inflammation dog</a:t>
            </a:r>
          </a:p>
          <a:p>
            <a:pPr algn="l">
              <a:lnSpc>
                <a:spcPts val="1800"/>
              </a:lnSpc>
            </a:pPr>
            <a:r>
              <a:rPr lang="en-US" sz="1500" b="true">
                <a:solidFill>
                  <a:srgbClr val="1A2E23"/>
                </a:solidFill>
                <a:latin typeface="Calibri (MS) Bold"/>
                <a:ea typeface="Calibri (MS) Bold"/>
                <a:cs typeface="Calibri (MS) Bold"/>
                <a:sym typeface="Calibri (MS) Bold"/>
              </a:rPr>
              <a:t>hund gule tenner</a:t>
            </a:r>
            <a:r>
              <a:rPr lang="en-US" sz="1500" i="true">
                <a:solidFill>
                  <a:srgbClr val="6C757D"/>
                </a:solidFill>
                <a:latin typeface="Calibri (MS) Italics"/>
                <a:ea typeface="Calibri (MS) Italics"/>
                <a:cs typeface="Calibri (MS) Italics"/>
                <a:sym typeface="Calibri (MS) Italics"/>
              </a:rPr>
              <a:t>  yellow teeth dog</a:t>
            </a:r>
          </a:p>
        </p:txBody>
      </p:sp>
      <p:sp>
        <p:nvSpPr>
          <p:cNvPr name="TextBox 27" id="27"/>
          <p:cNvSpPr txBox="true"/>
          <p:nvPr/>
        </p:nvSpPr>
        <p:spPr>
          <a:xfrm rot="0">
            <a:off x="1028700" y="7338060"/>
            <a:ext cx="7818120" cy="1645920"/>
          </a:xfrm>
          <a:prstGeom prst="rect">
            <a:avLst/>
          </a:prstGeom>
        </p:spPr>
        <p:txBody>
          <a:bodyPr anchor="t" rtlCol="false" tIns="0" lIns="0" bIns="0" rIns="0">
            <a:spAutoFit/>
          </a:bodyPr>
          <a:lstStyle/>
          <a:p>
            <a:pPr algn="l">
              <a:lnSpc>
                <a:spcPts val="1980"/>
              </a:lnSpc>
            </a:pPr>
            <a:r>
              <a:rPr lang="en-US" b="true" sz="1650" spc="-10">
                <a:solidFill>
                  <a:srgbClr val="E76F51"/>
                </a:solidFill>
                <a:latin typeface="TT Rounds Condensed Bold"/>
                <a:ea typeface="TT Rounds Condensed Bold"/>
                <a:cs typeface="TT Rounds Condensed Bold"/>
                <a:sym typeface="TT Rounds Condensed Bold"/>
              </a:rPr>
              <a:t>STRUCTURE  </a:t>
            </a:r>
            <a:r>
              <a:rPr lang="en-US" sz="1650" spc="-10">
                <a:solidFill>
                  <a:srgbClr val="1A2E23"/>
                </a:solidFill>
                <a:latin typeface="TT Rounds Condensed"/>
                <a:ea typeface="TT Rounds Condensed"/>
                <a:cs typeface="TT Rounds Condensed"/>
                <a:sym typeface="TT Rounds Condensed"/>
              </a:rPr>
              <a:t>Phrase match. 3 ad groups: breath / tartar / gums.</a:t>
            </a:r>
          </a:p>
          <a:p>
            <a:pPr algn="l">
              <a:lnSpc>
                <a:spcPts val="719"/>
              </a:lnSpc>
            </a:pPr>
          </a:p>
          <a:p>
            <a:pPr algn="l">
              <a:lnSpc>
                <a:spcPts val="1980"/>
              </a:lnSpc>
            </a:pPr>
          </a:p>
          <a:p>
            <a:pPr algn="l">
              <a:lnSpc>
                <a:spcPts val="1980"/>
              </a:lnSpc>
            </a:pPr>
            <a:r>
              <a:rPr lang="en-US" b="true" sz="1650" spc="-10">
                <a:solidFill>
                  <a:srgbClr val="E76F51"/>
                </a:solidFill>
                <a:latin typeface="TT Rounds Condensed Bold"/>
                <a:ea typeface="TT Rounds Condensed Bold"/>
                <a:cs typeface="TT Rounds Condensed Bold"/>
                <a:sym typeface="TT Rounds Condensed Bold"/>
              </a:rPr>
              <a:t>AD COPY  </a:t>
            </a:r>
            <a:r>
              <a:rPr lang="en-US" sz="1650" spc="-10">
                <a:solidFill>
                  <a:srgbClr val="1A2E23"/>
                </a:solidFill>
                <a:latin typeface="TT Rounds Condensed"/>
                <a:ea typeface="TT Rounds Condensed"/>
                <a:cs typeface="TT Rounds Condensed"/>
                <a:sym typeface="TT Rounds Condensed"/>
              </a:rPr>
              <a:t>First angle I'd test: "Hunden din stinker fra munnen? Naturlig pulver — ryddig ånde på 14 dager."  (A/B against 3 variations)</a:t>
            </a:r>
          </a:p>
          <a:p>
            <a:pPr algn="l">
              <a:lnSpc>
                <a:spcPts val="719"/>
              </a:lnSpc>
            </a:pPr>
          </a:p>
          <a:p>
            <a:pPr algn="l">
              <a:lnSpc>
                <a:spcPts val="1980"/>
              </a:lnSpc>
            </a:pPr>
          </a:p>
          <a:p>
            <a:pPr algn="l">
              <a:lnSpc>
                <a:spcPts val="1980"/>
              </a:lnSpc>
            </a:pPr>
            <a:r>
              <a:rPr lang="en-US" b="true" sz="1650" spc="-10">
                <a:solidFill>
                  <a:srgbClr val="E76F51"/>
                </a:solidFill>
                <a:latin typeface="TT Rounds Condensed Bold"/>
                <a:ea typeface="TT Rounds Condensed Bold"/>
                <a:cs typeface="TT Rounds Condensed Bold"/>
                <a:sym typeface="TT Rounds Condensed Bold"/>
              </a:rPr>
              <a:t>KILL / SCALE  </a:t>
            </a:r>
            <a:r>
              <a:rPr lang="en-US" sz="1650" spc="-10">
                <a:solidFill>
                  <a:srgbClr val="1A2E23"/>
                </a:solidFill>
                <a:latin typeface="TT Rounds Condensed"/>
                <a:ea typeface="TT Rounds Condensed"/>
                <a:cs typeface="TT Rounds Condensed"/>
                <a:sym typeface="TT Rounds Condensed"/>
              </a:rPr>
              <a:t>Pause ad group after €200 spend if ROAS &lt; 1.0×</a:t>
            </a:r>
          </a:p>
        </p:txBody>
      </p:sp>
      <p:grpSp>
        <p:nvGrpSpPr>
          <p:cNvPr name="Group 28" id="28"/>
          <p:cNvGrpSpPr/>
          <p:nvPr/>
        </p:nvGrpSpPr>
        <p:grpSpPr>
          <a:xfrm rot="0">
            <a:off x="9385935" y="2733675"/>
            <a:ext cx="8385810" cy="6396990"/>
            <a:chOff x="0" y="0"/>
            <a:chExt cx="11181080" cy="8529320"/>
          </a:xfrm>
        </p:grpSpPr>
        <p:sp>
          <p:nvSpPr>
            <p:cNvPr name="Freeform 29" id="29"/>
            <p:cNvSpPr/>
            <p:nvPr/>
          </p:nvSpPr>
          <p:spPr>
            <a:xfrm flipH="false" flipV="false" rot="0">
              <a:off x="12700" y="12700"/>
              <a:ext cx="11155680" cy="8503920"/>
            </a:xfrm>
            <a:custGeom>
              <a:avLst/>
              <a:gdLst/>
              <a:ahLst/>
              <a:cxnLst/>
              <a:rect r="r" b="b" t="t" l="l"/>
              <a:pathLst>
                <a:path h="8503920" w="11155680">
                  <a:moveTo>
                    <a:pt x="0" y="0"/>
                  </a:moveTo>
                  <a:lnTo>
                    <a:pt x="11155680" y="0"/>
                  </a:lnTo>
                  <a:lnTo>
                    <a:pt x="11155680" y="8503920"/>
                  </a:lnTo>
                  <a:lnTo>
                    <a:pt x="0" y="8503920"/>
                  </a:lnTo>
                  <a:close/>
                </a:path>
              </a:pathLst>
            </a:custGeom>
            <a:solidFill>
              <a:srgbClr val="F8F9FA"/>
            </a:solidFill>
          </p:spPr>
        </p:sp>
        <p:sp>
          <p:nvSpPr>
            <p:cNvPr name="Freeform 30" id="30"/>
            <p:cNvSpPr/>
            <p:nvPr/>
          </p:nvSpPr>
          <p:spPr>
            <a:xfrm flipH="false" flipV="false" rot="0">
              <a:off x="0" y="0"/>
              <a:ext cx="11181080" cy="8529320"/>
            </a:xfrm>
            <a:custGeom>
              <a:avLst/>
              <a:gdLst/>
              <a:ahLst/>
              <a:cxnLst/>
              <a:rect r="r" b="b" t="t" l="l"/>
              <a:pathLst>
                <a:path h="8529320" w="11181080">
                  <a:moveTo>
                    <a:pt x="12700" y="0"/>
                  </a:moveTo>
                  <a:lnTo>
                    <a:pt x="11168380" y="0"/>
                  </a:lnTo>
                  <a:cubicBezTo>
                    <a:pt x="11175365" y="0"/>
                    <a:pt x="11181080" y="5715"/>
                    <a:pt x="11181080" y="12700"/>
                  </a:cubicBezTo>
                  <a:lnTo>
                    <a:pt x="11181080" y="8516620"/>
                  </a:lnTo>
                  <a:cubicBezTo>
                    <a:pt x="11181080" y="8523605"/>
                    <a:pt x="11175365" y="8529320"/>
                    <a:pt x="11168380" y="8529320"/>
                  </a:cubicBezTo>
                  <a:lnTo>
                    <a:pt x="12700" y="8529320"/>
                  </a:lnTo>
                  <a:cubicBezTo>
                    <a:pt x="5715" y="8529320"/>
                    <a:pt x="0" y="8523605"/>
                    <a:pt x="0" y="8516620"/>
                  </a:cubicBezTo>
                  <a:lnTo>
                    <a:pt x="0" y="12700"/>
                  </a:lnTo>
                  <a:cubicBezTo>
                    <a:pt x="0" y="5715"/>
                    <a:pt x="5715" y="0"/>
                    <a:pt x="12700" y="0"/>
                  </a:cubicBezTo>
                  <a:moveTo>
                    <a:pt x="12700" y="25400"/>
                  </a:moveTo>
                  <a:lnTo>
                    <a:pt x="12700" y="12700"/>
                  </a:lnTo>
                  <a:lnTo>
                    <a:pt x="25400" y="12700"/>
                  </a:lnTo>
                  <a:lnTo>
                    <a:pt x="25400" y="8516620"/>
                  </a:lnTo>
                  <a:lnTo>
                    <a:pt x="12700" y="8516620"/>
                  </a:lnTo>
                  <a:lnTo>
                    <a:pt x="12700" y="8503920"/>
                  </a:lnTo>
                  <a:lnTo>
                    <a:pt x="11168380" y="8503920"/>
                  </a:lnTo>
                  <a:lnTo>
                    <a:pt x="11168380" y="8516620"/>
                  </a:lnTo>
                  <a:lnTo>
                    <a:pt x="11155680" y="8516620"/>
                  </a:lnTo>
                  <a:lnTo>
                    <a:pt x="11155680" y="12700"/>
                  </a:lnTo>
                  <a:lnTo>
                    <a:pt x="11168380" y="12700"/>
                  </a:lnTo>
                  <a:lnTo>
                    <a:pt x="11168380" y="25400"/>
                  </a:lnTo>
                  <a:lnTo>
                    <a:pt x="12700" y="25400"/>
                  </a:lnTo>
                  <a:close/>
                </a:path>
              </a:pathLst>
            </a:custGeom>
            <a:solidFill>
              <a:srgbClr val="E9ECEF"/>
            </a:solidFill>
          </p:spPr>
        </p:sp>
      </p:grpSp>
      <p:grpSp>
        <p:nvGrpSpPr>
          <p:cNvPr name="Group 31" id="31"/>
          <p:cNvGrpSpPr/>
          <p:nvPr/>
        </p:nvGrpSpPr>
        <p:grpSpPr>
          <a:xfrm rot="0">
            <a:off x="9395460" y="2743200"/>
            <a:ext cx="109728" cy="6377940"/>
            <a:chOff x="0" y="0"/>
            <a:chExt cx="146304" cy="8503920"/>
          </a:xfrm>
        </p:grpSpPr>
        <p:sp>
          <p:nvSpPr>
            <p:cNvPr name="Freeform 32" id="32"/>
            <p:cNvSpPr/>
            <p:nvPr/>
          </p:nvSpPr>
          <p:spPr>
            <a:xfrm flipH="false" flipV="false" rot="0">
              <a:off x="0" y="0"/>
              <a:ext cx="146304" cy="8503920"/>
            </a:xfrm>
            <a:custGeom>
              <a:avLst/>
              <a:gdLst/>
              <a:ahLst/>
              <a:cxnLst/>
              <a:rect r="r" b="b" t="t" l="l"/>
              <a:pathLst>
                <a:path h="8503920" w="146304">
                  <a:moveTo>
                    <a:pt x="0" y="0"/>
                  </a:moveTo>
                  <a:lnTo>
                    <a:pt x="146304" y="0"/>
                  </a:lnTo>
                  <a:lnTo>
                    <a:pt x="146304" y="8503920"/>
                  </a:lnTo>
                  <a:lnTo>
                    <a:pt x="0" y="8503920"/>
                  </a:lnTo>
                  <a:close/>
                </a:path>
              </a:pathLst>
            </a:custGeom>
            <a:solidFill>
              <a:srgbClr val="2D6A4F"/>
            </a:solidFill>
          </p:spPr>
        </p:sp>
      </p:grpSp>
      <p:grpSp>
        <p:nvGrpSpPr>
          <p:cNvPr name="Group 33" id="33"/>
          <p:cNvGrpSpPr/>
          <p:nvPr/>
        </p:nvGrpSpPr>
        <p:grpSpPr>
          <a:xfrm rot="0">
            <a:off x="9738360" y="2880360"/>
            <a:ext cx="1371600" cy="411480"/>
            <a:chOff x="0" y="0"/>
            <a:chExt cx="1828800" cy="548640"/>
          </a:xfrm>
        </p:grpSpPr>
        <p:sp>
          <p:nvSpPr>
            <p:cNvPr name="Freeform 34" id="34"/>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3">
                <a:alphaModFix amt="0"/>
              </a:blip>
              <a:stretch>
                <a:fillRect l="0" t="-14950" r="0" b="-14950"/>
              </a:stretch>
            </a:blipFill>
          </p:spPr>
        </p:sp>
        <p:sp>
          <p:nvSpPr>
            <p:cNvPr name="TextBox 35" id="35"/>
            <p:cNvSpPr txBox="true"/>
            <p:nvPr/>
          </p:nvSpPr>
          <p:spPr>
            <a:xfrm>
              <a:off x="0" y="-28575"/>
              <a:ext cx="1828800" cy="577215"/>
            </a:xfrm>
            <a:prstGeom prst="rect">
              <a:avLst/>
            </a:prstGeom>
          </p:spPr>
          <p:txBody>
            <a:bodyPr anchor="ctr" rtlCol="false" tIns="0" lIns="0" bIns="0" rIns="0"/>
            <a:lstStyle/>
            <a:p>
              <a:pPr algn="l">
                <a:lnSpc>
                  <a:spcPts val="1980"/>
                </a:lnSpc>
              </a:pPr>
              <a:r>
                <a:rPr lang="en-US" b="true" sz="1650" spc="300">
                  <a:solidFill>
                    <a:srgbClr val="2D6A4F"/>
                  </a:solidFill>
                  <a:latin typeface="Calibri (MS) Bold"/>
                  <a:ea typeface="Calibri (MS) Bold"/>
                  <a:cs typeface="Calibri (MS) Bold"/>
                  <a:sym typeface="Calibri (MS) Bold"/>
                </a:rPr>
                <a:t>02</a:t>
              </a:r>
            </a:p>
          </p:txBody>
        </p:sp>
      </p:grpSp>
      <p:grpSp>
        <p:nvGrpSpPr>
          <p:cNvPr name="Group 36" id="36"/>
          <p:cNvGrpSpPr/>
          <p:nvPr/>
        </p:nvGrpSpPr>
        <p:grpSpPr>
          <a:xfrm rot="0">
            <a:off x="9738360" y="3291840"/>
            <a:ext cx="7818120" cy="685800"/>
            <a:chOff x="0" y="0"/>
            <a:chExt cx="10424160" cy="914400"/>
          </a:xfrm>
        </p:grpSpPr>
        <p:sp>
          <p:nvSpPr>
            <p:cNvPr name="Freeform 37" id="37"/>
            <p:cNvSpPr/>
            <p:nvPr/>
          </p:nvSpPr>
          <p:spPr>
            <a:xfrm flipH="false" flipV="false" rot="0">
              <a:off x="0" y="0"/>
              <a:ext cx="10424160" cy="914400"/>
            </a:xfrm>
            <a:custGeom>
              <a:avLst/>
              <a:gdLst/>
              <a:ahLst/>
              <a:cxnLst/>
              <a:rect r="r" b="b" t="t" l="l"/>
              <a:pathLst>
                <a:path h="914400" w="10424160">
                  <a:moveTo>
                    <a:pt x="0" y="0"/>
                  </a:moveTo>
                  <a:lnTo>
                    <a:pt x="10424160" y="0"/>
                  </a:lnTo>
                  <a:lnTo>
                    <a:pt x="10424160" y="914400"/>
                  </a:lnTo>
                  <a:lnTo>
                    <a:pt x="0" y="914400"/>
                  </a:lnTo>
                  <a:close/>
                </a:path>
              </a:pathLst>
            </a:custGeom>
            <a:blipFill>
              <a:blip r:embed="rId3">
                <a:alphaModFix amt="0"/>
              </a:blip>
              <a:stretch>
                <a:fillRect l="0" t="-172129" r="0" b="-172129"/>
              </a:stretch>
            </a:blipFill>
          </p:spPr>
        </p:sp>
        <p:sp>
          <p:nvSpPr>
            <p:cNvPr name="TextBox 38" id="38"/>
            <p:cNvSpPr txBox="true"/>
            <p:nvPr/>
          </p:nvSpPr>
          <p:spPr>
            <a:xfrm>
              <a:off x="0" y="0"/>
              <a:ext cx="10424160" cy="914400"/>
            </a:xfrm>
            <a:prstGeom prst="rect">
              <a:avLst/>
            </a:prstGeom>
          </p:spPr>
          <p:txBody>
            <a:bodyPr anchor="ctr" rtlCol="false" tIns="0" lIns="0" bIns="0" rIns="0"/>
            <a:lstStyle/>
            <a:p>
              <a:pPr algn="l">
                <a:lnSpc>
                  <a:spcPts val="3960"/>
                </a:lnSpc>
              </a:pPr>
              <a:r>
                <a:rPr lang="en-US" sz="3300" b="true">
                  <a:solidFill>
                    <a:srgbClr val="1A2E23"/>
                  </a:solidFill>
                  <a:latin typeface="Georgia Bold"/>
                  <a:ea typeface="Georgia Bold"/>
                  <a:cs typeface="Georgia Bold"/>
                  <a:sym typeface="Georgia Bold"/>
                </a:rPr>
                <a:t>Solution-Aware</a:t>
              </a:r>
            </a:p>
          </p:txBody>
        </p:sp>
      </p:grpSp>
      <p:sp>
        <p:nvSpPr>
          <p:cNvPr name="TextBox 39" id="39"/>
          <p:cNvSpPr txBox="true"/>
          <p:nvPr/>
        </p:nvSpPr>
        <p:spPr>
          <a:xfrm rot="0">
            <a:off x="9738360" y="3977640"/>
            <a:ext cx="7818120" cy="754380"/>
          </a:xfrm>
          <a:prstGeom prst="rect">
            <a:avLst/>
          </a:prstGeom>
        </p:spPr>
        <p:txBody>
          <a:bodyPr anchor="t" rtlCol="false" tIns="0" lIns="0" bIns="0" rIns="0">
            <a:spAutoFit/>
          </a:bodyPr>
          <a:lstStyle/>
          <a:p>
            <a:pPr algn="l">
              <a:lnSpc>
                <a:spcPts val="2070"/>
              </a:lnSpc>
            </a:pPr>
            <a:r>
              <a:rPr lang="en-US" sz="1725" i="true" spc="-10">
                <a:solidFill>
                  <a:srgbClr val="1A2E23"/>
                </a:solidFill>
                <a:latin typeface="TT Rounds Condensed Italics"/>
                <a:ea typeface="TT Rounds Condensed Italics"/>
                <a:cs typeface="TT Rounds Condensed Italics"/>
                <a:sym typeface="TT Rounds Condensed Italics"/>
              </a:rPr>
              <a:t>They know they want a dental product. Bigger volume, higher CVR, slightly more expensive clicks.</a:t>
            </a:r>
          </a:p>
        </p:txBody>
      </p:sp>
      <p:grpSp>
        <p:nvGrpSpPr>
          <p:cNvPr name="Group 40" id="40"/>
          <p:cNvGrpSpPr/>
          <p:nvPr/>
        </p:nvGrpSpPr>
        <p:grpSpPr>
          <a:xfrm rot="0">
            <a:off x="9738360" y="4800600"/>
            <a:ext cx="7818120" cy="411480"/>
            <a:chOff x="0" y="0"/>
            <a:chExt cx="10424160" cy="548640"/>
          </a:xfrm>
        </p:grpSpPr>
        <p:sp>
          <p:nvSpPr>
            <p:cNvPr name="Freeform 41" id="41"/>
            <p:cNvSpPr/>
            <p:nvPr/>
          </p:nvSpPr>
          <p:spPr>
            <a:xfrm flipH="false" flipV="false" rot="0">
              <a:off x="0" y="0"/>
              <a:ext cx="10424160" cy="548640"/>
            </a:xfrm>
            <a:custGeom>
              <a:avLst/>
              <a:gdLst/>
              <a:ahLst/>
              <a:cxnLst/>
              <a:rect r="r" b="b" t="t" l="l"/>
              <a:pathLst>
                <a:path h="548640" w="10424160">
                  <a:moveTo>
                    <a:pt x="0" y="0"/>
                  </a:moveTo>
                  <a:lnTo>
                    <a:pt x="10424160" y="0"/>
                  </a:lnTo>
                  <a:lnTo>
                    <a:pt x="10424160" y="548640"/>
                  </a:lnTo>
                  <a:lnTo>
                    <a:pt x="0" y="548640"/>
                  </a:lnTo>
                  <a:close/>
                </a:path>
              </a:pathLst>
            </a:custGeom>
            <a:blipFill>
              <a:blip r:embed="rId3">
                <a:alphaModFix amt="0"/>
              </a:blip>
              <a:stretch>
                <a:fillRect l="0" t="-320215" r="0" b="-320215"/>
              </a:stretch>
            </a:blipFill>
          </p:spPr>
        </p:sp>
        <p:sp>
          <p:nvSpPr>
            <p:cNvPr name="TextBox 42" id="42"/>
            <p:cNvSpPr txBox="true"/>
            <p:nvPr/>
          </p:nvSpPr>
          <p:spPr>
            <a:xfrm>
              <a:off x="0" y="-19050"/>
              <a:ext cx="10424160" cy="567690"/>
            </a:xfrm>
            <a:prstGeom prst="rect">
              <a:avLst/>
            </a:prstGeom>
          </p:spPr>
          <p:txBody>
            <a:bodyPr anchor="ctr" rtlCol="false" tIns="0" lIns="0" bIns="0" rIns="0"/>
            <a:lstStyle/>
            <a:p>
              <a:pPr algn="l">
                <a:lnSpc>
                  <a:spcPts val="1889"/>
                </a:lnSpc>
              </a:pPr>
              <a:r>
                <a:rPr lang="en-US" sz="1575" b="true">
                  <a:solidFill>
                    <a:srgbClr val="1B4332"/>
                  </a:solidFill>
                  <a:latin typeface="Calibri (MS) Bold"/>
                  <a:ea typeface="Calibri (MS) Bold"/>
                  <a:cs typeface="Calibri (MS) Bold"/>
                  <a:sym typeface="Calibri (MS) Bold"/>
                </a:rPr>
                <a:t>55% · €550/day</a:t>
              </a:r>
              <a:r>
                <a:rPr lang="en-US" sz="1575">
                  <a:solidFill>
                    <a:srgbClr val="6C757D"/>
                  </a:solidFill>
                  <a:latin typeface="Calibri (MS)"/>
                  <a:ea typeface="Calibri (MS)"/>
                  <a:cs typeface="Calibri (MS)"/>
                  <a:sym typeface="Calibri (MS)"/>
                </a:rPr>
                <a:t>   ·   NL: CPC €1.22 · CVR 6.5% · ROAS 3.09×</a:t>
              </a:r>
            </a:p>
          </p:txBody>
        </p:sp>
      </p:grpSp>
      <p:sp>
        <p:nvSpPr>
          <p:cNvPr name="TextBox 43" id="43"/>
          <p:cNvSpPr txBox="true"/>
          <p:nvPr/>
        </p:nvSpPr>
        <p:spPr>
          <a:xfrm rot="0">
            <a:off x="9738360" y="5311140"/>
            <a:ext cx="7818120" cy="1958340"/>
          </a:xfrm>
          <a:prstGeom prst="rect">
            <a:avLst/>
          </a:prstGeom>
        </p:spPr>
        <p:txBody>
          <a:bodyPr anchor="t" rtlCol="false" tIns="0" lIns="0" bIns="0" rIns="0">
            <a:spAutoFit/>
          </a:bodyPr>
          <a:lstStyle/>
          <a:p>
            <a:pPr algn="l">
              <a:lnSpc>
                <a:spcPts val="1800"/>
              </a:lnSpc>
            </a:pPr>
            <a:r>
              <a:rPr lang="en-US" sz="1500" b="true">
                <a:solidFill>
                  <a:srgbClr val="1A2E23"/>
                </a:solidFill>
                <a:latin typeface="Calibri (MS) Bold"/>
                <a:ea typeface="Calibri (MS) Bold"/>
                <a:cs typeface="Calibri (MS) Bold"/>
                <a:sym typeface="Calibri (MS) Bold"/>
              </a:rPr>
              <a:t>tannpulver hund</a:t>
            </a:r>
            <a:r>
              <a:rPr lang="en-US" sz="1500" i="true">
                <a:solidFill>
                  <a:srgbClr val="6C757D"/>
                </a:solidFill>
                <a:latin typeface="Calibri (MS) Italics"/>
                <a:ea typeface="Calibri (MS) Italics"/>
                <a:cs typeface="Calibri (MS) Italics"/>
                <a:sym typeface="Calibri (MS) Italics"/>
              </a:rPr>
              <a:t>  tooth powder dog</a:t>
            </a:r>
          </a:p>
          <a:p>
            <a:pPr algn="l">
              <a:lnSpc>
                <a:spcPts val="1800"/>
              </a:lnSpc>
            </a:pPr>
            <a:r>
              <a:rPr lang="en-US" sz="1500" b="true">
                <a:solidFill>
                  <a:srgbClr val="1A2E23"/>
                </a:solidFill>
                <a:latin typeface="Calibri (MS) Bold"/>
                <a:ea typeface="Calibri (MS) Bold"/>
                <a:cs typeface="Calibri (MS) Bold"/>
                <a:sym typeface="Calibri (MS) Bold"/>
              </a:rPr>
              <a:t>dental pulver hund</a:t>
            </a:r>
            <a:r>
              <a:rPr lang="en-US" sz="1500" i="true">
                <a:solidFill>
                  <a:srgbClr val="6C757D"/>
                </a:solidFill>
                <a:latin typeface="Calibri (MS) Italics"/>
                <a:ea typeface="Calibri (MS) Italics"/>
                <a:cs typeface="Calibri (MS) Italics"/>
                <a:sym typeface="Calibri (MS) Italics"/>
              </a:rPr>
              <a:t>  dental powder dog</a:t>
            </a:r>
          </a:p>
          <a:p>
            <a:pPr algn="l">
              <a:lnSpc>
                <a:spcPts val="1800"/>
              </a:lnSpc>
            </a:pPr>
            <a:r>
              <a:rPr lang="en-US" sz="1500" b="true">
                <a:solidFill>
                  <a:srgbClr val="1A2E23"/>
                </a:solidFill>
                <a:latin typeface="Calibri (MS) Bold"/>
                <a:ea typeface="Calibri (MS) Bold"/>
                <a:cs typeface="Calibri (MS) Bold"/>
                <a:sym typeface="Calibri (MS) Bold"/>
              </a:rPr>
              <a:t>beste tannpulver hund</a:t>
            </a:r>
            <a:r>
              <a:rPr lang="en-US" sz="1500" i="true">
                <a:solidFill>
                  <a:srgbClr val="6C757D"/>
                </a:solidFill>
                <a:latin typeface="Calibri (MS) Italics"/>
                <a:ea typeface="Calibri (MS) Italics"/>
                <a:cs typeface="Calibri (MS) Italics"/>
                <a:sym typeface="Calibri (MS) Italics"/>
              </a:rPr>
              <a:t>  best tooth powder dog</a:t>
            </a:r>
          </a:p>
          <a:p>
            <a:pPr algn="l">
              <a:lnSpc>
                <a:spcPts val="1800"/>
              </a:lnSpc>
            </a:pPr>
            <a:r>
              <a:rPr lang="en-US" sz="1500" b="true">
                <a:solidFill>
                  <a:srgbClr val="1A2E23"/>
                </a:solidFill>
                <a:latin typeface="Calibri (MS) Bold"/>
                <a:ea typeface="Calibri (MS) Bold"/>
                <a:cs typeface="Calibri (MS) Bold"/>
                <a:sym typeface="Calibri (MS) Bold"/>
              </a:rPr>
              <a:t>tannpleie hund</a:t>
            </a:r>
            <a:r>
              <a:rPr lang="en-US" sz="1500" i="true">
                <a:solidFill>
                  <a:srgbClr val="6C757D"/>
                </a:solidFill>
                <a:latin typeface="Calibri (MS) Italics"/>
                <a:ea typeface="Calibri (MS) Italics"/>
                <a:cs typeface="Calibri (MS) Italics"/>
                <a:sym typeface="Calibri (MS) Italics"/>
              </a:rPr>
              <a:t>  dental care dog</a:t>
            </a:r>
          </a:p>
          <a:p>
            <a:pPr algn="l">
              <a:lnSpc>
                <a:spcPts val="1800"/>
              </a:lnSpc>
            </a:pPr>
            <a:r>
              <a:rPr lang="en-US" sz="1500" b="true">
                <a:solidFill>
                  <a:srgbClr val="1A2E23"/>
                </a:solidFill>
                <a:latin typeface="Calibri (MS) Bold"/>
                <a:ea typeface="Calibri (MS) Bold"/>
                <a:cs typeface="Calibri (MS) Bold"/>
                <a:sym typeface="Calibri (MS) Bold"/>
              </a:rPr>
              <a:t>tannrens hund</a:t>
            </a:r>
            <a:r>
              <a:rPr lang="en-US" sz="1500" i="true">
                <a:solidFill>
                  <a:srgbClr val="6C757D"/>
                </a:solidFill>
                <a:latin typeface="Calibri (MS) Italics"/>
                <a:ea typeface="Calibri (MS) Italics"/>
                <a:cs typeface="Calibri (MS) Italics"/>
                <a:sym typeface="Calibri (MS) Italics"/>
              </a:rPr>
              <a:t>  teeth cleaning dog</a:t>
            </a:r>
          </a:p>
          <a:p>
            <a:pPr algn="l">
              <a:lnSpc>
                <a:spcPts val="1800"/>
              </a:lnSpc>
            </a:pPr>
            <a:r>
              <a:rPr lang="en-US" sz="1500" b="true">
                <a:solidFill>
                  <a:srgbClr val="1A2E23"/>
                </a:solidFill>
                <a:latin typeface="Calibri (MS) Bold"/>
                <a:ea typeface="Calibri (MS) Bold"/>
                <a:cs typeface="Calibri (MS) Bold"/>
                <a:sym typeface="Calibri (MS) Bold"/>
              </a:rPr>
              <a:t>anti plakk hund</a:t>
            </a:r>
            <a:r>
              <a:rPr lang="en-US" sz="1500" i="true">
                <a:solidFill>
                  <a:srgbClr val="6C757D"/>
                </a:solidFill>
                <a:latin typeface="Calibri (MS) Italics"/>
                <a:ea typeface="Calibri (MS) Italics"/>
                <a:cs typeface="Calibri (MS) Italics"/>
                <a:sym typeface="Calibri (MS) Italics"/>
              </a:rPr>
              <a:t>  anti plaque dog</a:t>
            </a:r>
          </a:p>
        </p:txBody>
      </p:sp>
      <p:sp>
        <p:nvSpPr>
          <p:cNvPr name="TextBox 44" id="44"/>
          <p:cNvSpPr txBox="true"/>
          <p:nvPr/>
        </p:nvSpPr>
        <p:spPr>
          <a:xfrm rot="0">
            <a:off x="9738360" y="7338060"/>
            <a:ext cx="7818120" cy="1645920"/>
          </a:xfrm>
          <a:prstGeom prst="rect">
            <a:avLst/>
          </a:prstGeom>
        </p:spPr>
        <p:txBody>
          <a:bodyPr anchor="t" rtlCol="false" tIns="0" lIns="0" bIns="0" rIns="0">
            <a:spAutoFit/>
          </a:bodyPr>
          <a:lstStyle/>
          <a:p>
            <a:pPr algn="l">
              <a:lnSpc>
                <a:spcPts val="1980"/>
              </a:lnSpc>
            </a:pPr>
            <a:r>
              <a:rPr lang="en-US" b="true" sz="1650" spc="-10">
                <a:solidFill>
                  <a:srgbClr val="E76F51"/>
                </a:solidFill>
                <a:latin typeface="TT Rounds Condensed Bold"/>
                <a:ea typeface="TT Rounds Condensed Bold"/>
                <a:cs typeface="TT Rounds Condensed Bold"/>
                <a:sym typeface="TT Rounds Condensed Bold"/>
              </a:rPr>
              <a:t>STRUCTURE  </a:t>
            </a:r>
            <a:r>
              <a:rPr lang="en-US" sz="1650" spc="-10">
                <a:solidFill>
                  <a:srgbClr val="1A2E23"/>
                </a:solidFill>
                <a:latin typeface="TT Rounds Condensed"/>
                <a:ea typeface="TT Rounds Condensed"/>
                <a:cs typeface="TT Rounds Condensed"/>
                <a:sym typeface="TT Rounds Condensed"/>
              </a:rPr>
              <a:t>Phrase match. 3 ad groups: powder / paste-brush / general care.</a:t>
            </a:r>
          </a:p>
          <a:p>
            <a:pPr algn="l">
              <a:lnSpc>
                <a:spcPts val="719"/>
              </a:lnSpc>
            </a:pPr>
          </a:p>
          <a:p>
            <a:pPr algn="l">
              <a:lnSpc>
                <a:spcPts val="1980"/>
              </a:lnSpc>
            </a:pPr>
          </a:p>
          <a:p>
            <a:pPr algn="l">
              <a:lnSpc>
                <a:spcPts val="1980"/>
              </a:lnSpc>
            </a:pPr>
            <a:r>
              <a:rPr lang="en-US" b="true" sz="1650" spc="-10">
                <a:solidFill>
                  <a:srgbClr val="E76F51"/>
                </a:solidFill>
                <a:latin typeface="TT Rounds Condensed Bold"/>
                <a:ea typeface="TT Rounds Condensed Bold"/>
                <a:cs typeface="TT Rounds Condensed Bold"/>
                <a:sym typeface="TT Rounds Condensed Bold"/>
              </a:rPr>
              <a:t>AD COPY  </a:t>
            </a:r>
            <a:r>
              <a:rPr lang="en-US" sz="1650" spc="-10">
                <a:solidFill>
                  <a:srgbClr val="1A2E23"/>
                </a:solidFill>
                <a:latin typeface="TT Rounds Condensed"/>
                <a:ea typeface="TT Rounds Condensed"/>
                <a:cs typeface="TT Rounds Condensed"/>
                <a:sym typeface="TT Rounds Condensed"/>
              </a:rPr>
              <a:t>First angle: "Tannpulver for hund — 4.6/5 fra 12 000 anmeldelser. Prøv i 30 dager risikofritt."  (trust + risk reversal)</a:t>
            </a:r>
          </a:p>
          <a:p>
            <a:pPr algn="l">
              <a:lnSpc>
                <a:spcPts val="719"/>
              </a:lnSpc>
            </a:pPr>
          </a:p>
          <a:p>
            <a:pPr algn="l">
              <a:lnSpc>
                <a:spcPts val="1980"/>
              </a:lnSpc>
            </a:pPr>
          </a:p>
          <a:p>
            <a:pPr algn="l">
              <a:lnSpc>
                <a:spcPts val="1980"/>
              </a:lnSpc>
            </a:pPr>
            <a:r>
              <a:rPr lang="en-US" b="true" sz="1650" spc="-10">
                <a:solidFill>
                  <a:srgbClr val="E76F51"/>
                </a:solidFill>
                <a:latin typeface="TT Rounds Condensed Bold"/>
                <a:ea typeface="TT Rounds Condensed Bold"/>
                <a:cs typeface="TT Rounds Condensed Bold"/>
                <a:sym typeface="TT Rounds Condensed Bold"/>
              </a:rPr>
              <a:t>KILL / SCALE  </a:t>
            </a:r>
            <a:r>
              <a:rPr lang="en-US" sz="1650" spc="-10">
                <a:solidFill>
                  <a:srgbClr val="1A2E23"/>
                </a:solidFill>
                <a:latin typeface="TT Rounds Condensed"/>
                <a:ea typeface="TT Rounds Condensed"/>
                <a:cs typeface="TT Rounds Condensed"/>
                <a:sym typeface="TT Rounds Condensed"/>
              </a:rPr>
              <a:t>tROAS 2.0× from Day 7 · Kill terms under 1.2× ROAS</a:t>
            </a:r>
          </a:p>
        </p:txBody>
      </p:sp>
      <p:grpSp>
        <p:nvGrpSpPr>
          <p:cNvPr name="Group 45" id="45"/>
          <p:cNvGrpSpPr/>
          <p:nvPr/>
        </p:nvGrpSpPr>
        <p:grpSpPr>
          <a:xfrm rot="0">
            <a:off x="685800" y="9326880"/>
            <a:ext cx="16870680" cy="411480"/>
            <a:chOff x="0" y="0"/>
            <a:chExt cx="22494240" cy="548640"/>
          </a:xfrm>
        </p:grpSpPr>
        <p:sp>
          <p:nvSpPr>
            <p:cNvPr name="Freeform 46" id="46"/>
            <p:cNvSpPr/>
            <p:nvPr/>
          </p:nvSpPr>
          <p:spPr>
            <a:xfrm flipH="false" flipV="false" rot="0">
              <a:off x="0" y="0"/>
              <a:ext cx="22494239" cy="548640"/>
            </a:xfrm>
            <a:custGeom>
              <a:avLst/>
              <a:gdLst/>
              <a:ahLst/>
              <a:cxnLst/>
              <a:rect r="r" b="b" t="t" l="l"/>
              <a:pathLst>
                <a:path h="548640" w="22494239">
                  <a:moveTo>
                    <a:pt x="0" y="0"/>
                  </a:moveTo>
                  <a:lnTo>
                    <a:pt x="22494239" y="0"/>
                  </a:lnTo>
                  <a:lnTo>
                    <a:pt x="22494239" y="548640"/>
                  </a:lnTo>
                  <a:lnTo>
                    <a:pt x="0" y="548640"/>
                  </a:lnTo>
                  <a:close/>
                </a:path>
              </a:pathLst>
            </a:custGeom>
            <a:blipFill>
              <a:blip r:embed="rId3">
                <a:alphaModFix amt="0"/>
              </a:blip>
              <a:stretch>
                <a:fillRect l="0" t="-748886" r="0" b="-748886"/>
              </a:stretch>
            </a:blipFill>
          </p:spPr>
        </p:sp>
        <p:sp>
          <p:nvSpPr>
            <p:cNvPr name="TextBox 47" id="47"/>
            <p:cNvSpPr txBox="true"/>
            <p:nvPr/>
          </p:nvSpPr>
          <p:spPr>
            <a:xfrm>
              <a:off x="0" y="0"/>
              <a:ext cx="22494240" cy="548640"/>
            </a:xfrm>
            <a:prstGeom prst="rect">
              <a:avLst/>
            </a:prstGeom>
          </p:spPr>
          <p:txBody>
            <a:bodyPr anchor="ctr" rtlCol="false" tIns="0" lIns="0" bIns="0" rIns="0"/>
            <a:lstStyle/>
            <a:p>
              <a:pPr algn="l">
                <a:lnSpc>
                  <a:spcPts val="1980"/>
                </a:lnSpc>
              </a:pPr>
              <a:r>
                <a:rPr lang="en-US" sz="1650" i="true" spc="-10">
                  <a:solidFill>
                    <a:srgbClr val="6C757D"/>
                  </a:solidFill>
                  <a:latin typeface="TT Rounds Condensed Italics"/>
                  <a:ea typeface="TT Rounds Condensed Italics"/>
                  <a:cs typeface="TT Rounds Condensed Italics"/>
                  <a:sym typeface="TT Rounds Condensed Italics"/>
                </a:rPr>
                <a:t>Landing page for both: /no/dental-bright with Bokmål copy + Trustpilot widget above the fold before launch.</a:t>
              </a:r>
            </a:p>
          </p:txBody>
        </p:sp>
      </p:grpSp>
      <p:grpSp>
        <p:nvGrpSpPr>
          <p:cNvPr name="Group 48" id="48"/>
          <p:cNvGrpSpPr/>
          <p:nvPr/>
        </p:nvGrpSpPr>
        <p:grpSpPr>
          <a:xfrm rot="0">
            <a:off x="685800" y="9806940"/>
            <a:ext cx="13716000" cy="342900"/>
            <a:chOff x="0" y="0"/>
            <a:chExt cx="18288000" cy="457200"/>
          </a:xfrm>
        </p:grpSpPr>
        <p:sp>
          <p:nvSpPr>
            <p:cNvPr name="Freeform 49" id="49"/>
            <p:cNvSpPr/>
            <p:nvPr/>
          </p:nvSpPr>
          <p:spPr>
            <a:xfrm flipH="false" flipV="false" rot="0">
              <a:off x="0" y="0"/>
              <a:ext cx="18288000" cy="457200"/>
            </a:xfrm>
            <a:custGeom>
              <a:avLst/>
              <a:gdLst/>
              <a:ahLst/>
              <a:cxnLst/>
              <a:rect r="r" b="b" t="t" l="l"/>
              <a:pathLst>
                <a:path h="457200" w="18288000">
                  <a:moveTo>
                    <a:pt x="0" y="0"/>
                  </a:moveTo>
                  <a:lnTo>
                    <a:pt x="18288000" y="0"/>
                  </a:lnTo>
                  <a:lnTo>
                    <a:pt x="18288000" y="457200"/>
                  </a:lnTo>
                  <a:lnTo>
                    <a:pt x="0" y="457200"/>
                  </a:lnTo>
                  <a:close/>
                </a:path>
              </a:pathLst>
            </a:custGeom>
            <a:blipFill>
              <a:blip r:embed="rId3">
                <a:alphaModFix amt="0"/>
              </a:blip>
              <a:stretch>
                <a:fillRect l="0" t="-729401" r="0" b="-729401"/>
              </a:stretch>
            </a:blipFill>
          </p:spPr>
        </p:sp>
        <p:sp>
          <p:nvSpPr>
            <p:cNvPr name="TextBox 50" id="50"/>
            <p:cNvSpPr txBox="true"/>
            <p:nvPr/>
          </p:nvSpPr>
          <p:spPr>
            <a:xfrm>
              <a:off x="0" y="-28575"/>
              <a:ext cx="18288000" cy="485775"/>
            </a:xfrm>
            <a:prstGeom prst="rect">
              <a:avLst/>
            </a:prstGeom>
          </p:spPr>
          <p:txBody>
            <a:bodyPr anchor="ctr" rtlCol="false" tIns="0" lIns="0" bIns="0" rIns="0"/>
            <a:lstStyle/>
            <a:p>
              <a:pPr algn="l">
                <a:lnSpc>
                  <a:spcPts val="1620"/>
                </a:lnSpc>
              </a:pPr>
              <a:r>
                <a:rPr lang="en-US" sz="1350">
                  <a:solidFill>
                    <a:srgbClr val="6C757D"/>
                  </a:solidFill>
                  <a:latin typeface="Calibri (MS)"/>
                  <a:ea typeface="Calibri (MS)"/>
                  <a:cs typeface="Calibri (MS)"/>
                  <a:sym typeface="Calibri (MS)"/>
                </a:rPr>
                <a:t>Dental Bright → Norway  ·  Danil Sysenko  ·  April 2026</a:t>
              </a:r>
            </a:p>
          </p:txBody>
        </p:sp>
      </p:grpSp>
      <p:grpSp>
        <p:nvGrpSpPr>
          <p:cNvPr name="Group 51" id="51"/>
          <p:cNvGrpSpPr/>
          <p:nvPr/>
        </p:nvGrpSpPr>
        <p:grpSpPr>
          <a:xfrm rot="0">
            <a:off x="16870680" y="9806940"/>
            <a:ext cx="822960" cy="342900"/>
            <a:chOff x="0" y="0"/>
            <a:chExt cx="1097280" cy="457200"/>
          </a:xfrm>
        </p:grpSpPr>
        <p:sp>
          <p:nvSpPr>
            <p:cNvPr name="Freeform 52" id="52"/>
            <p:cNvSpPr/>
            <p:nvPr/>
          </p:nvSpPr>
          <p:spPr>
            <a:xfrm flipH="false" flipV="false" rot="0">
              <a:off x="0" y="0"/>
              <a:ext cx="1097280" cy="457200"/>
            </a:xfrm>
            <a:custGeom>
              <a:avLst/>
              <a:gdLst/>
              <a:ahLst/>
              <a:cxnLst/>
              <a:rect r="r" b="b" t="t" l="l"/>
              <a:pathLst>
                <a:path h="457200" w="1097280">
                  <a:moveTo>
                    <a:pt x="0" y="0"/>
                  </a:moveTo>
                  <a:lnTo>
                    <a:pt x="1097280" y="0"/>
                  </a:lnTo>
                  <a:lnTo>
                    <a:pt x="1097280" y="457200"/>
                  </a:lnTo>
                  <a:lnTo>
                    <a:pt x="0" y="457200"/>
                  </a:lnTo>
                  <a:close/>
                </a:path>
              </a:pathLst>
            </a:custGeom>
            <a:blipFill>
              <a:blip r:embed="rId3">
                <a:alphaModFix amt="0"/>
              </a:blip>
              <a:stretch>
                <a:fillRect l="-3459" t="0" r="-3459" b="0"/>
              </a:stretch>
            </a:blipFill>
          </p:spPr>
        </p:sp>
        <p:sp>
          <p:nvSpPr>
            <p:cNvPr name="TextBox 53" id="53"/>
            <p:cNvSpPr txBox="true"/>
            <p:nvPr/>
          </p:nvSpPr>
          <p:spPr>
            <a:xfrm>
              <a:off x="0" y="-28575"/>
              <a:ext cx="1097280" cy="485775"/>
            </a:xfrm>
            <a:prstGeom prst="rect">
              <a:avLst/>
            </a:prstGeom>
          </p:spPr>
          <p:txBody>
            <a:bodyPr anchor="ctr" rtlCol="false" tIns="0" lIns="0" bIns="0" rIns="0"/>
            <a:lstStyle/>
            <a:p>
              <a:pPr algn="r">
                <a:lnSpc>
                  <a:spcPts val="1620"/>
                </a:lnSpc>
              </a:pPr>
              <a:r>
                <a:rPr lang="en-US" sz="1350">
                  <a:solidFill>
                    <a:srgbClr val="6C757D"/>
                  </a:solidFill>
                  <a:latin typeface="Calibri (MS)"/>
                  <a:ea typeface="Calibri (MS)"/>
                  <a:cs typeface="Calibri (MS)"/>
                  <a:sym typeface="Calibri (MS)"/>
                </a:rPr>
                <a:t>5 / 8</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548640"/>
            <a:ext cx="6858000" cy="411480"/>
            <a:chOff x="0" y="0"/>
            <a:chExt cx="9144000" cy="548640"/>
          </a:xfrm>
        </p:grpSpPr>
        <p:sp>
          <p:nvSpPr>
            <p:cNvPr name="Freeform 3" id="3"/>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3">
                <a:alphaModFix amt="0"/>
              </a:blip>
              <a:stretch>
                <a:fillRect l="0" t="-274750" r="0" b="-274750"/>
              </a:stretch>
            </a:blipFill>
          </p:spPr>
        </p:sp>
        <p:sp>
          <p:nvSpPr>
            <p:cNvPr name="TextBox 4" id="4"/>
            <p:cNvSpPr txBox="true"/>
            <p:nvPr/>
          </p:nvSpPr>
          <p:spPr>
            <a:xfrm>
              <a:off x="0" y="-28575"/>
              <a:ext cx="9144000" cy="577215"/>
            </a:xfrm>
            <a:prstGeom prst="rect">
              <a:avLst/>
            </a:prstGeom>
          </p:spPr>
          <p:txBody>
            <a:bodyPr anchor="ctr" rtlCol="false" tIns="0" lIns="0" bIns="0" rIns="0"/>
            <a:lstStyle/>
            <a:p>
              <a:pPr algn="l">
                <a:lnSpc>
                  <a:spcPts val="1980"/>
                </a:lnSpc>
              </a:pPr>
              <a:r>
                <a:rPr lang="en-US" b="true" sz="1650" spc="600">
                  <a:solidFill>
                    <a:srgbClr val="E76F51"/>
                  </a:solidFill>
                  <a:latin typeface="Calibri (MS) Bold"/>
                  <a:ea typeface="Calibri (MS) Bold"/>
                  <a:cs typeface="Calibri (MS) Bold"/>
                  <a:sym typeface="Calibri (MS) Bold"/>
                </a:rPr>
                <a:t>CAMPAIGN 3</a:t>
              </a:r>
            </a:p>
          </p:txBody>
        </p:sp>
      </p:grpSp>
      <p:grpSp>
        <p:nvGrpSpPr>
          <p:cNvPr name="Group 5" id="5"/>
          <p:cNvGrpSpPr/>
          <p:nvPr/>
        </p:nvGrpSpPr>
        <p:grpSpPr>
          <a:xfrm rot="0">
            <a:off x="685800" y="960120"/>
            <a:ext cx="16870680" cy="960120"/>
            <a:chOff x="0" y="0"/>
            <a:chExt cx="22494240" cy="1280160"/>
          </a:xfrm>
        </p:grpSpPr>
        <p:sp>
          <p:nvSpPr>
            <p:cNvPr name="Freeform 6" id="6"/>
            <p:cNvSpPr/>
            <p:nvPr/>
          </p:nvSpPr>
          <p:spPr>
            <a:xfrm flipH="false" flipV="false" rot="0">
              <a:off x="0" y="0"/>
              <a:ext cx="22494239" cy="1280160"/>
            </a:xfrm>
            <a:custGeom>
              <a:avLst/>
              <a:gdLst/>
              <a:ahLst/>
              <a:cxnLst/>
              <a:rect r="r" b="b" t="t" l="l"/>
              <a:pathLst>
                <a:path h="1280160" w="22494239">
                  <a:moveTo>
                    <a:pt x="0" y="0"/>
                  </a:moveTo>
                  <a:lnTo>
                    <a:pt x="22494239" y="0"/>
                  </a:lnTo>
                  <a:lnTo>
                    <a:pt x="22494239" y="1280160"/>
                  </a:lnTo>
                  <a:lnTo>
                    <a:pt x="0" y="1280160"/>
                  </a:lnTo>
                  <a:close/>
                </a:path>
              </a:pathLst>
            </a:custGeom>
            <a:blipFill>
              <a:blip r:embed="rId3">
                <a:alphaModFix amt="0"/>
              </a:blip>
              <a:stretch>
                <a:fillRect l="0" t="-292379" r="0" b="-292379"/>
              </a:stretch>
            </a:blipFill>
          </p:spPr>
        </p:sp>
        <p:sp>
          <p:nvSpPr>
            <p:cNvPr name="TextBox 7" id="7"/>
            <p:cNvSpPr txBox="true"/>
            <p:nvPr/>
          </p:nvSpPr>
          <p:spPr>
            <a:xfrm>
              <a:off x="0" y="-9525"/>
              <a:ext cx="22494240" cy="1289685"/>
            </a:xfrm>
            <a:prstGeom prst="rect">
              <a:avLst/>
            </a:prstGeom>
          </p:spPr>
          <p:txBody>
            <a:bodyPr anchor="ctr" rtlCol="false" tIns="0" lIns="0" bIns="0" rIns="0"/>
            <a:lstStyle/>
            <a:p>
              <a:pPr algn="l">
                <a:lnSpc>
                  <a:spcPts val="6839"/>
                </a:lnSpc>
              </a:pPr>
              <a:r>
                <a:rPr lang="en-US" sz="5700" b="true">
                  <a:solidFill>
                    <a:srgbClr val="1A2E23"/>
                  </a:solidFill>
                  <a:latin typeface="Georgia Bold"/>
                  <a:ea typeface="Georgia Bold"/>
                  <a:cs typeface="Georgia Bold"/>
                  <a:sym typeface="Georgia Bold"/>
                </a:rPr>
                <a:t>DSA: the unknown-unknowns bet</a:t>
              </a:r>
            </a:p>
          </p:txBody>
        </p:sp>
      </p:grpSp>
      <p:sp>
        <p:nvSpPr>
          <p:cNvPr name="TextBox 8" id="8"/>
          <p:cNvSpPr txBox="true"/>
          <p:nvPr/>
        </p:nvSpPr>
        <p:spPr>
          <a:xfrm rot="0">
            <a:off x="685800" y="2253615"/>
            <a:ext cx="9875520" cy="6867525"/>
          </a:xfrm>
          <a:prstGeom prst="rect">
            <a:avLst/>
          </a:prstGeom>
        </p:spPr>
        <p:txBody>
          <a:bodyPr anchor="t" rtlCol="false" tIns="0" lIns="0" bIns="0" rIns="0">
            <a:spAutoFit/>
          </a:bodyPr>
          <a:lstStyle/>
          <a:p>
            <a:pPr algn="l">
              <a:lnSpc>
                <a:spcPts val="2520"/>
              </a:lnSpc>
            </a:pPr>
            <a:r>
              <a:rPr lang="en-US" b="true" sz="2100" spc="-12">
                <a:solidFill>
                  <a:srgbClr val="1B4332"/>
                </a:solidFill>
                <a:latin typeface="TT Rounds Condensed Bold"/>
                <a:ea typeface="TT Rounds Condensed Bold"/>
                <a:cs typeface="TT Rounds Condensed Bold"/>
                <a:sym typeface="TT Rounds Condensed Bold"/>
              </a:rPr>
              <a:t>Why this campaign exists.</a:t>
            </a:r>
          </a:p>
          <a:p>
            <a:pPr algn="l">
              <a:lnSpc>
                <a:spcPts val="1080"/>
              </a:lnSpc>
            </a:pPr>
          </a:p>
          <a:p>
            <a:pPr algn="l">
              <a:lnSpc>
                <a:spcPts val="2340"/>
              </a:lnSpc>
            </a:pPr>
          </a:p>
          <a:p>
            <a:pPr algn="l">
              <a:lnSpc>
                <a:spcPts val="2340"/>
              </a:lnSpc>
            </a:pPr>
            <a:r>
              <a:rPr lang="en-US" sz="1950" spc="-11">
                <a:solidFill>
                  <a:srgbClr val="1A2E23"/>
                </a:solidFill>
                <a:latin typeface="TT Rounds Condensed"/>
                <a:ea typeface="TT Rounds Condensed"/>
                <a:cs typeface="TT Rounds Condensed"/>
                <a:sym typeface="TT Rounds Condensed"/>
              </a:rPr>
              <a:t>My Norwegian comes from 4 hours with Google Translate this weekend. If the dominant NO query is actually </a:t>
            </a:r>
            <a:r>
              <a:rPr lang="en-US" b="true" sz="1950" spc="-11">
                <a:solidFill>
                  <a:srgbClr val="1A2E23"/>
                </a:solidFill>
                <a:latin typeface="TT Rounds Condensed Bold"/>
                <a:ea typeface="TT Rounds Condensed Bold"/>
                <a:cs typeface="TT Rounds Condensed Bold"/>
                <a:sym typeface="TT Rounds Condensed Bold"/>
              </a:rPr>
              <a:t>"tannrens"</a:t>
            </a:r>
            <a:r>
              <a:rPr lang="en-US" sz="1950" spc="-11">
                <a:solidFill>
                  <a:srgbClr val="1A2E23"/>
                </a:solidFill>
                <a:latin typeface="TT Rounds Condensed"/>
                <a:ea typeface="TT Rounds Condensed"/>
                <a:cs typeface="TT Rounds Condensed"/>
                <a:sym typeface="TT Rounds Condensed"/>
              </a:rPr>
              <a:t> and I bid on </a:t>
            </a:r>
            <a:r>
              <a:rPr lang="en-US" b="true" sz="1950" spc="-11">
                <a:solidFill>
                  <a:srgbClr val="1A2E23"/>
                </a:solidFill>
                <a:latin typeface="TT Rounds Condensed Bold"/>
                <a:ea typeface="TT Rounds Condensed Bold"/>
                <a:cs typeface="TT Rounds Condensed Bold"/>
                <a:sym typeface="TT Rounds Condensed Bold"/>
              </a:rPr>
              <a:t>"tannpulver"</a:t>
            </a:r>
            <a:r>
              <a:rPr lang="en-US" sz="1950" spc="-11">
                <a:solidFill>
                  <a:srgbClr val="1A2E23"/>
                </a:solidFill>
                <a:latin typeface="TT Rounds Condensed"/>
                <a:ea typeface="TT Rounds Condensed"/>
                <a:cs typeface="TT Rounds Condensed"/>
                <a:sym typeface="TT Rounds Condensed"/>
              </a:rPr>
              <a:t>, Campaigns 1 and 2 quietly underperform for 3 weeks before anyone notices.</a:t>
            </a:r>
          </a:p>
          <a:p>
            <a:pPr algn="l">
              <a:lnSpc>
                <a:spcPts val="1439"/>
              </a:lnSpc>
            </a:pPr>
          </a:p>
          <a:p>
            <a:pPr algn="l">
              <a:lnSpc>
                <a:spcPts val="2340"/>
              </a:lnSpc>
            </a:pPr>
          </a:p>
          <a:p>
            <a:pPr algn="l">
              <a:lnSpc>
                <a:spcPts val="2340"/>
              </a:lnSpc>
            </a:pPr>
            <a:r>
              <a:rPr lang="en-US" sz="1950" spc="-11">
                <a:solidFill>
                  <a:srgbClr val="1A2E23"/>
                </a:solidFill>
                <a:latin typeface="TT Rounds Condensed"/>
                <a:ea typeface="TT Rounds Condensed"/>
                <a:cs typeface="TT Rounds Condensed"/>
                <a:sym typeface="TT Rounds Condensed"/>
              </a:rPr>
              <a:t>DSA lets Google crawl /no/dental-bright and match queries against the page content. It surfaces the real NO language within 7–10 days. We then promote winners to phrase match and add losers to the negatives list.</a:t>
            </a:r>
          </a:p>
          <a:p>
            <a:pPr algn="l">
              <a:lnSpc>
                <a:spcPts val="1439"/>
              </a:lnSpc>
            </a:pPr>
          </a:p>
          <a:p>
            <a:pPr algn="l">
              <a:lnSpc>
                <a:spcPts val="2340"/>
              </a:lnSpc>
            </a:pPr>
          </a:p>
          <a:p>
            <a:pPr algn="l">
              <a:lnSpc>
                <a:spcPts val="2340"/>
              </a:lnSpc>
            </a:pPr>
            <a:r>
              <a:rPr lang="en-US" b="true" sz="1950" i="true" spc="-11">
                <a:solidFill>
                  <a:srgbClr val="2D6A4F"/>
                </a:solidFill>
                <a:latin typeface="TT Rounds Condensed Bold Italics"/>
                <a:ea typeface="TT Rounds Condensed Bold Italics"/>
                <a:cs typeface="TT Rounds Condensed Bold Italics"/>
                <a:sym typeface="TT Rounds Condensed Bold Italics"/>
              </a:rPr>
              <a:t>It's a 15% budget allocation that de-risks the other 85%.</a:t>
            </a:r>
          </a:p>
        </p:txBody>
      </p:sp>
      <p:grpSp>
        <p:nvGrpSpPr>
          <p:cNvPr name="Group 9" id="9"/>
          <p:cNvGrpSpPr/>
          <p:nvPr/>
        </p:nvGrpSpPr>
        <p:grpSpPr>
          <a:xfrm rot="0">
            <a:off x="11247120" y="2263140"/>
            <a:ext cx="6309360" cy="6858000"/>
            <a:chOff x="0" y="0"/>
            <a:chExt cx="8412480" cy="9144000"/>
          </a:xfrm>
        </p:grpSpPr>
        <p:sp>
          <p:nvSpPr>
            <p:cNvPr name="Freeform 10" id="10"/>
            <p:cNvSpPr/>
            <p:nvPr/>
          </p:nvSpPr>
          <p:spPr>
            <a:xfrm flipH="false" flipV="false" rot="0">
              <a:off x="0" y="0"/>
              <a:ext cx="8412480" cy="9144000"/>
            </a:xfrm>
            <a:custGeom>
              <a:avLst/>
              <a:gdLst/>
              <a:ahLst/>
              <a:cxnLst/>
              <a:rect r="r" b="b" t="t" l="l"/>
              <a:pathLst>
                <a:path h="9144000" w="8412480">
                  <a:moveTo>
                    <a:pt x="0" y="0"/>
                  </a:moveTo>
                  <a:lnTo>
                    <a:pt x="8412480" y="0"/>
                  </a:lnTo>
                  <a:lnTo>
                    <a:pt x="8412480" y="9144000"/>
                  </a:lnTo>
                  <a:lnTo>
                    <a:pt x="0" y="9144000"/>
                  </a:lnTo>
                  <a:close/>
                </a:path>
              </a:pathLst>
            </a:custGeom>
            <a:solidFill>
              <a:srgbClr val="1B4332"/>
            </a:solidFill>
          </p:spPr>
        </p:sp>
      </p:grpSp>
      <p:grpSp>
        <p:nvGrpSpPr>
          <p:cNvPr name="Group 11" id="11"/>
          <p:cNvGrpSpPr/>
          <p:nvPr/>
        </p:nvGrpSpPr>
        <p:grpSpPr>
          <a:xfrm rot="0">
            <a:off x="11658600" y="2537460"/>
            <a:ext cx="5486400" cy="411480"/>
            <a:chOff x="0" y="0"/>
            <a:chExt cx="7315200" cy="548640"/>
          </a:xfrm>
        </p:grpSpPr>
        <p:sp>
          <p:nvSpPr>
            <p:cNvPr name="Freeform 12" id="12"/>
            <p:cNvSpPr/>
            <p:nvPr/>
          </p:nvSpPr>
          <p:spPr>
            <a:xfrm flipH="false" flipV="false" rot="0">
              <a:off x="0" y="0"/>
              <a:ext cx="7315200" cy="548640"/>
            </a:xfrm>
            <a:custGeom>
              <a:avLst/>
              <a:gdLst/>
              <a:ahLst/>
              <a:cxnLst/>
              <a:rect r="r" b="b" t="t" l="l"/>
              <a:pathLst>
                <a:path h="548640" w="7315200">
                  <a:moveTo>
                    <a:pt x="0" y="0"/>
                  </a:moveTo>
                  <a:lnTo>
                    <a:pt x="7315200" y="0"/>
                  </a:lnTo>
                  <a:lnTo>
                    <a:pt x="7315200" y="548640"/>
                  </a:lnTo>
                  <a:lnTo>
                    <a:pt x="0" y="548640"/>
                  </a:lnTo>
                  <a:close/>
                </a:path>
              </a:pathLst>
            </a:custGeom>
            <a:blipFill>
              <a:blip r:embed="rId3">
                <a:alphaModFix amt="0"/>
              </a:blip>
              <a:stretch>
                <a:fillRect l="0" t="-209800" r="0" b="-209800"/>
              </a:stretch>
            </a:blipFill>
          </p:spPr>
        </p:sp>
        <p:sp>
          <p:nvSpPr>
            <p:cNvPr name="TextBox 13" id="13"/>
            <p:cNvSpPr txBox="true"/>
            <p:nvPr/>
          </p:nvSpPr>
          <p:spPr>
            <a:xfrm>
              <a:off x="0" y="-38100"/>
              <a:ext cx="7315200" cy="586740"/>
            </a:xfrm>
            <a:prstGeom prst="rect">
              <a:avLst/>
            </a:prstGeom>
          </p:spPr>
          <p:txBody>
            <a:bodyPr anchor="ctr" rtlCol="false" tIns="0" lIns="0" bIns="0" rIns="0"/>
            <a:lstStyle/>
            <a:p>
              <a:pPr algn="l">
                <a:lnSpc>
                  <a:spcPts val="1800"/>
                </a:lnSpc>
              </a:pPr>
              <a:r>
                <a:rPr lang="en-US" b="true" sz="1500" spc="600">
                  <a:solidFill>
                    <a:srgbClr val="F4A261"/>
                  </a:solidFill>
                  <a:latin typeface="Calibri (MS) Bold"/>
                  <a:ea typeface="Calibri (MS) Bold"/>
                  <a:cs typeface="Calibri (MS) Bold"/>
                  <a:sym typeface="Calibri (MS) Bold"/>
                </a:rPr>
                <a:t>SPEC</a:t>
              </a:r>
            </a:p>
          </p:txBody>
        </p:sp>
      </p:grpSp>
      <p:grpSp>
        <p:nvGrpSpPr>
          <p:cNvPr name="Group 14" id="14"/>
          <p:cNvGrpSpPr/>
          <p:nvPr/>
        </p:nvGrpSpPr>
        <p:grpSpPr>
          <a:xfrm rot="0">
            <a:off x="11658600" y="3017520"/>
            <a:ext cx="5486400" cy="342900"/>
            <a:chOff x="0" y="0"/>
            <a:chExt cx="7315200" cy="457200"/>
          </a:xfrm>
        </p:grpSpPr>
        <p:sp>
          <p:nvSpPr>
            <p:cNvPr name="Freeform 15" id="15"/>
            <p:cNvSpPr/>
            <p:nvPr/>
          </p:nvSpPr>
          <p:spPr>
            <a:xfrm flipH="false" flipV="false" rot="0">
              <a:off x="0" y="0"/>
              <a:ext cx="7315200" cy="457200"/>
            </a:xfrm>
            <a:custGeom>
              <a:avLst/>
              <a:gdLst/>
              <a:ahLst/>
              <a:cxnLst/>
              <a:rect r="r" b="b" t="t" l="l"/>
              <a:pathLst>
                <a:path h="457200" w="7315200">
                  <a:moveTo>
                    <a:pt x="0" y="0"/>
                  </a:moveTo>
                  <a:lnTo>
                    <a:pt x="7315200" y="0"/>
                  </a:lnTo>
                  <a:lnTo>
                    <a:pt x="7315200" y="457200"/>
                  </a:lnTo>
                  <a:lnTo>
                    <a:pt x="0" y="457200"/>
                  </a:lnTo>
                  <a:close/>
                </a:path>
              </a:pathLst>
            </a:custGeom>
            <a:blipFill>
              <a:blip r:embed="rId3">
                <a:alphaModFix amt="0"/>
              </a:blip>
              <a:stretch>
                <a:fillRect l="0" t="-261760" r="0" b="-261760"/>
              </a:stretch>
            </a:blipFill>
          </p:spPr>
        </p:sp>
        <p:sp>
          <p:nvSpPr>
            <p:cNvPr name="TextBox 16" id="16"/>
            <p:cNvSpPr txBox="true"/>
            <p:nvPr/>
          </p:nvSpPr>
          <p:spPr>
            <a:xfrm>
              <a:off x="0" y="-28575"/>
              <a:ext cx="7315200" cy="485775"/>
            </a:xfrm>
            <a:prstGeom prst="rect">
              <a:avLst/>
            </a:prstGeom>
          </p:spPr>
          <p:txBody>
            <a:bodyPr anchor="ctr" rtlCol="false" tIns="0" lIns="0" bIns="0" rIns="0"/>
            <a:lstStyle/>
            <a:p>
              <a:pPr algn="l">
                <a:lnSpc>
                  <a:spcPts val="1620"/>
                </a:lnSpc>
              </a:pPr>
              <a:r>
                <a:rPr lang="en-US" b="true" sz="1350" spc="300">
                  <a:solidFill>
                    <a:srgbClr val="F4A261"/>
                  </a:solidFill>
                  <a:latin typeface="Calibri (MS) Bold"/>
                  <a:ea typeface="Calibri (MS) Bold"/>
                  <a:cs typeface="Calibri (MS) Bold"/>
                  <a:sym typeface="Calibri (MS) Bold"/>
                </a:rPr>
                <a:t>Budget</a:t>
              </a:r>
            </a:p>
          </p:txBody>
        </p:sp>
      </p:grpSp>
      <p:sp>
        <p:nvSpPr>
          <p:cNvPr name="TextBox 17" id="17"/>
          <p:cNvSpPr txBox="true"/>
          <p:nvPr/>
        </p:nvSpPr>
        <p:spPr>
          <a:xfrm rot="0">
            <a:off x="11658600" y="3360420"/>
            <a:ext cx="5486400" cy="617220"/>
          </a:xfrm>
          <a:prstGeom prst="rect">
            <a:avLst/>
          </a:prstGeom>
        </p:spPr>
        <p:txBody>
          <a:bodyPr anchor="t" rtlCol="false" tIns="0" lIns="0" bIns="0" rIns="0">
            <a:spAutoFit/>
          </a:bodyPr>
          <a:lstStyle/>
          <a:p>
            <a:pPr algn="l">
              <a:lnSpc>
                <a:spcPts val="1980"/>
              </a:lnSpc>
            </a:pPr>
            <a:r>
              <a:rPr lang="en-US" sz="1650" spc="-10">
                <a:solidFill>
                  <a:srgbClr val="FFFFFF"/>
                </a:solidFill>
                <a:latin typeface="TT Rounds Condensed"/>
                <a:ea typeface="TT Rounds Condensed"/>
                <a:cs typeface="TT Rounds Condensed"/>
                <a:sym typeface="TT Rounds Condensed"/>
              </a:rPr>
              <a:t>15% · €150/day, capped</a:t>
            </a:r>
          </a:p>
        </p:txBody>
      </p:sp>
      <p:grpSp>
        <p:nvGrpSpPr>
          <p:cNvPr name="Group 18" id="18"/>
          <p:cNvGrpSpPr/>
          <p:nvPr/>
        </p:nvGrpSpPr>
        <p:grpSpPr>
          <a:xfrm rot="0">
            <a:off x="11658600" y="4046220"/>
            <a:ext cx="5486400" cy="342900"/>
            <a:chOff x="0" y="0"/>
            <a:chExt cx="7315200" cy="457200"/>
          </a:xfrm>
        </p:grpSpPr>
        <p:sp>
          <p:nvSpPr>
            <p:cNvPr name="Freeform 19" id="19"/>
            <p:cNvSpPr/>
            <p:nvPr/>
          </p:nvSpPr>
          <p:spPr>
            <a:xfrm flipH="false" flipV="false" rot="0">
              <a:off x="0" y="0"/>
              <a:ext cx="7315200" cy="457200"/>
            </a:xfrm>
            <a:custGeom>
              <a:avLst/>
              <a:gdLst/>
              <a:ahLst/>
              <a:cxnLst/>
              <a:rect r="r" b="b" t="t" l="l"/>
              <a:pathLst>
                <a:path h="457200" w="7315200">
                  <a:moveTo>
                    <a:pt x="0" y="0"/>
                  </a:moveTo>
                  <a:lnTo>
                    <a:pt x="7315200" y="0"/>
                  </a:lnTo>
                  <a:lnTo>
                    <a:pt x="7315200" y="457200"/>
                  </a:lnTo>
                  <a:lnTo>
                    <a:pt x="0" y="457200"/>
                  </a:lnTo>
                  <a:close/>
                </a:path>
              </a:pathLst>
            </a:custGeom>
            <a:blipFill>
              <a:blip r:embed="rId3">
                <a:alphaModFix amt="0"/>
              </a:blip>
              <a:stretch>
                <a:fillRect l="0" t="-261760" r="0" b="-261760"/>
              </a:stretch>
            </a:blipFill>
          </p:spPr>
        </p:sp>
        <p:sp>
          <p:nvSpPr>
            <p:cNvPr name="TextBox 20" id="20"/>
            <p:cNvSpPr txBox="true"/>
            <p:nvPr/>
          </p:nvSpPr>
          <p:spPr>
            <a:xfrm>
              <a:off x="0" y="-28575"/>
              <a:ext cx="7315200" cy="485775"/>
            </a:xfrm>
            <a:prstGeom prst="rect">
              <a:avLst/>
            </a:prstGeom>
          </p:spPr>
          <p:txBody>
            <a:bodyPr anchor="ctr" rtlCol="false" tIns="0" lIns="0" bIns="0" rIns="0"/>
            <a:lstStyle/>
            <a:p>
              <a:pPr algn="l">
                <a:lnSpc>
                  <a:spcPts val="1620"/>
                </a:lnSpc>
              </a:pPr>
              <a:r>
                <a:rPr lang="en-US" b="true" sz="1350" spc="300">
                  <a:solidFill>
                    <a:srgbClr val="F4A261"/>
                  </a:solidFill>
                  <a:latin typeface="Calibri (MS) Bold"/>
                  <a:ea typeface="Calibri (MS) Bold"/>
                  <a:cs typeface="Calibri (MS) Bold"/>
                  <a:sym typeface="Calibri (MS) Bold"/>
                </a:rPr>
                <a:t>Type</a:t>
              </a:r>
            </a:p>
          </p:txBody>
        </p:sp>
      </p:grpSp>
      <p:sp>
        <p:nvSpPr>
          <p:cNvPr name="TextBox 21" id="21"/>
          <p:cNvSpPr txBox="true"/>
          <p:nvPr/>
        </p:nvSpPr>
        <p:spPr>
          <a:xfrm rot="0">
            <a:off x="11658600" y="4389120"/>
            <a:ext cx="5486400" cy="617220"/>
          </a:xfrm>
          <a:prstGeom prst="rect">
            <a:avLst/>
          </a:prstGeom>
        </p:spPr>
        <p:txBody>
          <a:bodyPr anchor="t" rtlCol="false" tIns="0" lIns="0" bIns="0" rIns="0">
            <a:spAutoFit/>
          </a:bodyPr>
          <a:lstStyle/>
          <a:p>
            <a:pPr algn="l">
              <a:lnSpc>
                <a:spcPts val="1980"/>
              </a:lnSpc>
            </a:pPr>
            <a:r>
              <a:rPr lang="en-US" sz="1650" spc="-10">
                <a:solidFill>
                  <a:srgbClr val="FFFFFF"/>
                </a:solidFill>
                <a:latin typeface="TT Rounds Condensed"/>
                <a:ea typeface="TT Rounds Condensed"/>
                <a:cs typeface="TT Rounds Condensed"/>
                <a:sym typeface="TT Rounds Condensed"/>
              </a:rPr>
              <a:t>Dynamic Search Ads — no manual keywords</a:t>
            </a:r>
          </a:p>
        </p:txBody>
      </p:sp>
      <p:grpSp>
        <p:nvGrpSpPr>
          <p:cNvPr name="Group 22" id="22"/>
          <p:cNvGrpSpPr/>
          <p:nvPr/>
        </p:nvGrpSpPr>
        <p:grpSpPr>
          <a:xfrm rot="0">
            <a:off x="11658600" y="5074920"/>
            <a:ext cx="5486400" cy="342900"/>
            <a:chOff x="0" y="0"/>
            <a:chExt cx="7315200" cy="457200"/>
          </a:xfrm>
        </p:grpSpPr>
        <p:sp>
          <p:nvSpPr>
            <p:cNvPr name="Freeform 23" id="23"/>
            <p:cNvSpPr/>
            <p:nvPr/>
          </p:nvSpPr>
          <p:spPr>
            <a:xfrm flipH="false" flipV="false" rot="0">
              <a:off x="0" y="0"/>
              <a:ext cx="7315200" cy="457200"/>
            </a:xfrm>
            <a:custGeom>
              <a:avLst/>
              <a:gdLst/>
              <a:ahLst/>
              <a:cxnLst/>
              <a:rect r="r" b="b" t="t" l="l"/>
              <a:pathLst>
                <a:path h="457200" w="7315200">
                  <a:moveTo>
                    <a:pt x="0" y="0"/>
                  </a:moveTo>
                  <a:lnTo>
                    <a:pt x="7315200" y="0"/>
                  </a:lnTo>
                  <a:lnTo>
                    <a:pt x="7315200" y="457200"/>
                  </a:lnTo>
                  <a:lnTo>
                    <a:pt x="0" y="457200"/>
                  </a:lnTo>
                  <a:close/>
                </a:path>
              </a:pathLst>
            </a:custGeom>
            <a:blipFill>
              <a:blip r:embed="rId3">
                <a:alphaModFix amt="0"/>
              </a:blip>
              <a:stretch>
                <a:fillRect l="0" t="-261760" r="0" b="-261760"/>
              </a:stretch>
            </a:blipFill>
          </p:spPr>
        </p:sp>
        <p:sp>
          <p:nvSpPr>
            <p:cNvPr name="TextBox 24" id="24"/>
            <p:cNvSpPr txBox="true"/>
            <p:nvPr/>
          </p:nvSpPr>
          <p:spPr>
            <a:xfrm>
              <a:off x="0" y="-28575"/>
              <a:ext cx="7315200" cy="485775"/>
            </a:xfrm>
            <a:prstGeom prst="rect">
              <a:avLst/>
            </a:prstGeom>
          </p:spPr>
          <p:txBody>
            <a:bodyPr anchor="ctr" rtlCol="false" tIns="0" lIns="0" bIns="0" rIns="0"/>
            <a:lstStyle/>
            <a:p>
              <a:pPr algn="l">
                <a:lnSpc>
                  <a:spcPts val="1620"/>
                </a:lnSpc>
              </a:pPr>
              <a:r>
                <a:rPr lang="en-US" b="true" sz="1350" spc="300">
                  <a:solidFill>
                    <a:srgbClr val="F4A261"/>
                  </a:solidFill>
                  <a:latin typeface="Calibri (MS) Bold"/>
                  <a:ea typeface="Calibri (MS) Bold"/>
                  <a:cs typeface="Calibri (MS) Bold"/>
                  <a:sym typeface="Calibri (MS) Bold"/>
                </a:rPr>
                <a:t>Targets</a:t>
              </a:r>
            </a:p>
          </p:txBody>
        </p:sp>
      </p:grpSp>
      <p:sp>
        <p:nvSpPr>
          <p:cNvPr name="TextBox 25" id="25"/>
          <p:cNvSpPr txBox="true"/>
          <p:nvPr/>
        </p:nvSpPr>
        <p:spPr>
          <a:xfrm rot="0">
            <a:off x="11658600" y="5417820"/>
            <a:ext cx="5486400" cy="1165860"/>
          </a:xfrm>
          <a:prstGeom prst="rect">
            <a:avLst/>
          </a:prstGeom>
        </p:spPr>
        <p:txBody>
          <a:bodyPr anchor="t" rtlCol="false" tIns="0" lIns="0" bIns="0" rIns="0">
            <a:spAutoFit/>
          </a:bodyPr>
          <a:lstStyle/>
          <a:p>
            <a:pPr algn="l">
              <a:lnSpc>
                <a:spcPts val="1980"/>
              </a:lnSpc>
            </a:pPr>
            <a:r>
              <a:rPr lang="en-US" sz="1650" spc="-10">
                <a:solidFill>
                  <a:srgbClr val="FFFFFF"/>
                </a:solidFill>
                <a:latin typeface="TT Rounds Condensed"/>
                <a:ea typeface="TT Rounds Condensed"/>
                <a:cs typeface="TT Rounds Condensed"/>
                <a:sym typeface="TT Rounds Condensed"/>
              </a:rPr>
              <a:t>/no/ homepage</a:t>
            </a:r>
          </a:p>
          <a:p>
            <a:pPr algn="l">
              <a:lnSpc>
                <a:spcPts val="1980"/>
              </a:lnSpc>
            </a:pPr>
            <a:r>
              <a:rPr lang="en-US" sz="1650" spc="-10">
                <a:solidFill>
                  <a:srgbClr val="FFFFFF"/>
                </a:solidFill>
                <a:latin typeface="TT Rounds Condensed"/>
                <a:ea typeface="TT Rounds Condensed"/>
                <a:cs typeface="TT Rounds Condensed"/>
                <a:sym typeface="TT Rounds Condensed"/>
              </a:rPr>
              <a:t>/no/dental-bright PDP</a:t>
            </a:r>
          </a:p>
          <a:p>
            <a:pPr algn="l">
              <a:lnSpc>
                <a:spcPts val="1980"/>
              </a:lnSpc>
            </a:pPr>
            <a:r>
              <a:rPr lang="en-US" sz="1650" spc="-10">
                <a:solidFill>
                  <a:srgbClr val="FFFFFF"/>
                </a:solidFill>
                <a:latin typeface="TT Rounds Condensed"/>
                <a:ea typeface="TT Rounds Condensed"/>
                <a:cs typeface="TT Rounds Condensed"/>
                <a:sym typeface="TT Rounds Condensed"/>
              </a:rPr>
              <a:t>/no/blog/dental-care</a:t>
            </a:r>
          </a:p>
        </p:txBody>
      </p:sp>
      <p:grpSp>
        <p:nvGrpSpPr>
          <p:cNvPr name="Group 26" id="26"/>
          <p:cNvGrpSpPr/>
          <p:nvPr/>
        </p:nvGrpSpPr>
        <p:grpSpPr>
          <a:xfrm rot="0">
            <a:off x="11658600" y="6652260"/>
            <a:ext cx="5486400" cy="342900"/>
            <a:chOff x="0" y="0"/>
            <a:chExt cx="7315200" cy="457200"/>
          </a:xfrm>
        </p:grpSpPr>
        <p:sp>
          <p:nvSpPr>
            <p:cNvPr name="Freeform 27" id="27"/>
            <p:cNvSpPr/>
            <p:nvPr/>
          </p:nvSpPr>
          <p:spPr>
            <a:xfrm flipH="false" flipV="false" rot="0">
              <a:off x="0" y="0"/>
              <a:ext cx="7315200" cy="457200"/>
            </a:xfrm>
            <a:custGeom>
              <a:avLst/>
              <a:gdLst/>
              <a:ahLst/>
              <a:cxnLst/>
              <a:rect r="r" b="b" t="t" l="l"/>
              <a:pathLst>
                <a:path h="457200" w="7315200">
                  <a:moveTo>
                    <a:pt x="0" y="0"/>
                  </a:moveTo>
                  <a:lnTo>
                    <a:pt x="7315200" y="0"/>
                  </a:lnTo>
                  <a:lnTo>
                    <a:pt x="7315200" y="457200"/>
                  </a:lnTo>
                  <a:lnTo>
                    <a:pt x="0" y="457200"/>
                  </a:lnTo>
                  <a:close/>
                </a:path>
              </a:pathLst>
            </a:custGeom>
            <a:blipFill>
              <a:blip r:embed="rId3">
                <a:alphaModFix amt="0"/>
              </a:blip>
              <a:stretch>
                <a:fillRect l="0" t="-261760" r="0" b="-261760"/>
              </a:stretch>
            </a:blipFill>
          </p:spPr>
        </p:sp>
        <p:sp>
          <p:nvSpPr>
            <p:cNvPr name="TextBox 28" id="28"/>
            <p:cNvSpPr txBox="true"/>
            <p:nvPr/>
          </p:nvSpPr>
          <p:spPr>
            <a:xfrm>
              <a:off x="0" y="-28575"/>
              <a:ext cx="7315200" cy="485775"/>
            </a:xfrm>
            <a:prstGeom prst="rect">
              <a:avLst/>
            </a:prstGeom>
          </p:spPr>
          <p:txBody>
            <a:bodyPr anchor="ctr" rtlCol="false" tIns="0" lIns="0" bIns="0" rIns="0"/>
            <a:lstStyle/>
            <a:p>
              <a:pPr algn="l">
                <a:lnSpc>
                  <a:spcPts val="1620"/>
                </a:lnSpc>
              </a:pPr>
              <a:r>
                <a:rPr lang="en-US" b="true" sz="1350" spc="300">
                  <a:solidFill>
                    <a:srgbClr val="F4A261"/>
                  </a:solidFill>
                  <a:latin typeface="Calibri (MS) Bold"/>
                  <a:ea typeface="Calibri (MS) Bold"/>
                  <a:cs typeface="Calibri (MS) Bold"/>
                  <a:sym typeface="Calibri (MS) Bold"/>
                </a:rPr>
                <a:t>Account-level negatives</a:t>
              </a:r>
            </a:p>
          </p:txBody>
        </p:sp>
      </p:grpSp>
      <p:sp>
        <p:nvSpPr>
          <p:cNvPr name="TextBox 29" id="29"/>
          <p:cNvSpPr txBox="true"/>
          <p:nvPr/>
        </p:nvSpPr>
        <p:spPr>
          <a:xfrm rot="0">
            <a:off x="11658600" y="6995160"/>
            <a:ext cx="5486400" cy="617220"/>
          </a:xfrm>
          <a:prstGeom prst="rect">
            <a:avLst/>
          </a:prstGeom>
        </p:spPr>
        <p:txBody>
          <a:bodyPr anchor="t" rtlCol="false" tIns="0" lIns="0" bIns="0" rIns="0">
            <a:spAutoFit/>
          </a:bodyPr>
          <a:lstStyle/>
          <a:p>
            <a:pPr algn="l">
              <a:lnSpc>
                <a:spcPts val="1980"/>
              </a:lnSpc>
            </a:pPr>
            <a:r>
              <a:rPr lang="en-US" sz="1650" spc="-10">
                <a:solidFill>
                  <a:srgbClr val="FFFFFF"/>
                </a:solidFill>
                <a:latin typeface="TT Rounds Condensed"/>
                <a:ea typeface="TT Rounds Condensed"/>
                <a:cs typeface="TT Rounds Condensed"/>
                <a:sym typeface="TT Rounds Condensed"/>
              </a:rPr>
              <a:t>gratis, diy, katt, hest, veterinær, valp trening  (+ 8 more)</a:t>
            </a:r>
          </a:p>
        </p:txBody>
      </p:sp>
      <p:grpSp>
        <p:nvGrpSpPr>
          <p:cNvPr name="Group 30" id="30"/>
          <p:cNvGrpSpPr/>
          <p:nvPr/>
        </p:nvGrpSpPr>
        <p:grpSpPr>
          <a:xfrm rot="0">
            <a:off x="11658600" y="7680960"/>
            <a:ext cx="5486400" cy="342900"/>
            <a:chOff x="0" y="0"/>
            <a:chExt cx="7315200" cy="457200"/>
          </a:xfrm>
        </p:grpSpPr>
        <p:sp>
          <p:nvSpPr>
            <p:cNvPr name="Freeform 31" id="31"/>
            <p:cNvSpPr/>
            <p:nvPr/>
          </p:nvSpPr>
          <p:spPr>
            <a:xfrm flipH="false" flipV="false" rot="0">
              <a:off x="0" y="0"/>
              <a:ext cx="7315200" cy="457200"/>
            </a:xfrm>
            <a:custGeom>
              <a:avLst/>
              <a:gdLst/>
              <a:ahLst/>
              <a:cxnLst/>
              <a:rect r="r" b="b" t="t" l="l"/>
              <a:pathLst>
                <a:path h="457200" w="7315200">
                  <a:moveTo>
                    <a:pt x="0" y="0"/>
                  </a:moveTo>
                  <a:lnTo>
                    <a:pt x="7315200" y="0"/>
                  </a:lnTo>
                  <a:lnTo>
                    <a:pt x="7315200" y="457200"/>
                  </a:lnTo>
                  <a:lnTo>
                    <a:pt x="0" y="457200"/>
                  </a:lnTo>
                  <a:close/>
                </a:path>
              </a:pathLst>
            </a:custGeom>
            <a:blipFill>
              <a:blip r:embed="rId3">
                <a:alphaModFix amt="0"/>
              </a:blip>
              <a:stretch>
                <a:fillRect l="0" t="-261760" r="0" b="-261760"/>
              </a:stretch>
            </a:blipFill>
          </p:spPr>
        </p:sp>
        <p:sp>
          <p:nvSpPr>
            <p:cNvPr name="TextBox 32" id="32"/>
            <p:cNvSpPr txBox="true"/>
            <p:nvPr/>
          </p:nvSpPr>
          <p:spPr>
            <a:xfrm>
              <a:off x="0" y="-28575"/>
              <a:ext cx="7315200" cy="485775"/>
            </a:xfrm>
            <a:prstGeom prst="rect">
              <a:avLst/>
            </a:prstGeom>
          </p:spPr>
          <p:txBody>
            <a:bodyPr anchor="ctr" rtlCol="false" tIns="0" lIns="0" bIns="0" rIns="0"/>
            <a:lstStyle/>
            <a:p>
              <a:pPr algn="l">
                <a:lnSpc>
                  <a:spcPts val="1620"/>
                </a:lnSpc>
              </a:pPr>
              <a:r>
                <a:rPr lang="en-US" b="true" sz="1350" spc="300">
                  <a:solidFill>
                    <a:srgbClr val="F4A261"/>
                  </a:solidFill>
                  <a:latin typeface="Calibri (MS) Bold"/>
                  <a:ea typeface="Calibri (MS) Bold"/>
                  <a:cs typeface="Calibri (MS) Bold"/>
                  <a:sym typeface="Calibri (MS) Bold"/>
                </a:rPr>
                <a:t>Ad copy</a:t>
              </a:r>
            </a:p>
          </p:txBody>
        </p:sp>
      </p:grpSp>
      <p:sp>
        <p:nvSpPr>
          <p:cNvPr name="TextBox 33" id="33"/>
          <p:cNvSpPr txBox="true"/>
          <p:nvPr/>
        </p:nvSpPr>
        <p:spPr>
          <a:xfrm rot="0">
            <a:off x="11658600" y="8023860"/>
            <a:ext cx="5486400" cy="617220"/>
          </a:xfrm>
          <a:prstGeom prst="rect">
            <a:avLst/>
          </a:prstGeom>
        </p:spPr>
        <p:txBody>
          <a:bodyPr anchor="t" rtlCol="false" tIns="0" lIns="0" bIns="0" rIns="0">
            <a:spAutoFit/>
          </a:bodyPr>
          <a:lstStyle/>
          <a:p>
            <a:pPr algn="l">
              <a:lnSpc>
                <a:spcPts val="1980"/>
              </a:lnSpc>
            </a:pPr>
            <a:r>
              <a:rPr lang="en-US" sz="1650" spc="-10">
                <a:solidFill>
                  <a:srgbClr val="FFFFFF"/>
                </a:solidFill>
                <a:latin typeface="TT Rounds Condensed"/>
                <a:ea typeface="TT Rounds Condensed"/>
                <a:cs typeface="TT Rounds Condensed"/>
                <a:sym typeface="TT Rounds Condensed"/>
              </a:rPr>
              <a:t>Google auto-writes headline from page content. Description: "Naturlig tannpulver. 4.6/5."</a:t>
            </a:r>
          </a:p>
        </p:txBody>
      </p:sp>
      <p:grpSp>
        <p:nvGrpSpPr>
          <p:cNvPr name="Group 34" id="34"/>
          <p:cNvGrpSpPr/>
          <p:nvPr/>
        </p:nvGrpSpPr>
        <p:grpSpPr>
          <a:xfrm rot="0">
            <a:off x="685800" y="9806940"/>
            <a:ext cx="13716000" cy="342900"/>
            <a:chOff x="0" y="0"/>
            <a:chExt cx="18288000" cy="457200"/>
          </a:xfrm>
        </p:grpSpPr>
        <p:sp>
          <p:nvSpPr>
            <p:cNvPr name="Freeform 35" id="35"/>
            <p:cNvSpPr/>
            <p:nvPr/>
          </p:nvSpPr>
          <p:spPr>
            <a:xfrm flipH="false" flipV="false" rot="0">
              <a:off x="0" y="0"/>
              <a:ext cx="18288000" cy="457200"/>
            </a:xfrm>
            <a:custGeom>
              <a:avLst/>
              <a:gdLst/>
              <a:ahLst/>
              <a:cxnLst/>
              <a:rect r="r" b="b" t="t" l="l"/>
              <a:pathLst>
                <a:path h="457200" w="18288000">
                  <a:moveTo>
                    <a:pt x="0" y="0"/>
                  </a:moveTo>
                  <a:lnTo>
                    <a:pt x="18288000" y="0"/>
                  </a:lnTo>
                  <a:lnTo>
                    <a:pt x="18288000" y="457200"/>
                  </a:lnTo>
                  <a:lnTo>
                    <a:pt x="0" y="457200"/>
                  </a:lnTo>
                  <a:close/>
                </a:path>
              </a:pathLst>
            </a:custGeom>
            <a:blipFill>
              <a:blip r:embed="rId3">
                <a:alphaModFix amt="0"/>
              </a:blip>
              <a:stretch>
                <a:fillRect l="0" t="-729401" r="0" b="-729401"/>
              </a:stretch>
            </a:blipFill>
          </p:spPr>
        </p:sp>
        <p:sp>
          <p:nvSpPr>
            <p:cNvPr name="TextBox 36" id="36"/>
            <p:cNvSpPr txBox="true"/>
            <p:nvPr/>
          </p:nvSpPr>
          <p:spPr>
            <a:xfrm>
              <a:off x="0" y="-28575"/>
              <a:ext cx="18288000" cy="485775"/>
            </a:xfrm>
            <a:prstGeom prst="rect">
              <a:avLst/>
            </a:prstGeom>
          </p:spPr>
          <p:txBody>
            <a:bodyPr anchor="ctr" rtlCol="false" tIns="0" lIns="0" bIns="0" rIns="0"/>
            <a:lstStyle/>
            <a:p>
              <a:pPr algn="l">
                <a:lnSpc>
                  <a:spcPts val="1620"/>
                </a:lnSpc>
              </a:pPr>
              <a:r>
                <a:rPr lang="en-US" sz="1350">
                  <a:solidFill>
                    <a:srgbClr val="6C757D"/>
                  </a:solidFill>
                  <a:latin typeface="Calibri (MS)"/>
                  <a:ea typeface="Calibri (MS)"/>
                  <a:cs typeface="Calibri (MS)"/>
                  <a:sym typeface="Calibri (MS)"/>
                </a:rPr>
                <a:t>Dental Bright → Norway  ·  Danil Sysenko  ·  April 2026</a:t>
              </a:r>
            </a:p>
          </p:txBody>
        </p:sp>
      </p:grpSp>
      <p:grpSp>
        <p:nvGrpSpPr>
          <p:cNvPr name="Group 37" id="37"/>
          <p:cNvGrpSpPr/>
          <p:nvPr/>
        </p:nvGrpSpPr>
        <p:grpSpPr>
          <a:xfrm rot="0">
            <a:off x="16870680" y="9806940"/>
            <a:ext cx="822960" cy="342900"/>
            <a:chOff x="0" y="0"/>
            <a:chExt cx="1097280" cy="457200"/>
          </a:xfrm>
        </p:grpSpPr>
        <p:sp>
          <p:nvSpPr>
            <p:cNvPr name="Freeform 38" id="38"/>
            <p:cNvSpPr/>
            <p:nvPr/>
          </p:nvSpPr>
          <p:spPr>
            <a:xfrm flipH="false" flipV="false" rot="0">
              <a:off x="0" y="0"/>
              <a:ext cx="1097280" cy="457200"/>
            </a:xfrm>
            <a:custGeom>
              <a:avLst/>
              <a:gdLst/>
              <a:ahLst/>
              <a:cxnLst/>
              <a:rect r="r" b="b" t="t" l="l"/>
              <a:pathLst>
                <a:path h="457200" w="1097280">
                  <a:moveTo>
                    <a:pt x="0" y="0"/>
                  </a:moveTo>
                  <a:lnTo>
                    <a:pt x="1097280" y="0"/>
                  </a:lnTo>
                  <a:lnTo>
                    <a:pt x="1097280" y="457200"/>
                  </a:lnTo>
                  <a:lnTo>
                    <a:pt x="0" y="457200"/>
                  </a:lnTo>
                  <a:close/>
                </a:path>
              </a:pathLst>
            </a:custGeom>
            <a:blipFill>
              <a:blip r:embed="rId3">
                <a:alphaModFix amt="0"/>
              </a:blip>
              <a:stretch>
                <a:fillRect l="-3459" t="0" r="-3459" b="0"/>
              </a:stretch>
            </a:blipFill>
          </p:spPr>
        </p:sp>
        <p:sp>
          <p:nvSpPr>
            <p:cNvPr name="TextBox 39" id="39"/>
            <p:cNvSpPr txBox="true"/>
            <p:nvPr/>
          </p:nvSpPr>
          <p:spPr>
            <a:xfrm>
              <a:off x="0" y="-28575"/>
              <a:ext cx="1097280" cy="485775"/>
            </a:xfrm>
            <a:prstGeom prst="rect">
              <a:avLst/>
            </a:prstGeom>
          </p:spPr>
          <p:txBody>
            <a:bodyPr anchor="ctr" rtlCol="false" tIns="0" lIns="0" bIns="0" rIns="0"/>
            <a:lstStyle/>
            <a:p>
              <a:pPr algn="r">
                <a:lnSpc>
                  <a:spcPts val="1620"/>
                </a:lnSpc>
              </a:pPr>
              <a:r>
                <a:rPr lang="en-US" sz="1350">
                  <a:solidFill>
                    <a:srgbClr val="6C757D"/>
                  </a:solidFill>
                  <a:latin typeface="Calibri (MS)"/>
                  <a:ea typeface="Calibri (MS)"/>
                  <a:cs typeface="Calibri (MS)"/>
                  <a:sym typeface="Calibri (MS)"/>
                </a:rPr>
                <a:t>6 / 8</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480060"/>
            <a:ext cx="16459200" cy="754380"/>
            <a:chOff x="0" y="0"/>
            <a:chExt cx="21945600" cy="1005840"/>
          </a:xfrm>
        </p:grpSpPr>
        <p:sp>
          <p:nvSpPr>
            <p:cNvPr name="Freeform 3" id="3"/>
            <p:cNvSpPr/>
            <p:nvPr/>
          </p:nvSpPr>
          <p:spPr>
            <a:xfrm flipH="false" flipV="false" rot="0">
              <a:off x="0" y="0"/>
              <a:ext cx="21945600" cy="1005840"/>
            </a:xfrm>
            <a:custGeom>
              <a:avLst/>
              <a:gdLst/>
              <a:ahLst/>
              <a:cxnLst/>
              <a:rect r="r" b="b" t="t" l="l"/>
              <a:pathLst>
                <a:path h="1005840" w="21945600">
                  <a:moveTo>
                    <a:pt x="0" y="0"/>
                  </a:moveTo>
                  <a:lnTo>
                    <a:pt x="21945600" y="0"/>
                  </a:lnTo>
                  <a:lnTo>
                    <a:pt x="21945600" y="1005840"/>
                  </a:lnTo>
                  <a:lnTo>
                    <a:pt x="0" y="1005840"/>
                  </a:lnTo>
                  <a:close/>
                </a:path>
              </a:pathLst>
            </a:custGeom>
            <a:blipFill>
              <a:blip r:embed="rId3">
                <a:alphaModFix amt="0"/>
              </a:blip>
              <a:stretch>
                <a:fillRect l="0" t="-375128" r="0" b="-375128"/>
              </a:stretch>
            </a:blipFill>
          </p:spPr>
        </p:sp>
        <p:sp>
          <p:nvSpPr>
            <p:cNvPr name="TextBox 4" id="4"/>
            <p:cNvSpPr txBox="true"/>
            <p:nvPr/>
          </p:nvSpPr>
          <p:spPr>
            <a:xfrm>
              <a:off x="0" y="-9525"/>
              <a:ext cx="21945600" cy="1015365"/>
            </a:xfrm>
            <a:prstGeom prst="rect">
              <a:avLst/>
            </a:prstGeom>
          </p:spPr>
          <p:txBody>
            <a:bodyPr anchor="ctr" rtlCol="false" tIns="0" lIns="0" bIns="0" rIns="0"/>
            <a:lstStyle/>
            <a:p>
              <a:pPr algn="l">
                <a:lnSpc>
                  <a:spcPts val="6839"/>
                </a:lnSpc>
              </a:pPr>
              <a:r>
                <a:rPr lang="en-US" sz="5700" b="true">
                  <a:solidFill>
                    <a:srgbClr val="1A2E23"/>
                  </a:solidFill>
                  <a:latin typeface="Georgia Bold"/>
                  <a:ea typeface="Georgia Bold"/>
                  <a:cs typeface="Georgia Bold"/>
                  <a:sym typeface="Georgia Bold"/>
                </a:rPr>
                <a:t>4-week ramp to €1k/day</a:t>
              </a:r>
            </a:p>
          </p:txBody>
        </p:sp>
      </p:grpSp>
      <p:grpSp>
        <p:nvGrpSpPr>
          <p:cNvPr name="Group 5" id="5"/>
          <p:cNvGrpSpPr/>
          <p:nvPr/>
        </p:nvGrpSpPr>
        <p:grpSpPr>
          <a:xfrm rot="0">
            <a:off x="685800" y="1303020"/>
            <a:ext cx="16870680" cy="548640"/>
            <a:chOff x="0" y="0"/>
            <a:chExt cx="22494240" cy="731520"/>
          </a:xfrm>
        </p:grpSpPr>
        <p:sp>
          <p:nvSpPr>
            <p:cNvPr name="Freeform 6" id="6"/>
            <p:cNvSpPr/>
            <p:nvPr/>
          </p:nvSpPr>
          <p:spPr>
            <a:xfrm flipH="false" flipV="false" rot="0">
              <a:off x="0" y="0"/>
              <a:ext cx="22494239" cy="731520"/>
            </a:xfrm>
            <a:custGeom>
              <a:avLst/>
              <a:gdLst/>
              <a:ahLst/>
              <a:cxnLst/>
              <a:rect r="r" b="b" t="t" l="l"/>
              <a:pathLst>
                <a:path h="731520" w="22494239">
                  <a:moveTo>
                    <a:pt x="0" y="0"/>
                  </a:moveTo>
                  <a:lnTo>
                    <a:pt x="22494239" y="0"/>
                  </a:lnTo>
                  <a:lnTo>
                    <a:pt x="22494239" y="731520"/>
                  </a:lnTo>
                  <a:lnTo>
                    <a:pt x="0" y="731520"/>
                  </a:lnTo>
                  <a:close/>
                </a:path>
              </a:pathLst>
            </a:custGeom>
            <a:blipFill>
              <a:blip r:embed="rId3">
                <a:alphaModFix amt="0"/>
              </a:blip>
              <a:stretch>
                <a:fillRect l="0" t="-549164" r="0" b="-549164"/>
              </a:stretch>
            </a:blipFill>
          </p:spPr>
        </p:sp>
        <p:sp>
          <p:nvSpPr>
            <p:cNvPr name="TextBox 7" id="7"/>
            <p:cNvSpPr txBox="true"/>
            <p:nvPr/>
          </p:nvSpPr>
          <p:spPr>
            <a:xfrm>
              <a:off x="0" y="-9525"/>
              <a:ext cx="22494240" cy="741045"/>
            </a:xfrm>
            <a:prstGeom prst="rect">
              <a:avLst/>
            </a:prstGeom>
          </p:spPr>
          <p:txBody>
            <a:bodyPr anchor="ctr" rtlCol="false" tIns="0" lIns="0" bIns="0" rIns="0"/>
            <a:lstStyle/>
            <a:p>
              <a:pPr algn="l">
                <a:lnSpc>
                  <a:spcPts val="2879"/>
                </a:lnSpc>
              </a:pPr>
              <a:r>
                <a:rPr lang="en-US" sz="2400" i="true" spc="-14">
                  <a:solidFill>
                    <a:srgbClr val="6C757D"/>
                  </a:solidFill>
                  <a:latin typeface="TT Rounds Condensed Italics"/>
                  <a:ea typeface="TT Rounds Condensed Italics"/>
                  <a:cs typeface="TT Rounds Condensed Italics"/>
                  <a:sym typeface="TT Rounds Condensed Italics"/>
                </a:rPr>
                <a:t>€14,350 spend, €24,913 revenue, blended 1.74×. The dip in Week 2 is the plan, not a risk.</a:t>
              </a:r>
            </a:p>
          </p:txBody>
        </p:sp>
      </p:grpSp>
      <p:grpSp>
        <p:nvGrpSpPr>
          <p:cNvPr name="Group 8" id="8"/>
          <p:cNvGrpSpPr/>
          <p:nvPr/>
        </p:nvGrpSpPr>
        <p:grpSpPr>
          <a:xfrm rot="0">
            <a:off x="685800" y="2125980"/>
            <a:ext cx="10287000" cy="6172200"/>
            <a:chOff x="0" y="0"/>
            <a:chExt cx="13716000" cy="8229600"/>
          </a:xfrm>
        </p:grpSpPr>
        <p:sp>
          <p:nvSpPr>
            <p:cNvPr name="Freeform 9" id="9" descr="repo/output/ramp.png"/>
            <p:cNvSpPr/>
            <p:nvPr/>
          </p:nvSpPr>
          <p:spPr>
            <a:xfrm flipH="false" flipV="false" rot="0">
              <a:off x="0" y="0"/>
              <a:ext cx="13716000" cy="8229600"/>
            </a:xfrm>
            <a:custGeom>
              <a:avLst/>
              <a:gdLst/>
              <a:ahLst/>
              <a:cxnLst/>
              <a:rect r="r" b="b" t="t" l="l"/>
              <a:pathLst>
                <a:path h="8229600" w="13716000">
                  <a:moveTo>
                    <a:pt x="0" y="0"/>
                  </a:moveTo>
                  <a:lnTo>
                    <a:pt x="13716000" y="0"/>
                  </a:lnTo>
                  <a:lnTo>
                    <a:pt x="13716000" y="8229600"/>
                  </a:lnTo>
                  <a:lnTo>
                    <a:pt x="0" y="8229600"/>
                  </a:lnTo>
                  <a:lnTo>
                    <a:pt x="0" y="0"/>
                  </a:lnTo>
                  <a:close/>
                </a:path>
              </a:pathLst>
            </a:custGeom>
            <a:blipFill>
              <a:blip r:embed="rId4"/>
              <a:stretch>
                <a:fillRect l="-201" t="0" r="-201" b="0"/>
              </a:stretch>
            </a:blipFill>
          </p:spPr>
        </p:sp>
      </p:grpSp>
      <p:grpSp>
        <p:nvGrpSpPr>
          <p:cNvPr name="Group 10" id="10"/>
          <p:cNvGrpSpPr/>
          <p:nvPr/>
        </p:nvGrpSpPr>
        <p:grpSpPr>
          <a:xfrm rot="0">
            <a:off x="11384280" y="2125980"/>
            <a:ext cx="6172200" cy="411480"/>
            <a:chOff x="0" y="0"/>
            <a:chExt cx="8229600" cy="548640"/>
          </a:xfrm>
        </p:grpSpPr>
        <p:sp>
          <p:nvSpPr>
            <p:cNvPr name="Freeform 11" id="11"/>
            <p:cNvSpPr/>
            <p:nvPr/>
          </p:nvSpPr>
          <p:spPr>
            <a:xfrm flipH="false" flipV="false" rot="0">
              <a:off x="0" y="0"/>
              <a:ext cx="8229600" cy="548640"/>
            </a:xfrm>
            <a:custGeom>
              <a:avLst/>
              <a:gdLst/>
              <a:ahLst/>
              <a:cxnLst/>
              <a:rect r="r" b="b" t="t" l="l"/>
              <a:pathLst>
                <a:path h="548640" w="8229600">
                  <a:moveTo>
                    <a:pt x="0" y="0"/>
                  </a:moveTo>
                  <a:lnTo>
                    <a:pt x="8229600" y="0"/>
                  </a:lnTo>
                  <a:lnTo>
                    <a:pt x="8229600" y="548640"/>
                  </a:lnTo>
                  <a:lnTo>
                    <a:pt x="0" y="548640"/>
                  </a:lnTo>
                  <a:close/>
                </a:path>
              </a:pathLst>
            </a:custGeom>
            <a:blipFill>
              <a:blip r:embed="rId3">
                <a:alphaModFix amt="0"/>
              </a:blip>
              <a:stretch>
                <a:fillRect l="0" t="-242275" r="0" b="-242275"/>
              </a:stretch>
            </a:blipFill>
          </p:spPr>
        </p:sp>
        <p:sp>
          <p:nvSpPr>
            <p:cNvPr name="TextBox 12" id="12"/>
            <p:cNvSpPr txBox="true"/>
            <p:nvPr/>
          </p:nvSpPr>
          <p:spPr>
            <a:xfrm>
              <a:off x="0" y="-38100"/>
              <a:ext cx="8229600" cy="586740"/>
            </a:xfrm>
            <a:prstGeom prst="rect">
              <a:avLst/>
            </a:prstGeom>
          </p:spPr>
          <p:txBody>
            <a:bodyPr anchor="ctr" rtlCol="false" tIns="0" lIns="0" bIns="0" rIns="0"/>
            <a:lstStyle/>
            <a:p>
              <a:pPr algn="l">
                <a:lnSpc>
                  <a:spcPts val="2160"/>
                </a:lnSpc>
              </a:pPr>
              <a:r>
                <a:rPr lang="en-US" b="true" sz="1800" spc="299">
                  <a:solidFill>
                    <a:srgbClr val="1A2E23"/>
                  </a:solidFill>
                  <a:latin typeface="Calibri (MS) Bold"/>
                  <a:ea typeface="Calibri (MS) Bold"/>
                  <a:cs typeface="Calibri (MS) Bold"/>
                  <a:sym typeface="Calibri (MS) Bold"/>
                </a:rPr>
                <a:t>Week-by-week</a:t>
              </a:r>
            </a:p>
          </p:txBody>
        </p:sp>
      </p:grpSp>
      <p:graphicFrame>
        <p:nvGraphicFramePr>
          <p:cNvPr name="Table 13" id="13"/>
          <p:cNvGraphicFramePr>
            <a:graphicFrameLocks noGrp="true"/>
          </p:cNvGraphicFramePr>
          <p:nvPr/>
        </p:nvGraphicFramePr>
        <p:xfrm>
          <a:off x="11384280" y="2606040"/>
          <a:ext cx="6134100" cy="2857500"/>
        </p:xfrm>
        <a:graphic>
          <a:graphicData uri="http://schemas.openxmlformats.org/drawingml/2006/table">
            <a:tbl>
              <a:tblPr/>
              <a:tblGrid>
                <a:gridCol w="1095909"/>
                <a:gridCol w="1769164"/>
                <a:gridCol w="1769164"/>
                <a:gridCol w="1499862"/>
              </a:tblGrid>
              <a:tr h="476250">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Week</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c>
                  <a:txBody>
                    <a:bodyPr anchor="t" rtlCol="false"/>
                    <a:lstStyle/>
                    <a:p>
                      <a:pPr algn="r">
                        <a:lnSpc>
                          <a:spcPts val="1800"/>
                        </a:lnSpc>
                        <a:defRPr/>
                      </a:pPr>
                      <a:r>
                        <a:rPr lang="en-US" sz="1500" b="true">
                          <a:solidFill>
                            <a:srgbClr val="FFFFFF"/>
                          </a:solidFill>
                          <a:latin typeface="Calibri (MS) Bold"/>
                          <a:ea typeface="Calibri (MS) Bold"/>
                          <a:cs typeface="Calibri (MS) Bold"/>
                          <a:sym typeface="Calibri (MS) Bold"/>
                        </a:rPr>
                        <a:t>Spend</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c>
                  <a:txBody>
                    <a:bodyPr anchor="t" rtlCol="false"/>
                    <a:lstStyle/>
                    <a:p>
                      <a:pPr algn="r">
                        <a:lnSpc>
                          <a:spcPts val="1800"/>
                        </a:lnSpc>
                        <a:defRPr/>
                      </a:pPr>
                      <a:r>
                        <a:rPr lang="en-US" sz="1500" b="true">
                          <a:solidFill>
                            <a:srgbClr val="FFFFFF"/>
                          </a:solidFill>
                          <a:latin typeface="Calibri (MS) Bold"/>
                          <a:ea typeface="Calibri (MS) Bold"/>
                          <a:cs typeface="Calibri (MS) Bold"/>
                          <a:sym typeface="Calibri (MS) Bold"/>
                        </a:rPr>
                        <a:t>Rev.</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c>
                  <a:txBody>
                    <a:bodyPr anchor="t" rtlCol="false"/>
                    <a:lstStyle/>
                    <a:p>
                      <a:pPr algn="r">
                        <a:lnSpc>
                          <a:spcPts val="1800"/>
                        </a:lnSpc>
                        <a:defRPr/>
                      </a:pPr>
                      <a:r>
                        <a:rPr lang="en-US" sz="1500" b="true">
                          <a:solidFill>
                            <a:srgbClr val="FFFFFF"/>
                          </a:solidFill>
                          <a:latin typeface="Calibri (MS) Bold"/>
                          <a:ea typeface="Calibri (MS) Bold"/>
                          <a:cs typeface="Calibri (MS) Bold"/>
                          <a:sym typeface="Calibri (MS) Bold"/>
                        </a:rPr>
                        <a:t>ROAS</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2D6A4F"/>
                    </a:solidFill>
                  </a:tcPr>
                </a:tc>
              </a:tr>
              <a:tr h="476250">
                <a:tc>
                  <a:txBody>
                    <a:bodyPr anchor="t" rtlCol="false"/>
                    <a:lstStyle/>
                    <a:p>
                      <a:pPr algn="l">
                        <a:lnSpc>
                          <a:spcPts val="1800"/>
                        </a:lnSpc>
                        <a:defRPr/>
                      </a:pPr>
                      <a:r>
                        <a:rPr lang="en-US" sz="1500">
                          <a:solidFill>
                            <a:srgbClr val="1A2E23"/>
                          </a:solidFill>
                          <a:latin typeface="Calibri (MS)"/>
                          <a:ea typeface="Calibri (MS)"/>
                          <a:cs typeface="Calibri (MS)"/>
                          <a:sym typeface="Calibri (MS)"/>
                        </a:rPr>
                        <a:t>W1</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a:solidFill>
                            <a:srgbClr val="1A2E23"/>
                          </a:solidFill>
                          <a:latin typeface="Calibri (MS)"/>
                          <a:ea typeface="Calibri (MS)"/>
                          <a:cs typeface="Calibri (MS)"/>
                          <a:sym typeface="Calibri (MS)"/>
                        </a:rPr>
                        <a:t>€1,050</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a:solidFill>
                            <a:srgbClr val="1A2E23"/>
                          </a:solidFill>
                          <a:latin typeface="Calibri (MS)"/>
                          <a:ea typeface="Calibri (MS)"/>
                          <a:cs typeface="Calibri (MS)"/>
                          <a:sym typeface="Calibri (MS)"/>
                        </a:rPr>
                        <a:t>€1,575</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b="true">
                          <a:solidFill>
                            <a:srgbClr val="2D6A4F"/>
                          </a:solidFill>
                          <a:latin typeface="Calibri (MS) Bold"/>
                          <a:ea typeface="Calibri (MS) Bold"/>
                          <a:cs typeface="Calibri (MS) Bold"/>
                          <a:sym typeface="Calibri (MS) Bold"/>
                        </a:rPr>
                        <a:t>1.50×</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r h="476250">
                <a:tc>
                  <a:txBody>
                    <a:bodyPr anchor="t" rtlCol="false"/>
                    <a:lstStyle/>
                    <a:p>
                      <a:pPr algn="l">
                        <a:lnSpc>
                          <a:spcPts val="1800"/>
                        </a:lnSpc>
                        <a:defRPr/>
                      </a:pPr>
                      <a:r>
                        <a:rPr lang="en-US" sz="1500" i="true">
                          <a:solidFill>
                            <a:srgbClr val="E76F51"/>
                          </a:solidFill>
                          <a:latin typeface="Calibri (MS) Italics"/>
                          <a:ea typeface="Calibri (MS) Italics"/>
                          <a:cs typeface="Calibri (MS) Italics"/>
                          <a:sym typeface="Calibri (MS) Italics"/>
                        </a:rPr>
                        <a:t>W2</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a:solidFill>
                            <a:srgbClr val="1A2E23"/>
                          </a:solidFill>
                          <a:latin typeface="Calibri (MS)"/>
                          <a:ea typeface="Calibri (MS)"/>
                          <a:cs typeface="Calibri (MS)"/>
                          <a:sym typeface="Calibri (MS)"/>
                        </a:rPr>
                        <a:t>€2,100</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a:solidFill>
                            <a:srgbClr val="1A2E23"/>
                          </a:solidFill>
                          <a:latin typeface="Calibri (MS)"/>
                          <a:ea typeface="Calibri (MS)"/>
                          <a:cs typeface="Calibri (MS)"/>
                          <a:sym typeface="Calibri (MS)"/>
                        </a:rPr>
                        <a:t>€2,982</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b="true">
                          <a:solidFill>
                            <a:srgbClr val="E76F51"/>
                          </a:solidFill>
                          <a:latin typeface="Calibri (MS) Bold"/>
                          <a:ea typeface="Calibri (MS) Bold"/>
                          <a:cs typeface="Calibri (MS) Bold"/>
                          <a:sym typeface="Calibri (MS) Bold"/>
                        </a:rPr>
                        <a:t>1.42×</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r h="476250">
                <a:tc>
                  <a:txBody>
                    <a:bodyPr anchor="t" rtlCol="false"/>
                    <a:lstStyle/>
                    <a:p>
                      <a:pPr algn="l">
                        <a:lnSpc>
                          <a:spcPts val="1800"/>
                        </a:lnSpc>
                        <a:defRPr/>
                      </a:pPr>
                      <a:r>
                        <a:rPr lang="en-US" sz="1500">
                          <a:solidFill>
                            <a:srgbClr val="1A2E23"/>
                          </a:solidFill>
                          <a:latin typeface="Calibri (MS)"/>
                          <a:ea typeface="Calibri (MS)"/>
                          <a:cs typeface="Calibri (MS)"/>
                          <a:sym typeface="Calibri (MS)"/>
                        </a:rPr>
                        <a:t>W3</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a:solidFill>
                            <a:srgbClr val="1A2E23"/>
                          </a:solidFill>
                          <a:latin typeface="Calibri (MS)"/>
                          <a:ea typeface="Calibri (MS)"/>
                          <a:cs typeface="Calibri (MS)"/>
                          <a:sym typeface="Calibri (MS)"/>
                        </a:rPr>
                        <a:t>€4,200</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a:solidFill>
                            <a:srgbClr val="1A2E23"/>
                          </a:solidFill>
                          <a:latin typeface="Calibri (MS)"/>
                          <a:ea typeface="Calibri (MS)"/>
                          <a:cs typeface="Calibri (MS)"/>
                          <a:sym typeface="Calibri (MS)"/>
                        </a:rPr>
                        <a:t>€7,266</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b="true">
                          <a:solidFill>
                            <a:srgbClr val="2D6A4F"/>
                          </a:solidFill>
                          <a:latin typeface="Calibri (MS) Bold"/>
                          <a:ea typeface="Calibri (MS) Bold"/>
                          <a:cs typeface="Calibri (MS) Bold"/>
                          <a:sym typeface="Calibri (MS) Bold"/>
                        </a:rPr>
                        <a:t>1.73×</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r h="476250">
                <a:tc>
                  <a:txBody>
                    <a:bodyPr anchor="t" rtlCol="false"/>
                    <a:lstStyle/>
                    <a:p>
                      <a:pPr algn="l">
                        <a:lnSpc>
                          <a:spcPts val="1800"/>
                        </a:lnSpc>
                        <a:defRPr/>
                      </a:pPr>
                      <a:r>
                        <a:rPr lang="en-US" sz="1500" b="true">
                          <a:solidFill>
                            <a:srgbClr val="1A2E23"/>
                          </a:solidFill>
                          <a:latin typeface="Calibri (MS) Bold"/>
                          <a:ea typeface="Calibri (MS) Bold"/>
                          <a:cs typeface="Calibri (MS) Bold"/>
                          <a:sym typeface="Calibri (MS) Bold"/>
                        </a:rPr>
                        <a:t>W4</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b="true">
                          <a:solidFill>
                            <a:srgbClr val="1A2E23"/>
                          </a:solidFill>
                          <a:latin typeface="Calibri (MS) Bold"/>
                          <a:ea typeface="Calibri (MS) Bold"/>
                          <a:cs typeface="Calibri (MS) Bold"/>
                          <a:sym typeface="Calibri (MS) Bold"/>
                        </a:rPr>
                        <a:t>€7,000</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b="true">
                          <a:solidFill>
                            <a:srgbClr val="1A2E23"/>
                          </a:solidFill>
                          <a:latin typeface="Calibri (MS) Bold"/>
                          <a:ea typeface="Calibri (MS) Bold"/>
                          <a:cs typeface="Calibri (MS) Bold"/>
                          <a:sym typeface="Calibri (MS) Bold"/>
                        </a:rPr>
                        <a:t>€13,090</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c>
                  <a:txBody>
                    <a:bodyPr anchor="t" rtlCol="false"/>
                    <a:lstStyle/>
                    <a:p>
                      <a:pPr algn="r">
                        <a:lnSpc>
                          <a:spcPts val="1800"/>
                        </a:lnSpc>
                        <a:defRPr/>
                      </a:pPr>
                      <a:r>
                        <a:rPr lang="en-US" sz="1500" b="true">
                          <a:solidFill>
                            <a:srgbClr val="2D6A4F"/>
                          </a:solidFill>
                          <a:latin typeface="Calibri (MS) Bold"/>
                          <a:ea typeface="Calibri (MS) Bold"/>
                          <a:cs typeface="Calibri (MS) Bold"/>
                          <a:sym typeface="Calibri (MS) Bold"/>
                        </a:rPr>
                        <a:t>1.87×</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tcPr>
                </a:tc>
              </a:tr>
              <a:tr h="476250">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Total</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1B4332"/>
                    </a:solidFill>
                  </a:tcPr>
                </a:tc>
                <a:tc>
                  <a:txBody>
                    <a:bodyPr anchor="t" rtlCol="false"/>
                    <a:lstStyle/>
                    <a:p>
                      <a:pPr algn="r">
                        <a:lnSpc>
                          <a:spcPts val="1800"/>
                        </a:lnSpc>
                        <a:defRPr/>
                      </a:pPr>
                      <a:r>
                        <a:rPr lang="en-US" sz="1500" b="true">
                          <a:solidFill>
                            <a:srgbClr val="FFFFFF"/>
                          </a:solidFill>
                          <a:latin typeface="Calibri (MS) Bold"/>
                          <a:ea typeface="Calibri (MS) Bold"/>
                          <a:cs typeface="Calibri (MS) Bold"/>
                          <a:sym typeface="Calibri (MS) Bold"/>
                        </a:rPr>
                        <a:t>€14,350</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1B4332"/>
                    </a:solidFill>
                  </a:tcPr>
                </a:tc>
                <a:tc>
                  <a:txBody>
                    <a:bodyPr anchor="t" rtlCol="false"/>
                    <a:lstStyle/>
                    <a:p>
                      <a:pPr algn="r">
                        <a:lnSpc>
                          <a:spcPts val="1800"/>
                        </a:lnSpc>
                        <a:defRPr/>
                      </a:pPr>
                      <a:r>
                        <a:rPr lang="en-US" sz="1500" b="true">
                          <a:solidFill>
                            <a:srgbClr val="FFFFFF"/>
                          </a:solidFill>
                          <a:latin typeface="Calibri (MS) Bold"/>
                          <a:ea typeface="Calibri (MS) Bold"/>
                          <a:cs typeface="Calibri (MS) Bold"/>
                          <a:sym typeface="Calibri (MS) Bold"/>
                        </a:rPr>
                        <a:t>€24,913</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1B4332"/>
                    </a:solidFill>
                  </a:tcPr>
                </a:tc>
                <a:tc>
                  <a:txBody>
                    <a:bodyPr anchor="t" rtlCol="false"/>
                    <a:lstStyle/>
                    <a:p>
                      <a:pPr algn="r">
                        <a:lnSpc>
                          <a:spcPts val="1800"/>
                        </a:lnSpc>
                        <a:defRPr/>
                      </a:pPr>
                      <a:r>
                        <a:rPr lang="en-US" sz="1500" b="true">
                          <a:solidFill>
                            <a:srgbClr val="FFFFFF"/>
                          </a:solidFill>
                          <a:latin typeface="Calibri (MS) Bold"/>
                          <a:ea typeface="Calibri (MS) Bold"/>
                          <a:cs typeface="Calibri (MS) Bold"/>
                          <a:sym typeface="Calibri (MS) Bold"/>
                        </a:rPr>
                        <a:t>1.74×</a:t>
                      </a:r>
                      <a:endParaRPr lang="en-US" sz="1100"/>
                    </a:p>
                  </a:txBody>
                  <a:tcPr marL="91440" marR="91440" marT="91440" marB="91440" anchor="ctr">
                    <a:lnL cmpd="sng" algn="ctr" cap="flat" w="6350">
                      <a:solidFill>
                        <a:srgbClr val="E9ECEF"/>
                      </a:solidFill>
                      <a:prstDash val="solid"/>
                      <a:round/>
                      <a:headEnd type="none" w="med" len="med"/>
                      <a:tailEnd type="none" w="med" len="med"/>
                    </a:lnL>
                    <a:lnR cmpd="sng" algn="ctr" cap="flat" w="6350">
                      <a:solidFill>
                        <a:srgbClr val="E9ECEF"/>
                      </a:solidFill>
                      <a:prstDash val="solid"/>
                      <a:round/>
                      <a:headEnd type="none" w="med" len="med"/>
                      <a:tailEnd type="none" w="med" len="med"/>
                    </a:lnR>
                    <a:lnT cmpd="sng" algn="ctr" cap="flat" w="6350">
                      <a:solidFill>
                        <a:srgbClr val="E9ECEF"/>
                      </a:solidFill>
                      <a:prstDash val="solid"/>
                      <a:round/>
                      <a:headEnd type="none" w="med" len="med"/>
                      <a:tailEnd type="none" w="med" len="med"/>
                    </a:lnT>
                    <a:lnB cmpd="sng" algn="ctr" cap="flat" w="6350">
                      <a:solidFill>
                        <a:srgbClr val="E9ECEF"/>
                      </a:solidFill>
                      <a:prstDash val="solid"/>
                      <a:round/>
                      <a:headEnd type="none" w="med" len="med"/>
                      <a:tailEnd type="none" w="med" len="med"/>
                    </a:lnB>
                    <a:solidFill>
                      <a:srgbClr val="1B4332"/>
                    </a:solidFill>
                  </a:tcPr>
                </a:tc>
              </a:tr>
            </a:tbl>
          </a:graphicData>
        </a:graphic>
      </p:graphicFrame>
      <p:grpSp>
        <p:nvGrpSpPr>
          <p:cNvPr name="Group 14" id="14"/>
          <p:cNvGrpSpPr/>
          <p:nvPr/>
        </p:nvGrpSpPr>
        <p:grpSpPr>
          <a:xfrm rot="0">
            <a:off x="11374755" y="6231255"/>
            <a:ext cx="6191250" cy="2076450"/>
            <a:chOff x="0" y="0"/>
            <a:chExt cx="8255000" cy="2768600"/>
          </a:xfrm>
        </p:grpSpPr>
        <p:sp>
          <p:nvSpPr>
            <p:cNvPr name="Freeform 15" id="15"/>
            <p:cNvSpPr/>
            <p:nvPr/>
          </p:nvSpPr>
          <p:spPr>
            <a:xfrm flipH="false" flipV="false" rot="0">
              <a:off x="12700" y="12700"/>
              <a:ext cx="8229600" cy="2743200"/>
            </a:xfrm>
            <a:custGeom>
              <a:avLst/>
              <a:gdLst/>
              <a:ahLst/>
              <a:cxnLst/>
              <a:rect r="r" b="b" t="t" l="l"/>
              <a:pathLst>
                <a:path h="2743200" w="8229600">
                  <a:moveTo>
                    <a:pt x="0" y="0"/>
                  </a:moveTo>
                  <a:lnTo>
                    <a:pt x="8229600" y="0"/>
                  </a:lnTo>
                  <a:lnTo>
                    <a:pt x="8229600" y="2743200"/>
                  </a:lnTo>
                  <a:lnTo>
                    <a:pt x="0" y="2743200"/>
                  </a:lnTo>
                  <a:close/>
                </a:path>
              </a:pathLst>
            </a:custGeom>
            <a:solidFill>
              <a:srgbClr val="F8F9FA"/>
            </a:solidFill>
          </p:spPr>
        </p:sp>
        <p:sp>
          <p:nvSpPr>
            <p:cNvPr name="Freeform 16" id="16"/>
            <p:cNvSpPr/>
            <p:nvPr/>
          </p:nvSpPr>
          <p:spPr>
            <a:xfrm flipH="false" flipV="false" rot="0">
              <a:off x="0" y="0"/>
              <a:ext cx="8255000" cy="2768600"/>
            </a:xfrm>
            <a:custGeom>
              <a:avLst/>
              <a:gdLst/>
              <a:ahLst/>
              <a:cxnLst/>
              <a:rect r="r" b="b" t="t" l="l"/>
              <a:pathLst>
                <a:path h="2768600" w="8255000">
                  <a:moveTo>
                    <a:pt x="12700" y="0"/>
                  </a:moveTo>
                  <a:lnTo>
                    <a:pt x="8242300" y="0"/>
                  </a:lnTo>
                  <a:cubicBezTo>
                    <a:pt x="8249285" y="0"/>
                    <a:pt x="8255000" y="5715"/>
                    <a:pt x="8255000" y="12700"/>
                  </a:cubicBezTo>
                  <a:lnTo>
                    <a:pt x="8255000" y="2755900"/>
                  </a:lnTo>
                  <a:cubicBezTo>
                    <a:pt x="8255000" y="2762885"/>
                    <a:pt x="8249285" y="2768600"/>
                    <a:pt x="8242300" y="2768600"/>
                  </a:cubicBezTo>
                  <a:lnTo>
                    <a:pt x="12700" y="2768600"/>
                  </a:lnTo>
                  <a:cubicBezTo>
                    <a:pt x="5715" y="2768600"/>
                    <a:pt x="0" y="2762885"/>
                    <a:pt x="0" y="2755900"/>
                  </a:cubicBezTo>
                  <a:lnTo>
                    <a:pt x="0" y="12700"/>
                  </a:lnTo>
                  <a:cubicBezTo>
                    <a:pt x="0" y="5715"/>
                    <a:pt x="5715" y="0"/>
                    <a:pt x="12700" y="0"/>
                  </a:cubicBezTo>
                  <a:moveTo>
                    <a:pt x="12700" y="25400"/>
                  </a:moveTo>
                  <a:lnTo>
                    <a:pt x="12700" y="12700"/>
                  </a:lnTo>
                  <a:lnTo>
                    <a:pt x="25400" y="12700"/>
                  </a:lnTo>
                  <a:lnTo>
                    <a:pt x="25400" y="2755900"/>
                  </a:lnTo>
                  <a:lnTo>
                    <a:pt x="12700" y="2755900"/>
                  </a:lnTo>
                  <a:lnTo>
                    <a:pt x="12700" y="2743200"/>
                  </a:lnTo>
                  <a:lnTo>
                    <a:pt x="8242300" y="2743200"/>
                  </a:lnTo>
                  <a:lnTo>
                    <a:pt x="8242300" y="2755900"/>
                  </a:lnTo>
                  <a:lnTo>
                    <a:pt x="8229600" y="2755900"/>
                  </a:lnTo>
                  <a:lnTo>
                    <a:pt x="8229600" y="12700"/>
                  </a:lnTo>
                  <a:lnTo>
                    <a:pt x="8242300" y="12700"/>
                  </a:lnTo>
                  <a:lnTo>
                    <a:pt x="8242300" y="25400"/>
                  </a:lnTo>
                  <a:lnTo>
                    <a:pt x="12700" y="25400"/>
                  </a:lnTo>
                  <a:close/>
                </a:path>
              </a:pathLst>
            </a:custGeom>
            <a:solidFill>
              <a:srgbClr val="E9ECEF"/>
            </a:solidFill>
          </p:spPr>
        </p:sp>
      </p:grpSp>
      <p:grpSp>
        <p:nvGrpSpPr>
          <p:cNvPr name="Group 17" id="17"/>
          <p:cNvGrpSpPr/>
          <p:nvPr/>
        </p:nvGrpSpPr>
        <p:grpSpPr>
          <a:xfrm rot="0">
            <a:off x="11384280" y="6240780"/>
            <a:ext cx="82296" cy="2057400"/>
            <a:chOff x="0" y="0"/>
            <a:chExt cx="109728" cy="2743200"/>
          </a:xfrm>
        </p:grpSpPr>
        <p:sp>
          <p:nvSpPr>
            <p:cNvPr name="Freeform 18" id="18"/>
            <p:cNvSpPr/>
            <p:nvPr/>
          </p:nvSpPr>
          <p:spPr>
            <a:xfrm flipH="false" flipV="false" rot="0">
              <a:off x="0" y="0"/>
              <a:ext cx="109728" cy="2743200"/>
            </a:xfrm>
            <a:custGeom>
              <a:avLst/>
              <a:gdLst/>
              <a:ahLst/>
              <a:cxnLst/>
              <a:rect r="r" b="b" t="t" l="l"/>
              <a:pathLst>
                <a:path h="2743200" w="109728">
                  <a:moveTo>
                    <a:pt x="0" y="0"/>
                  </a:moveTo>
                  <a:lnTo>
                    <a:pt x="109728" y="0"/>
                  </a:lnTo>
                  <a:lnTo>
                    <a:pt x="109728" y="2743200"/>
                  </a:lnTo>
                  <a:lnTo>
                    <a:pt x="0" y="2743200"/>
                  </a:lnTo>
                  <a:close/>
                </a:path>
              </a:pathLst>
            </a:custGeom>
            <a:solidFill>
              <a:srgbClr val="E76F51"/>
            </a:solidFill>
          </p:spPr>
        </p:sp>
      </p:grpSp>
      <p:grpSp>
        <p:nvGrpSpPr>
          <p:cNvPr name="Group 19" id="19"/>
          <p:cNvGrpSpPr/>
          <p:nvPr/>
        </p:nvGrpSpPr>
        <p:grpSpPr>
          <a:xfrm rot="0">
            <a:off x="11590020" y="6377940"/>
            <a:ext cx="5760720" cy="411480"/>
            <a:chOff x="0" y="0"/>
            <a:chExt cx="7680960" cy="548640"/>
          </a:xfrm>
        </p:grpSpPr>
        <p:sp>
          <p:nvSpPr>
            <p:cNvPr name="Freeform 20" id="20"/>
            <p:cNvSpPr/>
            <p:nvPr/>
          </p:nvSpPr>
          <p:spPr>
            <a:xfrm flipH="false" flipV="false" rot="0">
              <a:off x="0" y="0"/>
              <a:ext cx="7680960" cy="548640"/>
            </a:xfrm>
            <a:custGeom>
              <a:avLst/>
              <a:gdLst/>
              <a:ahLst/>
              <a:cxnLst/>
              <a:rect r="r" b="b" t="t" l="l"/>
              <a:pathLst>
                <a:path h="548640" w="7680960">
                  <a:moveTo>
                    <a:pt x="0" y="0"/>
                  </a:moveTo>
                  <a:lnTo>
                    <a:pt x="7680960" y="0"/>
                  </a:lnTo>
                  <a:lnTo>
                    <a:pt x="7680960" y="548640"/>
                  </a:lnTo>
                  <a:lnTo>
                    <a:pt x="0" y="548640"/>
                  </a:lnTo>
                  <a:close/>
                </a:path>
              </a:pathLst>
            </a:custGeom>
            <a:blipFill>
              <a:blip r:embed="rId3">
                <a:alphaModFix amt="0"/>
              </a:blip>
              <a:stretch>
                <a:fillRect l="0" t="-222790" r="0" b="-222790"/>
              </a:stretch>
            </a:blipFill>
          </p:spPr>
        </p:sp>
        <p:sp>
          <p:nvSpPr>
            <p:cNvPr name="TextBox 21" id="21"/>
            <p:cNvSpPr txBox="true"/>
            <p:nvPr/>
          </p:nvSpPr>
          <p:spPr>
            <a:xfrm>
              <a:off x="0" y="-38100"/>
              <a:ext cx="7680960" cy="586740"/>
            </a:xfrm>
            <a:prstGeom prst="rect">
              <a:avLst/>
            </a:prstGeom>
          </p:spPr>
          <p:txBody>
            <a:bodyPr anchor="ctr" rtlCol="false" tIns="0" lIns="0" bIns="0" rIns="0"/>
            <a:lstStyle/>
            <a:p>
              <a:pPr algn="l">
                <a:lnSpc>
                  <a:spcPts val="1800"/>
                </a:lnSpc>
              </a:pPr>
              <a:r>
                <a:rPr lang="en-US" b="true" sz="1500" spc="450">
                  <a:solidFill>
                    <a:srgbClr val="E76F51"/>
                  </a:solidFill>
                  <a:latin typeface="Calibri (MS) Bold"/>
                  <a:ea typeface="Calibri (MS) Bold"/>
                  <a:cs typeface="Calibri (MS) Bold"/>
                  <a:sym typeface="Calibri (MS) Bold"/>
                </a:rPr>
                <a:t>WHY W2 DIPS</a:t>
              </a:r>
            </a:p>
          </p:txBody>
        </p:sp>
      </p:grpSp>
      <p:sp>
        <p:nvSpPr>
          <p:cNvPr name="TextBox 22" id="22"/>
          <p:cNvSpPr txBox="true"/>
          <p:nvPr/>
        </p:nvSpPr>
        <p:spPr>
          <a:xfrm rot="0">
            <a:off x="11590020" y="6779895"/>
            <a:ext cx="5760720" cy="1449705"/>
          </a:xfrm>
          <a:prstGeom prst="rect">
            <a:avLst/>
          </a:prstGeom>
        </p:spPr>
        <p:txBody>
          <a:bodyPr anchor="t" rtlCol="false" tIns="0" lIns="0" bIns="0" rIns="0">
            <a:spAutoFit/>
          </a:bodyPr>
          <a:lstStyle/>
          <a:p>
            <a:pPr algn="l">
              <a:lnSpc>
                <a:spcPts val="1889"/>
              </a:lnSpc>
            </a:pPr>
            <a:r>
              <a:rPr lang="en-US" sz="1575" spc="-9">
                <a:solidFill>
                  <a:srgbClr val="1A2E23"/>
                </a:solidFill>
                <a:latin typeface="TT Rounds Condensed"/>
                <a:ea typeface="TT Rounds Condensed"/>
                <a:cs typeface="TT Rounds Condensed"/>
                <a:sym typeface="TT Rounds Condensed"/>
              </a:rPr>
              <a:t>W1 runs tight on the 12 highest-intent keywords. W2 we double spend and add long-tail variants to learn — mix shifts toward lower-CVR terms, so ROAS dips even as revenue grows. In W3 we cut what didn't work. Without the dip there's no signal.</a:t>
            </a:r>
          </a:p>
        </p:txBody>
      </p:sp>
      <p:grpSp>
        <p:nvGrpSpPr>
          <p:cNvPr name="Group 23" id="23"/>
          <p:cNvGrpSpPr/>
          <p:nvPr/>
        </p:nvGrpSpPr>
        <p:grpSpPr>
          <a:xfrm rot="0">
            <a:off x="685800" y="8641080"/>
            <a:ext cx="16870680" cy="891540"/>
            <a:chOff x="0" y="0"/>
            <a:chExt cx="22494240" cy="1188720"/>
          </a:xfrm>
        </p:grpSpPr>
        <p:sp>
          <p:nvSpPr>
            <p:cNvPr name="Freeform 24" id="24"/>
            <p:cNvSpPr/>
            <p:nvPr/>
          </p:nvSpPr>
          <p:spPr>
            <a:xfrm flipH="false" flipV="false" rot="0">
              <a:off x="0" y="0"/>
              <a:ext cx="22494239" cy="1188720"/>
            </a:xfrm>
            <a:custGeom>
              <a:avLst/>
              <a:gdLst/>
              <a:ahLst/>
              <a:cxnLst/>
              <a:rect r="r" b="b" t="t" l="l"/>
              <a:pathLst>
                <a:path h="1188720" w="22494239">
                  <a:moveTo>
                    <a:pt x="0" y="0"/>
                  </a:moveTo>
                  <a:lnTo>
                    <a:pt x="22494239" y="0"/>
                  </a:lnTo>
                  <a:lnTo>
                    <a:pt x="22494239" y="1188720"/>
                  </a:lnTo>
                  <a:lnTo>
                    <a:pt x="0" y="1188720"/>
                  </a:lnTo>
                  <a:close/>
                </a:path>
              </a:pathLst>
            </a:custGeom>
            <a:solidFill>
              <a:srgbClr val="1B4332"/>
            </a:solidFill>
          </p:spPr>
        </p:sp>
      </p:grpSp>
      <p:grpSp>
        <p:nvGrpSpPr>
          <p:cNvPr name="Group 25" id="25"/>
          <p:cNvGrpSpPr/>
          <p:nvPr/>
        </p:nvGrpSpPr>
        <p:grpSpPr>
          <a:xfrm rot="0">
            <a:off x="1028700" y="8709660"/>
            <a:ext cx="16459200" cy="754380"/>
            <a:chOff x="0" y="0"/>
            <a:chExt cx="21945600" cy="1005840"/>
          </a:xfrm>
        </p:grpSpPr>
        <p:sp>
          <p:nvSpPr>
            <p:cNvPr name="Freeform 26" id="26"/>
            <p:cNvSpPr/>
            <p:nvPr/>
          </p:nvSpPr>
          <p:spPr>
            <a:xfrm flipH="false" flipV="false" rot="0">
              <a:off x="0" y="0"/>
              <a:ext cx="21945600" cy="1005840"/>
            </a:xfrm>
            <a:custGeom>
              <a:avLst/>
              <a:gdLst/>
              <a:ahLst/>
              <a:cxnLst/>
              <a:rect r="r" b="b" t="t" l="l"/>
              <a:pathLst>
                <a:path h="1005840" w="21945600">
                  <a:moveTo>
                    <a:pt x="0" y="0"/>
                  </a:moveTo>
                  <a:lnTo>
                    <a:pt x="21945600" y="0"/>
                  </a:lnTo>
                  <a:lnTo>
                    <a:pt x="21945600" y="1005840"/>
                  </a:lnTo>
                  <a:lnTo>
                    <a:pt x="0" y="1005840"/>
                  </a:lnTo>
                  <a:close/>
                </a:path>
              </a:pathLst>
            </a:custGeom>
            <a:blipFill>
              <a:blip r:embed="rId3">
                <a:alphaModFix amt="0"/>
              </a:blip>
              <a:stretch>
                <a:fillRect l="0" t="-375128" r="0" b="-375128"/>
              </a:stretch>
            </a:blipFill>
          </p:spPr>
        </p:sp>
        <p:sp>
          <p:nvSpPr>
            <p:cNvPr name="TextBox 27" id="27"/>
            <p:cNvSpPr txBox="true"/>
            <p:nvPr/>
          </p:nvSpPr>
          <p:spPr>
            <a:xfrm>
              <a:off x="0" y="0"/>
              <a:ext cx="21945600" cy="1005840"/>
            </a:xfrm>
            <a:prstGeom prst="rect">
              <a:avLst/>
            </a:prstGeom>
          </p:spPr>
          <p:txBody>
            <a:bodyPr anchor="ctr" rtlCol="false" tIns="0" lIns="0" bIns="0" rIns="0"/>
            <a:lstStyle/>
            <a:p>
              <a:pPr algn="l">
                <a:lnSpc>
                  <a:spcPts val="2160"/>
                </a:lnSpc>
              </a:pPr>
              <a:r>
                <a:rPr lang="en-US" b="true" sz="1800" spc="-10">
                  <a:solidFill>
                    <a:srgbClr val="F4A261"/>
                  </a:solidFill>
                  <a:latin typeface="TT Rounds Condensed Bold"/>
                  <a:ea typeface="TT Rounds Condensed Bold"/>
                  <a:cs typeface="TT Rounds Condensed Bold"/>
                  <a:sym typeface="TT Rounds Condensed Bold"/>
                </a:rPr>
                <a:t>Break-even sits at CVR 3.5%.  </a:t>
              </a:r>
              <a:r>
                <a:rPr lang="en-US" sz="1800" spc="-10">
                  <a:solidFill>
                    <a:srgbClr val="FFFFFF"/>
                  </a:solidFill>
                  <a:latin typeface="TT Rounds Condensed"/>
                  <a:ea typeface="TT Rounds Condensed"/>
                  <a:cs typeface="TT Rounds Condensed"/>
                  <a:sym typeface="TT Rounds Condensed"/>
                </a:rPr>
                <a:t>Baseline assumes 4.2% (a 25% haircut vs NL). Even if NO CVR lands 40% below NL we still clear the 1.5× target — which is why the plan starts at €150/day, not €1,000.</a:t>
              </a:r>
            </a:p>
          </p:txBody>
        </p:sp>
      </p:grpSp>
      <p:grpSp>
        <p:nvGrpSpPr>
          <p:cNvPr name="Group 28" id="28"/>
          <p:cNvGrpSpPr/>
          <p:nvPr/>
        </p:nvGrpSpPr>
        <p:grpSpPr>
          <a:xfrm rot="0">
            <a:off x="685800" y="9806940"/>
            <a:ext cx="13716000" cy="342900"/>
            <a:chOff x="0" y="0"/>
            <a:chExt cx="18288000" cy="457200"/>
          </a:xfrm>
        </p:grpSpPr>
        <p:sp>
          <p:nvSpPr>
            <p:cNvPr name="Freeform 29" id="29"/>
            <p:cNvSpPr/>
            <p:nvPr/>
          </p:nvSpPr>
          <p:spPr>
            <a:xfrm flipH="false" flipV="false" rot="0">
              <a:off x="0" y="0"/>
              <a:ext cx="18288000" cy="457200"/>
            </a:xfrm>
            <a:custGeom>
              <a:avLst/>
              <a:gdLst/>
              <a:ahLst/>
              <a:cxnLst/>
              <a:rect r="r" b="b" t="t" l="l"/>
              <a:pathLst>
                <a:path h="457200" w="18288000">
                  <a:moveTo>
                    <a:pt x="0" y="0"/>
                  </a:moveTo>
                  <a:lnTo>
                    <a:pt x="18288000" y="0"/>
                  </a:lnTo>
                  <a:lnTo>
                    <a:pt x="18288000" y="457200"/>
                  </a:lnTo>
                  <a:lnTo>
                    <a:pt x="0" y="457200"/>
                  </a:lnTo>
                  <a:close/>
                </a:path>
              </a:pathLst>
            </a:custGeom>
            <a:blipFill>
              <a:blip r:embed="rId3">
                <a:alphaModFix amt="0"/>
              </a:blip>
              <a:stretch>
                <a:fillRect l="0" t="-729401" r="0" b="-729401"/>
              </a:stretch>
            </a:blipFill>
          </p:spPr>
        </p:sp>
        <p:sp>
          <p:nvSpPr>
            <p:cNvPr name="TextBox 30" id="30"/>
            <p:cNvSpPr txBox="true"/>
            <p:nvPr/>
          </p:nvSpPr>
          <p:spPr>
            <a:xfrm>
              <a:off x="0" y="-28575"/>
              <a:ext cx="18288000" cy="485775"/>
            </a:xfrm>
            <a:prstGeom prst="rect">
              <a:avLst/>
            </a:prstGeom>
          </p:spPr>
          <p:txBody>
            <a:bodyPr anchor="ctr" rtlCol="false" tIns="0" lIns="0" bIns="0" rIns="0"/>
            <a:lstStyle/>
            <a:p>
              <a:pPr algn="l">
                <a:lnSpc>
                  <a:spcPts val="1620"/>
                </a:lnSpc>
              </a:pPr>
              <a:r>
                <a:rPr lang="en-US" sz="1350">
                  <a:solidFill>
                    <a:srgbClr val="6C757D"/>
                  </a:solidFill>
                  <a:latin typeface="Calibri (MS)"/>
                  <a:ea typeface="Calibri (MS)"/>
                  <a:cs typeface="Calibri (MS)"/>
                  <a:sym typeface="Calibri (MS)"/>
                </a:rPr>
                <a:t>Dental Bright → Norway  ·  Danil Sysenko  ·  April 2026</a:t>
              </a:r>
            </a:p>
          </p:txBody>
        </p:sp>
      </p:grpSp>
      <p:grpSp>
        <p:nvGrpSpPr>
          <p:cNvPr name="Group 31" id="31"/>
          <p:cNvGrpSpPr/>
          <p:nvPr/>
        </p:nvGrpSpPr>
        <p:grpSpPr>
          <a:xfrm rot="0">
            <a:off x="16870680" y="9806940"/>
            <a:ext cx="822960" cy="342900"/>
            <a:chOff x="0" y="0"/>
            <a:chExt cx="1097280" cy="457200"/>
          </a:xfrm>
        </p:grpSpPr>
        <p:sp>
          <p:nvSpPr>
            <p:cNvPr name="Freeform 32" id="32"/>
            <p:cNvSpPr/>
            <p:nvPr/>
          </p:nvSpPr>
          <p:spPr>
            <a:xfrm flipH="false" flipV="false" rot="0">
              <a:off x="0" y="0"/>
              <a:ext cx="1097280" cy="457200"/>
            </a:xfrm>
            <a:custGeom>
              <a:avLst/>
              <a:gdLst/>
              <a:ahLst/>
              <a:cxnLst/>
              <a:rect r="r" b="b" t="t" l="l"/>
              <a:pathLst>
                <a:path h="457200" w="1097280">
                  <a:moveTo>
                    <a:pt x="0" y="0"/>
                  </a:moveTo>
                  <a:lnTo>
                    <a:pt x="1097280" y="0"/>
                  </a:lnTo>
                  <a:lnTo>
                    <a:pt x="1097280" y="457200"/>
                  </a:lnTo>
                  <a:lnTo>
                    <a:pt x="0" y="457200"/>
                  </a:lnTo>
                  <a:close/>
                </a:path>
              </a:pathLst>
            </a:custGeom>
            <a:blipFill>
              <a:blip r:embed="rId3">
                <a:alphaModFix amt="0"/>
              </a:blip>
              <a:stretch>
                <a:fillRect l="-3459" t="0" r="-3459" b="0"/>
              </a:stretch>
            </a:blipFill>
          </p:spPr>
        </p:sp>
        <p:sp>
          <p:nvSpPr>
            <p:cNvPr name="TextBox 33" id="33"/>
            <p:cNvSpPr txBox="true"/>
            <p:nvPr/>
          </p:nvSpPr>
          <p:spPr>
            <a:xfrm>
              <a:off x="0" y="-28575"/>
              <a:ext cx="1097280" cy="485775"/>
            </a:xfrm>
            <a:prstGeom prst="rect">
              <a:avLst/>
            </a:prstGeom>
          </p:spPr>
          <p:txBody>
            <a:bodyPr anchor="ctr" rtlCol="false" tIns="0" lIns="0" bIns="0" rIns="0"/>
            <a:lstStyle/>
            <a:p>
              <a:pPr algn="r">
                <a:lnSpc>
                  <a:spcPts val="1620"/>
                </a:lnSpc>
              </a:pPr>
              <a:r>
                <a:rPr lang="en-US" sz="1350">
                  <a:solidFill>
                    <a:srgbClr val="6C757D"/>
                  </a:solidFill>
                  <a:latin typeface="Calibri (MS)"/>
                  <a:ea typeface="Calibri (MS)"/>
                  <a:cs typeface="Calibri (MS)"/>
                  <a:sym typeface="Calibri (MS)"/>
                </a:rPr>
                <a:t>7 / 8</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480060"/>
            <a:ext cx="16870680" cy="754380"/>
            <a:chOff x="0" y="0"/>
            <a:chExt cx="22494240" cy="1005840"/>
          </a:xfrm>
        </p:grpSpPr>
        <p:sp>
          <p:nvSpPr>
            <p:cNvPr name="Freeform 3" id="3"/>
            <p:cNvSpPr/>
            <p:nvPr/>
          </p:nvSpPr>
          <p:spPr>
            <a:xfrm flipH="false" flipV="false" rot="0">
              <a:off x="0" y="0"/>
              <a:ext cx="22494239" cy="1005840"/>
            </a:xfrm>
            <a:custGeom>
              <a:avLst/>
              <a:gdLst/>
              <a:ahLst/>
              <a:cxnLst/>
              <a:rect r="r" b="b" t="t" l="l"/>
              <a:pathLst>
                <a:path h="1005840" w="22494239">
                  <a:moveTo>
                    <a:pt x="0" y="0"/>
                  </a:moveTo>
                  <a:lnTo>
                    <a:pt x="22494239" y="0"/>
                  </a:lnTo>
                  <a:lnTo>
                    <a:pt x="22494239" y="1005840"/>
                  </a:lnTo>
                  <a:lnTo>
                    <a:pt x="0" y="1005840"/>
                  </a:lnTo>
                  <a:close/>
                </a:path>
              </a:pathLst>
            </a:custGeom>
            <a:blipFill>
              <a:blip r:embed="rId3">
                <a:alphaModFix amt="0"/>
              </a:blip>
              <a:stretch>
                <a:fillRect l="0" t="-385756" r="0" b="-385756"/>
              </a:stretch>
            </a:blipFill>
          </p:spPr>
        </p:sp>
        <p:sp>
          <p:nvSpPr>
            <p:cNvPr name="TextBox 4" id="4"/>
            <p:cNvSpPr txBox="true"/>
            <p:nvPr/>
          </p:nvSpPr>
          <p:spPr>
            <a:xfrm>
              <a:off x="0" y="-9525"/>
              <a:ext cx="22494240" cy="1015365"/>
            </a:xfrm>
            <a:prstGeom prst="rect">
              <a:avLst/>
            </a:prstGeom>
          </p:spPr>
          <p:txBody>
            <a:bodyPr anchor="ctr" rtlCol="false" tIns="0" lIns="0" bIns="0" rIns="0"/>
            <a:lstStyle/>
            <a:p>
              <a:pPr algn="l">
                <a:lnSpc>
                  <a:spcPts val="6120"/>
                </a:lnSpc>
              </a:pPr>
              <a:r>
                <a:rPr lang="en-US" sz="5100" b="true">
                  <a:solidFill>
                    <a:srgbClr val="1A2E23"/>
                  </a:solidFill>
                  <a:latin typeface="Georgia Bold"/>
                  <a:ea typeface="Georgia Bold"/>
                  <a:cs typeface="Georgia Bold"/>
                  <a:sym typeface="Georgia Bold"/>
                </a:rPr>
                <a:t>What could kill this, and what I'd build first</a:t>
              </a:r>
            </a:p>
          </p:txBody>
        </p:sp>
      </p:grpSp>
      <p:grpSp>
        <p:nvGrpSpPr>
          <p:cNvPr name="Group 5" id="5"/>
          <p:cNvGrpSpPr/>
          <p:nvPr/>
        </p:nvGrpSpPr>
        <p:grpSpPr>
          <a:xfrm rot="0">
            <a:off x="685800" y="1303020"/>
            <a:ext cx="16870680" cy="548640"/>
            <a:chOff x="0" y="0"/>
            <a:chExt cx="22494240" cy="731520"/>
          </a:xfrm>
        </p:grpSpPr>
        <p:sp>
          <p:nvSpPr>
            <p:cNvPr name="Freeform 6" id="6"/>
            <p:cNvSpPr/>
            <p:nvPr/>
          </p:nvSpPr>
          <p:spPr>
            <a:xfrm flipH="false" flipV="false" rot="0">
              <a:off x="0" y="0"/>
              <a:ext cx="22494239" cy="731520"/>
            </a:xfrm>
            <a:custGeom>
              <a:avLst/>
              <a:gdLst/>
              <a:ahLst/>
              <a:cxnLst/>
              <a:rect r="r" b="b" t="t" l="l"/>
              <a:pathLst>
                <a:path h="731520" w="22494239">
                  <a:moveTo>
                    <a:pt x="0" y="0"/>
                  </a:moveTo>
                  <a:lnTo>
                    <a:pt x="22494239" y="0"/>
                  </a:lnTo>
                  <a:lnTo>
                    <a:pt x="22494239" y="731520"/>
                  </a:lnTo>
                  <a:lnTo>
                    <a:pt x="0" y="731520"/>
                  </a:lnTo>
                  <a:close/>
                </a:path>
              </a:pathLst>
            </a:custGeom>
            <a:blipFill>
              <a:blip r:embed="rId3">
                <a:alphaModFix amt="0"/>
              </a:blip>
              <a:stretch>
                <a:fillRect l="0" t="-549164" r="0" b="-549164"/>
              </a:stretch>
            </a:blipFill>
          </p:spPr>
        </p:sp>
        <p:sp>
          <p:nvSpPr>
            <p:cNvPr name="TextBox 7" id="7"/>
            <p:cNvSpPr txBox="true"/>
            <p:nvPr/>
          </p:nvSpPr>
          <p:spPr>
            <a:xfrm>
              <a:off x="0" y="-9525"/>
              <a:ext cx="22494240" cy="741045"/>
            </a:xfrm>
            <a:prstGeom prst="rect">
              <a:avLst/>
            </a:prstGeom>
          </p:spPr>
          <p:txBody>
            <a:bodyPr anchor="ctr" rtlCol="false" tIns="0" lIns="0" bIns="0" rIns="0"/>
            <a:lstStyle/>
            <a:p>
              <a:pPr algn="l">
                <a:lnSpc>
                  <a:spcPts val="2700"/>
                </a:lnSpc>
              </a:pPr>
              <a:r>
                <a:rPr lang="en-US" sz="2250" i="true" spc="-13">
                  <a:solidFill>
                    <a:srgbClr val="6C757D"/>
                  </a:solidFill>
                  <a:latin typeface="TT Rounds Condensed Italics"/>
                  <a:ea typeface="TT Rounds Condensed Italics"/>
                  <a:cs typeface="TT Rounds Condensed Italics"/>
                  <a:sym typeface="TT Rounds Condensed Italics"/>
                </a:rPr>
                <a:t>Three risks I can name. One automation I'd commit to in Week 1. The rest waits until data earns it.</a:t>
              </a:r>
            </a:p>
          </p:txBody>
        </p:sp>
      </p:grpSp>
      <p:grpSp>
        <p:nvGrpSpPr>
          <p:cNvPr name="Group 8" id="8"/>
          <p:cNvGrpSpPr/>
          <p:nvPr/>
        </p:nvGrpSpPr>
        <p:grpSpPr>
          <a:xfrm rot="0">
            <a:off x="685800" y="2263140"/>
            <a:ext cx="548640" cy="548640"/>
            <a:chOff x="0" y="0"/>
            <a:chExt cx="731520" cy="731520"/>
          </a:xfrm>
        </p:grpSpPr>
        <p:sp>
          <p:nvSpPr>
            <p:cNvPr name="Freeform 9" id="9"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10" id="10"/>
          <p:cNvGrpSpPr/>
          <p:nvPr/>
        </p:nvGrpSpPr>
        <p:grpSpPr>
          <a:xfrm rot="0">
            <a:off x="1371600" y="2331720"/>
            <a:ext cx="6858000" cy="548640"/>
            <a:chOff x="0" y="0"/>
            <a:chExt cx="9144000" cy="731520"/>
          </a:xfrm>
        </p:grpSpPr>
        <p:sp>
          <p:nvSpPr>
            <p:cNvPr name="Freeform 11" id="11"/>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562" r="0" b="-193562"/>
              </a:stretch>
            </a:blipFill>
          </p:spPr>
        </p:sp>
        <p:sp>
          <p:nvSpPr>
            <p:cNvPr name="TextBox 12" id="12"/>
            <p:cNvSpPr txBox="true"/>
            <p:nvPr/>
          </p:nvSpPr>
          <p:spPr>
            <a:xfrm>
              <a:off x="0" y="-19050"/>
              <a:ext cx="9144000" cy="750570"/>
            </a:xfrm>
            <a:prstGeom prst="rect">
              <a:avLst/>
            </a:prstGeom>
          </p:spPr>
          <p:txBody>
            <a:bodyPr anchor="ctr" rtlCol="false" tIns="0" lIns="0" bIns="0" rIns="0"/>
            <a:lstStyle/>
            <a:p>
              <a:pPr algn="l">
                <a:lnSpc>
                  <a:spcPts val="3240"/>
                </a:lnSpc>
              </a:pPr>
              <a:r>
                <a:rPr lang="en-US" sz="2700" b="true">
                  <a:solidFill>
                    <a:srgbClr val="1A2E23"/>
                  </a:solidFill>
                  <a:latin typeface="Georgia Bold"/>
                  <a:ea typeface="Georgia Bold"/>
                  <a:cs typeface="Georgia Bold"/>
                  <a:sym typeface="Georgia Bold"/>
                </a:rPr>
                <a:t>Three things that break it</a:t>
              </a:r>
            </a:p>
          </p:txBody>
        </p:sp>
      </p:grpSp>
      <p:grpSp>
        <p:nvGrpSpPr>
          <p:cNvPr name="Group 13" id="13"/>
          <p:cNvGrpSpPr/>
          <p:nvPr/>
        </p:nvGrpSpPr>
        <p:grpSpPr>
          <a:xfrm rot="0">
            <a:off x="685800" y="3086100"/>
            <a:ext cx="82296" cy="1851660"/>
            <a:chOff x="0" y="0"/>
            <a:chExt cx="109728" cy="2468880"/>
          </a:xfrm>
        </p:grpSpPr>
        <p:sp>
          <p:nvSpPr>
            <p:cNvPr name="Freeform 14" id="14"/>
            <p:cNvSpPr/>
            <p:nvPr/>
          </p:nvSpPr>
          <p:spPr>
            <a:xfrm flipH="false" flipV="false" rot="0">
              <a:off x="0" y="0"/>
              <a:ext cx="109728" cy="2468880"/>
            </a:xfrm>
            <a:custGeom>
              <a:avLst/>
              <a:gdLst/>
              <a:ahLst/>
              <a:cxnLst/>
              <a:rect r="r" b="b" t="t" l="l"/>
              <a:pathLst>
                <a:path h="2468880" w="109728">
                  <a:moveTo>
                    <a:pt x="0" y="0"/>
                  </a:moveTo>
                  <a:lnTo>
                    <a:pt x="109728" y="0"/>
                  </a:lnTo>
                  <a:lnTo>
                    <a:pt x="109728" y="2468880"/>
                  </a:lnTo>
                  <a:lnTo>
                    <a:pt x="0" y="2468880"/>
                  </a:lnTo>
                  <a:close/>
                </a:path>
              </a:pathLst>
            </a:custGeom>
            <a:solidFill>
              <a:srgbClr val="E76F51"/>
            </a:solidFill>
          </p:spPr>
        </p:sp>
      </p:grpSp>
      <p:grpSp>
        <p:nvGrpSpPr>
          <p:cNvPr name="Group 15" id="15"/>
          <p:cNvGrpSpPr/>
          <p:nvPr/>
        </p:nvGrpSpPr>
        <p:grpSpPr>
          <a:xfrm rot="0">
            <a:off x="960120" y="3086100"/>
            <a:ext cx="7543800" cy="548640"/>
            <a:chOff x="0" y="0"/>
            <a:chExt cx="10058400" cy="731520"/>
          </a:xfrm>
        </p:grpSpPr>
        <p:sp>
          <p:nvSpPr>
            <p:cNvPr name="Freeform 16" id="16"/>
            <p:cNvSpPr/>
            <p:nvPr/>
          </p:nvSpPr>
          <p:spPr>
            <a:xfrm flipH="false" flipV="false" rot="0">
              <a:off x="0" y="0"/>
              <a:ext cx="10058400" cy="731520"/>
            </a:xfrm>
            <a:custGeom>
              <a:avLst/>
              <a:gdLst/>
              <a:ahLst/>
              <a:cxnLst/>
              <a:rect r="r" b="b" t="t" l="l"/>
              <a:pathLst>
                <a:path h="731520" w="10058400">
                  <a:moveTo>
                    <a:pt x="0" y="0"/>
                  </a:moveTo>
                  <a:lnTo>
                    <a:pt x="10058400" y="0"/>
                  </a:lnTo>
                  <a:lnTo>
                    <a:pt x="10058400" y="731520"/>
                  </a:lnTo>
                  <a:lnTo>
                    <a:pt x="0" y="731520"/>
                  </a:lnTo>
                  <a:close/>
                </a:path>
              </a:pathLst>
            </a:custGeom>
            <a:blipFill>
              <a:blip r:embed="rId3">
                <a:alphaModFix amt="0"/>
              </a:blip>
              <a:stretch>
                <a:fillRect l="0" t="-217919" r="0" b="-217919"/>
              </a:stretch>
            </a:blipFill>
          </p:spPr>
        </p:sp>
        <p:sp>
          <p:nvSpPr>
            <p:cNvPr name="TextBox 17" id="17"/>
            <p:cNvSpPr txBox="true"/>
            <p:nvPr/>
          </p:nvSpPr>
          <p:spPr>
            <a:xfrm>
              <a:off x="0" y="-47625"/>
              <a:ext cx="10058400" cy="779145"/>
            </a:xfrm>
            <a:prstGeom prst="rect">
              <a:avLst/>
            </a:prstGeom>
          </p:spPr>
          <p:txBody>
            <a:bodyPr anchor="ctr" rtlCol="false" tIns="0" lIns="0" bIns="0" rIns="0"/>
            <a:lstStyle/>
            <a:p>
              <a:pPr algn="l">
                <a:lnSpc>
                  <a:spcPts val="2520"/>
                </a:lnSpc>
              </a:pPr>
              <a:r>
                <a:rPr lang="en-US" sz="2100" b="true">
                  <a:solidFill>
                    <a:srgbClr val="1A2E23"/>
                  </a:solidFill>
                  <a:latin typeface="Calibri (MS) Bold"/>
                  <a:ea typeface="Calibri (MS) Bold"/>
                  <a:cs typeface="Calibri (MS) Bold"/>
                  <a:sym typeface="Calibri (MS) Bold"/>
                </a:rPr>
                <a:t>CVR drops below 3.5%</a:t>
              </a:r>
            </a:p>
          </p:txBody>
        </p:sp>
      </p:grpSp>
      <p:sp>
        <p:nvSpPr>
          <p:cNvPr name="TextBox 18" id="18"/>
          <p:cNvSpPr txBox="true"/>
          <p:nvPr/>
        </p:nvSpPr>
        <p:spPr>
          <a:xfrm rot="0">
            <a:off x="960120" y="3634740"/>
            <a:ext cx="7543800" cy="1303020"/>
          </a:xfrm>
          <a:prstGeom prst="rect">
            <a:avLst/>
          </a:prstGeom>
        </p:spPr>
        <p:txBody>
          <a:bodyPr anchor="t" rtlCol="false" tIns="0" lIns="0" bIns="0" rIns="0">
            <a:spAutoFit/>
          </a:bodyPr>
          <a:lstStyle/>
          <a:p>
            <a:pPr algn="l">
              <a:lnSpc>
                <a:spcPts val="2070"/>
              </a:lnSpc>
            </a:pPr>
            <a:r>
              <a:rPr lang="en-US" sz="1725" spc="-10">
                <a:solidFill>
                  <a:srgbClr val="1A2E23"/>
                </a:solidFill>
                <a:latin typeface="TT Rounds Condensed"/>
                <a:ea typeface="TT Rounds Condensed"/>
                <a:cs typeface="TT Rounds Condensed"/>
                <a:sym typeface="TT Rounds Condensed"/>
              </a:rPr>
              <a:t>Landing page isn't localized well enough, or NO users don't trust an unknown brand. Fix: Trustpilot widget above the fold Day 1, first-purchase 20% off in checkout.</a:t>
            </a:r>
          </a:p>
        </p:txBody>
      </p:sp>
      <p:grpSp>
        <p:nvGrpSpPr>
          <p:cNvPr name="Group 19" id="19"/>
          <p:cNvGrpSpPr/>
          <p:nvPr/>
        </p:nvGrpSpPr>
        <p:grpSpPr>
          <a:xfrm rot="0">
            <a:off x="685800" y="5212080"/>
            <a:ext cx="82296" cy="1851660"/>
            <a:chOff x="0" y="0"/>
            <a:chExt cx="109728" cy="2468880"/>
          </a:xfrm>
        </p:grpSpPr>
        <p:sp>
          <p:nvSpPr>
            <p:cNvPr name="Freeform 20" id="20"/>
            <p:cNvSpPr/>
            <p:nvPr/>
          </p:nvSpPr>
          <p:spPr>
            <a:xfrm flipH="false" flipV="false" rot="0">
              <a:off x="0" y="0"/>
              <a:ext cx="109728" cy="2468880"/>
            </a:xfrm>
            <a:custGeom>
              <a:avLst/>
              <a:gdLst/>
              <a:ahLst/>
              <a:cxnLst/>
              <a:rect r="r" b="b" t="t" l="l"/>
              <a:pathLst>
                <a:path h="2468880" w="109728">
                  <a:moveTo>
                    <a:pt x="0" y="0"/>
                  </a:moveTo>
                  <a:lnTo>
                    <a:pt x="109728" y="0"/>
                  </a:lnTo>
                  <a:lnTo>
                    <a:pt x="109728" y="2468880"/>
                  </a:lnTo>
                  <a:lnTo>
                    <a:pt x="0" y="2468880"/>
                  </a:lnTo>
                  <a:close/>
                </a:path>
              </a:pathLst>
            </a:custGeom>
            <a:solidFill>
              <a:srgbClr val="E76F51"/>
            </a:solidFill>
          </p:spPr>
        </p:sp>
      </p:grpSp>
      <p:grpSp>
        <p:nvGrpSpPr>
          <p:cNvPr name="Group 21" id="21"/>
          <p:cNvGrpSpPr/>
          <p:nvPr/>
        </p:nvGrpSpPr>
        <p:grpSpPr>
          <a:xfrm rot="0">
            <a:off x="960120" y="5212080"/>
            <a:ext cx="7543800" cy="548640"/>
            <a:chOff x="0" y="0"/>
            <a:chExt cx="10058400" cy="731520"/>
          </a:xfrm>
        </p:grpSpPr>
        <p:sp>
          <p:nvSpPr>
            <p:cNvPr name="Freeform 22" id="22"/>
            <p:cNvSpPr/>
            <p:nvPr/>
          </p:nvSpPr>
          <p:spPr>
            <a:xfrm flipH="false" flipV="false" rot="0">
              <a:off x="0" y="0"/>
              <a:ext cx="10058400" cy="731520"/>
            </a:xfrm>
            <a:custGeom>
              <a:avLst/>
              <a:gdLst/>
              <a:ahLst/>
              <a:cxnLst/>
              <a:rect r="r" b="b" t="t" l="l"/>
              <a:pathLst>
                <a:path h="731520" w="10058400">
                  <a:moveTo>
                    <a:pt x="0" y="0"/>
                  </a:moveTo>
                  <a:lnTo>
                    <a:pt x="10058400" y="0"/>
                  </a:lnTo>
                  <a:lnTo>
                    <a:pt x="10058400" y="731520"/>
                  </a:lnTo>
                  <a:lnTo>
                    <a:pt x="0" y="731520"/>
                  </a:lnTo>
                  <a:close/>
                </a:path>
              </a:pathLst>
            </a:custGeom>
            <a:blipFill>
              <a:blip r:embed="rId3">
                <a:alphaModFix amt="0"/>
              </a:blip>
              <a:stretch>
                <a:fillRect l="0" t="-217919" r="0" b="-217919"/>
              </a:stretch>
            </a:blipFill>
          </p:spPr>
        </p:sp>
        <p:sp>
          <p:nvSpPr>
            <p:cNvPr name="TextBox 23" id="23"/>
            <p:cNvSpPr txBox="true"/>
            <p:nvPr/>
          </p:nvSpPr>
          <p:spPr>
            <a:xfrm>
              <a:off x="0" y="-47625"/>
              <a:ext cx="10058400" cy="779145"/>
            </a:xfrm>
            <a:prstGeom prst="rect">
              <a:avLst/>
            </a:prstGeom>
          </p:spPr>
          <p:txBody>
            <a:bodyPr anchor="ctr" rtlCol="false" tIns="0" lIns="0" bIns="0" rIns="0"/>
            <a:lstStyle/>
            <a:p>
              <a:pPr algn="l">
                <a:lnSpc>
                  <a:spcPts val="2520"/>
                </a:lnSpc>
              </a:pPr>
              <a:r>
                <a:rPr lang="en-US" sz="2100" b="true">
                  <a:solidFill>
                    <a:srgbClr val="1A2E23"/>
                  </a:solidFill>
                  <a:latin typeface="Calibri (MS) Bold"/>
                  <a:ea typeface="Calibri (MS) Bold"/>
                  <a:cs typeface="Calibri (MS) Bold"/>
                  <a:sym typeface="Calibri (MS) Bold"/>
                </a:rPr>
                <a:t>CPC inflates above €1.80</a:t>
              </a:r>
            </a:p>
          </p:txBody>
        </p:sp>
      </p:grpSp>
      <p:sp>
        <p:nvSpPr>
          <p:cNvPr name="TextBox 24" id="24"/>
          <p:cNvSpPr txBox="true"/>
          <p:nvPr/>
        </p:nvSpPr>
        <p:spPr>
          <a:xfrm rot="0">
            <a:off x="960120" y="5760720"/>
            <a:ext cx="7543800" cy="1303020"/>
          </a:xfrm>
          <a:prstGeom prst="rect">
            <a:avLst/>
          </a:prstGeom>
        </p:spPr>
        <p:txBody>
          <a:bodyPr anchor="t" rtlCol="false" tIns="0" lIns="0" bIns="0" rIns="0">
            <a:spAutoFit/>
          </a:bodyPr>
          <a:lstStyle/>
          <a:p>
            <a:pPr algn="l">
              <a:lnSpc>
                <a:spcPts val="2070"/>
              </a:lnSpc>
            </a:pPr>
            <a:r>
              <a:rPr lang="en-US" sz="1725" spc="-10">
                <a:solidFill>
                  <a:srgbClr val="1A2E23"/>
                </a:solidFill>
                <a:latin typeface="TT Rounds Condensed"/>
                <a:ea typeface="TT Rounds Condensed"/>
                <a:cs typeface="TT Rounds Condensed"/>
                <a:sym typeface="TT Rounds Condensed"/>
              </a:rPr>
              <a:t>Nordic auction heats up, or broad match leaks budget. Fix: strict phrase match from Day 1, tROAS bidding from Day 7 once we have ≥15 conversions for the algo to learn on.</a:t>
            </a:r>
          </a:p>
        </p:txBody>
      </p:sp>
      <p:grpSp>
        <p:nvGrpSpPr>
          <p:cNvPr name="Group 25" id="25"/>
          <p:cNvGrpSpPr/>
          <p:nvPr/>
        </p:nvGrpSpPr>
        <p:grpSpPr>
          <a:xfrm rot="0">
            <a:off x="685800" y="7338060"/>
            <a:ext cx="82296" cy="1851660"/>
            <a:chOff x="0" y="0"/>
            <a:chExt cx="109728" cy="2468880"/>
          </a:xfrm>
        </p:grpSpPr>
        <p:sp>
          <p:nvSpPr>
            <p:cNvPr name="Freeform 26" id="26"/>
            <p:cNvSpPr/>
            <p:nvPr/>
          </p:nvSpPr>
          <p:spPr>
            <a:xfrm flipH="false" flipV="false" rot="0">
              <a:off x="0" y="0"/>
              <a:ext cx="109728" cy="2468880"/>
            </a:xfrm>
            <a:custGeom>
              <a:avLst/>
              <a:gdLst/>
              <a:ahLst/>
              <a:cxnLst/>
              <a:rect r="r" b="b" t="t" l="l"/>
              <a:pathLst>
                <a:path h="2468880" w="109728">
                  <a:moveTo>
                    <a:pt x="0" y="0"/>
                  </a:moveTo>
                  <a:lnTo>
                    <a:pt x="109728" y="0"/>
                  </a:lnTo>
                  <a:lnTo>
                    <a:pt x="109728" y="2468880"/>
                  </a:lnTo>
                  <a:lnTo>
                    <a:pt x="0" y="2468880"/>
                  </a:lnTo>
                  <a:close/>
                </a:path>
              </a:pathLst>
            </a:custGeom>
            <a:solidFill>
              <a:srgbClr val="E76F51"/>
            </a:solidFill>
          </p:spPr>
        </p:sp>
      </p:grpSp>
      <p:grpSp>
        <p:nvGrpSpPr>
          <p:cNvPr name="Group 27" id="27"/>
          <p:cNvGrpSpPr/>
          <p:nvPr/>
        </p:nvGrpSpPr>
        <p:grpSpPr>
          <a:xfrm rot="0">
            <a:off x="960120" y="7338060"/>
            <a:ext cx="7543800" cy="548640"/>
            <a:chOff x="0" y="0"/>
            <a:chExt cx="10058400" cy="731520"/>
          </a:xfrm>
        </p:grpSpPr>
        <p:sp>
          <p:nvSpPr>
            <p:cNvPr name="Freeform 28" id="28"/>
            <p:cNvSpPr/>
            <p:nvPr/>
          </p:nvSpPr>
          <p:spPr>
            <a:xfrm flipH="false" flipV="false" rot="0">
              <a:off x="0" y="0"/>
              <a:ext cx="10058400" cy="731520"/>
            </a:xfrm>
            <a:custGeom>
              <a:avLst/>
              <a:gdLst/>
              <a:ahLst/>
              <a:cxnLst/>
              <a:rect r="r" b="b" t="t" l="l"/>
              <a:pathLst>
                <a:path h="731520" w="10058400">
                  <a:moveTo>
                    <a:pt x="0" y="0"/>
                  </a:moveTo>
                  <a:lnTo>
                    <a:pt x="10058400" y="0"/>
                  </a:lnTo>
                  <a:lnTo>
                    <a:pt x="10058400" y="731520"/>
                  </a:lnTo>
                  <a:lnTo>
                    <a:pt x="0" y="731520"/>
                  </a:lnTo>
                  <a:close/>
                </a:path>
              </a:pathLst>
            </a:custGeom>
            <a:blipFill>
              <a:blip r:embed="rId3">
                <a:alphaModFix amt="0"/>
              </a:blip>
              <a:stretch>
                <a:fillRect l="0" t="-217919" r="0" b="-217919"/>
              </a:stretch>
            </a:blipFill>
          </p:spPr>
        </p:sp>
        <p:sp>
          <p:nvSpPr>
            <p:cNvPr name="TextBox 29" id="29"/>
            <p:cNvSpPr txBox="true"/>
            <p:nvPr/>
          </p:nvSpPr>
          <p:spPr>
            <a:xfrm>
              <a:off x="0" y="-47625"/>
              <a:ext cx="10058400" cy="779145"/>
            </a:xfrm>
            <a:prstGeom prst="rect">
              <a:avLst/>
            </a:prstGeom>
          </p:spPr>
          <p:txBody>
            <a:bodyPr anchor="ctr" rtlCol="false" tIns="0" lIns="0" bIns="0" rIns="0"/>
            <a:lstStyle/>
            <a:p>
              <a:pPr algn="l">
                <a:lnSpc>
                  <a:spcPts val="2520"/>
                </a:lnSpc>
              </a:pPr>
              <a:r>
                <a:rPr lang="en-US" sz="2100" b="true">
                  <a:solidFill>
                    <a:srgbClr val="1A2E23"/>
                  </a:solidFill>
                  <a:latin typeface="Calibri (MS) Bold"/>
                  <a:ea typeface="Calibri (MS) Bold"/>
                  <a:cs typeface="Calibri (MS) Bold"/>
                  <a:sym typeface="Calibri (MS) Bold"/>
                </a:rPr>
                <a:t>NO search volume caps the plan at €600/day</a:t>
              </a:r>
            </a:p>
          </p:txBody>
        </p:sp>
      </p:grpSp>
      <p:sp>
        <p:nvSpPr>
          <p:cNvPr name="TextBox 30" id="30"/>
          <p:cNvSpPr txBox="true"/>
          <p:nvPr/>
        </p:nvSpPr>
        <p:spPr>
          <a:xfrm rot="0">
            <a:off x="960120" y="7886700"/>
            <a:ext cx="7543800" cy="1303020"/>
          </a:xfrm>
          <a:prstGeom prst="rect">
            <a:avLst/>
          </a:prstGeom>
        </p:spPr>
        <p:txBody>
          <a:bodyPr anchor="t" rtlCol="false" tIns="0" lIns="0" bIns="0" rIns="0">
            <a:spAutoFit/>
          </a:bodyPr>
          <a:lstStyle/>
          <a:p>
            <a:pPr algn="l">
              <a:lnSpc>
                <a:spcPts val="2070"/>
              </a:lnSpc>
            </a:pPr>
            <a:r>
              <a:rPr lang="en-US" sz="1725" spc="-10">
                <a:solidFill>
                  <a:srgbClr val="1A2E23"/>
                </a:solidFill>
                <a:latin typeface="TT Rounds Condensed"/>
                <a:ea typeface="TT Rounds Condensed"/>
                <a:cs typeface="TT Rounds Condensed"/>
                <a:sym typeface="TT Rounds Condensed"/>
              </a:rPr>
              <a:t>Norway is 5.5M people. If demand is thinner than I modeled, we hit a ceiling. Fix: Sweden and Denmark next — same pipeline, similar dental-care habits, 3× the combined population.</a:t>
            </a:r>
          </a:p>
        </p:txBody>
      </p:sp>
      <p:grpSp>
        <p:nvGrpSpPr>
          <p:cNvPr name="Group 31" id="31"/>
          <p:cNvGrpSpPr/>
          <p:nvPr/>
        </p:nvGrpSpPr>
        <p:grpSpPr>
          <a:xfrm rot="0">
            <a:off x="9326880" y="2263140"/>
            <a:ext cx="548640" cy="548640"/>
            <a:chOff x="0" y="0"/>
            <a:chExt cx="731520" cy="731520"/>
          </a:xfrm>
        </p:grpSpPr>
        <p:sp>
          <p:nvSpPr>
            <p:cNvPr name="Freeform 32" id="32"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33" id="33"/>
          <p:cNvGrpSpPr/>
          <p:nvPr/>
        </p:nvGrpSpPr>
        <p:grpSpPr>
          <a:xfrm rot="0">
            <a:off x="10012680" y="2331720"/>
            <a:ext cx="8229600" cy="548640"/>
            <a:chOff x="0" y="0"/>
            <a:chExt cx="10972800" cy="731520"/>
          </a:xfrm>
        </p:grpSpPr>
        <p:sp>
          <p:nvSpPr>
            <p:cNvPr name="Freeform 34" id="34"/>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3">
                <a:alphaModFix amt="0"/>
              </a:blip>
              <a:stretch>
                <a:fillRect l="0" t="-242275" r="0" b="-242275"/>
              </a:stretch>
            </a:blipFill>
          </p:spPr>
        </p:sp>
        <p:sp>
          <p:nvSpPr>
            <p:cNvPr name="TextBox 35" id="35"/>
            <p:cNvSpPr txBox="true"/>
            <p:nvPr/>
          </p:nvSpPr>
          <p:spPr>
            <a:xfrm>
              <a:off x="0" y="-19050"/>
              <a:ext cx="10972800" cy="750570"/>
            </a:xfrm>
            <a:prstGeom prst="rect">
              <a:avLst/>
            </a:prstGeom>
          </p:spPr>
          <p:txBody>
            <a:bodyPr anchor="ctr" rtlCol="false" tIns="0" lIns="0" bIns="0" rIns="0"/>
            <a:lstStyle/>
            <a:p>
              <a:pPr algn="l">
                <a:lnSpc>
                  <a:spcPts val="3240"/>
                </a:lnSpc>
              </a:pPr>
              <a:r>
                <a:rPr lang="en-US" sz="2700" b="true">
                  <a:solidFill>
                    <a:srgbClr val="1A2E23"/>
                  </a:solidFill>
                  <a:latin typeface="Georgia Bold"/>
                  <a:ea typeface="Georgia Bold"/>
                  <a:cs typeface="Georgia Bold"/>
                  <a:sym typeface="Georgia Bold"/>
                </a:rPr>
                <a:t>The one thing I'd build in Week 1</a:t>
              </a:r>
            </a:p>
          </p:txBody>
        </p:sp>
      </p:grpSp>
      <p:grpSp>
        <p:nvGrpSpPr>
          <p:cNvPr name="Group 36" id="36"/>
          <p:cNvGrpSpPr/>
          <p:nvPr/>
        </p:nvGrpSpPr>
        <p:grpSpPr>
          <a:xfrm rot="0">
            <a:off x="9326880" y="3086100"/>
            <a:ext cx="8229600" cy="3429000"/>
            <a:chOff x="0" y="0"/>
            <a:chExt cx="10972800" cy="4572000"/>
          </a:xfrm>
        </p:grpSpPr>
        <p:sp>
          <p:nvSpPr>
            <p:cNvPr name="Freeform 37" id="37"/>
            <p:cNvSpPr/>
            <p:nvPr/>
          </p:nvSpPr>
          <p:spPr>
            <a:xfrm flipH="false" flipV="false" rot="0">
              <a:off x="0" y="0"/>
              <a:ext cx="10972800" cy="4572000"/>
            </a:xfrm>
            <a:custGeom>
              <a:avLst/>
              <a:gdLst/>
              <a:ahLst/>
              <a:cxnLst/>
              <a:rect r="r" b="b" t="t" l="l"/>
              <a:pathLst>
                <a:path h="4572000" w="10972800">
                  <a:moveTo>
                    <a:pt x="0" y="0"/>
                  </a:moveTo>
                  <a:lnTo>
                    <a:pt x="10972800" y="0"/>
                  </a:lnTo>
                  <a:lnTo>
                    <a:pt x="10972800" y="4572000"/>
                  </a:lnTo>
                  <a:lnTo>
                    <a:pt x="0" y="4572000"/>
                  </a:lnTo>
                  <a:close/>
                </a:path>
              </a:pathLst>
            </a:custGeom>
            <a:solidFill>
              <a:srgbClr val="1B4332"/>
            </a:solidFill>
          </p:spPr>
        </p:sp>
      </p:grpSp>
      <p:grpSp>
        <p:nvGrpSpPr>
          <p:cNvPr name="Group 38" id="38"/>
          <p:cNvGrpSpPr/>
          <p:nvPr/>
        </p:nvGrpSpPr>
        <p:grpSpPr>
          <a:xfrm rot="0">
            <a:off x="9326880" y="3086100"/>
            <a:ext cx="109728" cy="3429000"/>
            <a:chOff x="0" y="0"/>
            <a:chExt cx="146304" cy="4572000"/>
          </a:xfrm>
        </p:grpSpPr>
        <p:sp>
          <p:nvSpPr>
            <p:cNvPr name="Freeform 39" id="39"/>
            <p:cNvSpPr/>
            <p:nvPr/>
          </p:nvSpPr>
          <p:spPr>
            <a:xfrm flipH="false" flipV="false" rot="0">
              <a:off x="0" y="0"/>
              <a:ext cx="146304" cy="4572000"/>
            </a:xfrm>
            <a:custGeom>
              <a:avLst/>
              <a:gdLst/>
              <a:ahLst/>
              <a:cxnLst/>
              <a:rect r="r" b="b" t="t" l="l"/>
              <a:pathLst>
                <a:path h="4572000" w="146304">
                  <a:moveTo>
                    <a:pt x="0" y="0"/>
                  </a:moveTo>
                  <a:lnTo>
                    <a:pt x="146304" y="0"/>
                  </a:lnTo>
                  <a:lnTo>
                    <a:pt x="146304" y="4572000"/>
                  </a:lnTo>
                  <a:lnTo>
                    <a:pt x="0" y="4572000"/>
                  </a:lnTo>
                  <a:close/>
                </a:path>
              </a:pathLst>
            </a:custGeom>
            <a:solidFill>
              <a:srgbClr val="F4A261"/>
            </a:solidFill>
          </p:spPr>
        </p:sp>
      </p:grpSp>
      <p:grpSp>
        <p:nvGrpSpPr>
          <p:cNvPr name="Group 40" id="40"/>
          <p:cNvGrpSpPr/>
          <p:nvPr/>
        </p:nvGrpSpPr>
        <p:grpSpPr>
          <a:xfrm rot="0">
            <a:off x="9669780" y="3291840"/>
            <a:ext cx="7818120" cy="617220"/>
            <a:chOff x="0" y="0"/>
            <a:chExt cx="10424160" cy="822960"/>
          </a:xfrm>
        </p:grpSpPr>
        <p:sp>
          <p:nvSpPr>
            <p:cNvPr name="Freeform 41" id="41"/>
            <p:cNvSpPr/>
            <p:nvPr/>
          </p:nvSpPr>
          <p:spPr>
            <a:xfrm flipH="false" flipV="false" rot="0">
              <a:off x="0" y="0"/>
              <a:ext cx="10424160" cy="822960"/>
            </a:xfrm>
            <a:custGeom>
              <a:avLst/>
              <a:gdLst/>
              <a:ahLst/>
              <a:cxnLst/>
              <a:rect r="r" b="b" t="t" l="l"/>
              <a:pathLst>
                <a:path h="822960" w="10424160">
                  <a:moveTo>
                    <a:pt x="0" y="0"/>
                  </a:moveTo>
                  <a:lnTo>
                    <a:pt x="10424160" y="0"/>
                  </a:lnTo>
                  <a:lnTo>
                    <a:pt x="10424160" y="822960"/>
                  </a:lnTo>
                  <a:lnTo>
                    <a:pt x="0" y="822960"/>
                  </a:lnTo>
                  <a:close/>
                </a:path>
              </a:pathLst>
            </a:custGeom>
            <a:blipFill>
              <a:blip r:embed="rId3">
                <a:alphaModFix amt="0"/>
              </a:blip>
              <a:stretch>
                <a:fillRect l="0" t="-196810" r="0" b="-196810"/>
              </a:stretch>
            </a:blipFill>
          </p:spPr>
        </p:sp>
        <p:sp>
          <p:nvSpPr>
            <p:cNvPr name="TextBox 42" id="42"/>
            <p:cNvSpPr txBox="true"/>
            <p:nvPr/>
          </p:nvSpPr>
          <p:spPr>
            <a:xfrm>
              <a:off x="0" y="-9525"/>
              <a:ext cx="10424160" cy="832485"/>
            </a:xfrm>
            <a:prstGeom prst="rect">
              <a:avLst/>
            </a:prstGeom>
          </p:spPr>
          <p:txBody>
            <a:bodyPr anchor="ctr" rtlCol="false" tIns="0" lIns="0" bIns="0" rIns="0"/>
            <a:lstStyle/>
            <a:p>
              <a:pPr algn="l">
                <a:lnSpc>
                  <a:spcPts val="3060"/>
                </a:lnSpc>
              </a:pPr>
              <a:r>
                <a:rPr lang="en-US" sz="2550" b="true">
                  <a:solidFill>
                    <a:srgbClr val="FFFFFF"/>
                  </a:solidFill>
                  <a:latin typeface="Georgia Bold"/>
                  <a:ea typeface="Georgia Bold"/>
                  <a:cs typeface="Georgia Bold"/>
                  <a:sym typeface="Georgia Bold"/>
                </a:rPr>
                <a:t>Daily pacing &amp; ROAS Slack bot</a:t>
              </a:r>
            </a:p>
          </p:txBody>
        </p:sp>
      </p:grpSp>
      <p:sp>
        <p:nvSpPr>
          <p:cNvPr name="TextBox 43" id="43"/>
          <p:cNvSpPr txBox="true"/>
          <p:nvPr/>
        </p:nvSpPr>
        <p:spPr>
          <a:xfrm rot="0">
            <a:off x="9669780" y="3909060"/>
            <a:ext cx="7818120" cy="2400300"/>
          </a:xfrm>
          <a:prstGeom prst="rect">
            <a:avLst/>
          </a:prstGeom>
        </p:spPr>
        <p:txBody>
          <a:bodyPr anchor="t" rtlCol="false" tIns="0" lIns="0" bIns="0" rIns="0">
            <a:spAutoFit/>
          </a:bodyPr>
          <a:lstStyle/>
          <a:p>
            <a:pPr algn="l">
              <a:lnSpc>
                <a:spcPts val="2160"/>
              </a:lnSpc>
            </a:pPr>
            <a:r>
              <a:rPr lang="en-US" sz="1800" spc="-10">
                <a:solidFill>
                  <a:srgbClr val="FFFFFF"/>
                </a:solidFill>
                <a:latin typeface="TT Rounds Condensed"/>
                <a:ea typeface="TT Rounds Condensed"/>
                <a:cs typeface="TT Rounds Condensed"/>
                <a:sym typeface="TT Rounds Condensed"/>
              </a:rPr>
              <a:t>Python + Google Ads API + Slack webhook. At 09:00 it posts yesterday's spend, revenue, orders and ROAS broken out by campaign. Red if any campaign is &lt;1.3× ROAS or pacing ±20% off budget. One screenshot per day that replaces a spreadsheet check.</a:t>
            </a:r>
          </a:p>
          <a:p>
            <a:pPr algn="l">
              <a:lnSpc>
                <a:spcPts val="1080"/>
              </a:lnSpc>
            </a:pPr>
          </a:p>
          <a:p>
            <a:pPr algn="l">
              <a:lnSpc>
                <a:spcPts val="2160"/>
              </a:lnSpc>
            </a:pPr>
          </a:p>
          <a:p>
            <a:pPr algn="l">
              <a:lnSpc>
                <a:spcPts val="2160"/>
              </a:lnSpc>
            </a:pPr>
            <a:r>
              <a:rPr lang="en-US" b="true" sz="1800" i="true" spc="-10">
                <a:solidFill>
                  <a:srgbClr val="F4A261"/>
                </a:solidFill>
                <a:latin typeface="TT Rounds Condensed Bold Italics"/>
                <a:ea typeface="TT Rounds Condensed Bold Italics"/>
                <a:cs typeface="TT Rounds Condensed Bold Italics"/>
                <a:sym typeface="TT Rounds Condensed Bold Italics"/>
              </a:rPr>
              <a:t>Build time: 1 evening. Saves 15 min/day. Pays for itself Week 1.</a:t>
            </a:r>
          </a:p>
        </p:txBody>
      </p:sp>
      <p:grpSp>
        <p:nvGrpSpPr>
          <p:cNvPr name="Group 44" id="44"/>
          <p:cNvGrpSpPr/>
          <p:nvPr/>
        </p:nvGrpSpPr>
        <p:grpSpPr>
          <a:xfrm rot="0">
            <a:off x="9326880" y="6858000"/>
            <a:ext cx="8229600" cy="411480"/>
            <a:chOff x="0" y="0"/>
            <a:chExt cx="10972800" cy="548640"/>
          </a:xfrm>
        </p:grpSpPr>
        <p:sp>
          <p:nvSpPr>
            <p:cNvPr name="Freeform 45" id="45"/>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6" id="46"/>
            <p:cNvSpPr txBox="true"/>
            <p:nvPr/>
          </p:nvSpPr>
          <p:spPr>
            <a:xfrm>
              <a:off x="0" y="-38100"/>
              <a:ext cx="10972800" cy="586740"/>
            </a:xfrm>
            <a:prstGeom prst="rect">
              <a:avLst/>
            </a:prstGeom>
          </p:spPr>
          <p:txBody>
            <a:bodyPr anchor="ctr" rtlCol="false" tIns="0" lIns="0" bIns="0" rIns="0"/>
            <a:lstStyle/>
            <a:p>
              <a:pPr algn="l">
                <a:lnSpc>
                  <a:spcPts val="1800"/>
                </a:lnSpc>
              </a:pPr>
              <a:r>
                <a:rPr lang="en-US" b="true" sz="1500" spc="450">
                  <a:solidFill>
                    <a:srgbClr val="E76F51"/>
                  </a:solidFill>
                  <a:latin typeface="Calibri (MS) Bold"/>
                  <a:ea typeface="Calibri (MS) Bold"/>
                  <a:cs typeface="Calibri (MS) Bold"/>
                  <a:sym typeface="Calibri (MS) Bold"/>
                </a:rPr>
                <a:t>WHY NOT A LIST OF FIVE MORE</a:t>
              </a:r>
            </a:p>
          </p:txBody>
        </p:sp>
      </p:grpSp>
      <p:sp>
        <p:nvSpPr>
          <p:cNvPr name="TextBox 47" id="47"/>
          <p:cNvSpPr txBox="true"/>
          <p:nvPr/>
        </p:nvSpPr>
        <p:spPr>
          <a:xfrm rot="0">
            <a:off x="9326880" y="7269480"/>
            <a:ext cx="8229600" cy="2057400"/>
          </a:xfrm>
          <a:prstGeom prst="rect">
            <a:avLst/>
          </a:prstGeom>
        </p:spPr>
        <p:txBody>
          <a:bodyPr anchor="t" rtlCol="false" tIns="0" lIns="0" bIns="0" rIns="0">
            <a:spAutoFit/>
          </a:bodyPr>
          <a:lstStyle/>
          <a:p>
            <a:pPr algn="l">
              <a:lnSpc>
                <a:spcPts val="2070"/>
              </a:lnSpc>
            </a:pPr>
            <a:r>
              <a:rPr lang="en-US" sz="1725" i="true" spc="-10">
                <a:solidFill>
                  <a:srgbClr val="1A2E23"/>
                </a:solidFill>
                <a:latin typeface="TT Rounds Condensed Italics"/>
                <a:ea typeface="TT Rounds Condensed Italics"/>
                <a:cs typeface="TT Rounds Condensed Italics"/>
                <a:sym typeface="TT Rounds Condensed Italics"/>
              </a:rPr>
              <a:t>Search-term harvesting, feed generation, translation pipelines — I have ideas, but automating things I don't have data for yet is how teams build shelfware. These come in Week 4+ once I know what the real failure modes look like.</a:t>
            </a:r>
          </a:p>
        </p:txBody>
      </p:sp>
      <p:grpSp>
        <p:nvGrpSpPr>
          <p:cNvPr name="Group 48" id="48"/>
          <p:cNvGrpSpPr/>
          <p:nvPr/>
        </p:nvGrpSpPr>
        <p:grpSpPr>
          <a:xfrm rot="0">
            <a:off x="685800" y="9326880"/>
            <a:ext cx="16870680" cy="480060"/>
            <a:chOff x="0" y="0"/>
            <a:chExt cx="22494240" cy="640080"/>
          </a:xfrm>
        </p:grpSpPr>
        <p:sp>
          <p:nvSpPr>
            <p:cNvPr name="Freeform 49" id="49"/>
            <p:cNvSpPr/>
            <p:nvPr/>
          </p:nvSpPr>
          <p:spPr>
            <a:xfrm flipH="false" flipV="false" rot="0">
              <a:off x="0" y="0"/>
              <a:ext cx="22494239" cy="640080"/>
            </a:xfrm>
            <a:custGeom>
              <a:avLst/>
              <a:gdLst/>
              <a:ahLst/>
              <a:cxnLst/>
              <a:rect r="r" b="b" t="t" l="l"/>
              <a:pathLst>
                <a:path h="640080" w="22494239">
                  <a:moveTo>
                    <a:pt x="0" y="0"/>
                  </a:moveTo>
                  <a:lnTo>
                    <a:pt x="22494239" y="0"/>
                  </a:lnTo>
                  <a:lnTo>
                    <a:pt x="22494239" y="640080"/>
                  </a:lnTo>
                  <a:lnTo>
                    <a:pt x="0" y="640080"/>
                  </a:lnTo>
                  <a:close/>
                </a:path>
              </a:pathLst>
            </a:custGeom>
            <a:solidFill>
              <a:srgbClr val="D8F3DC"/>
            </a:solidFill>
          </p:spPr>
        </p:sp>
      </p:grpSp>
      <p:grpSp>
        <p:nvGrpSpPr>
          <p:cNvPr name="Group 50" id="50"/>
          <p:cNvGrpSpPr/>
          <p:nvPr/>
        </p:nvGrpSpPr>
        <p:grpSpPr>
          <a:xfrm rot="0">
            <a:off x="1028700" y="9393555"/>
            <a:ext cx="16459200" cy="385953"/>
            <a:chOff x="0" y="0"/>
            <a:chExt cx="21945600" cy="514604"/>
          </a:xfrm>
        </p:grpSpPr>
        <p:sp>
          <p:nvSpPr>
            <p:cNvPr name="Freeform 51" id="51"/>
            <p:cNvSpPr/>
            <p:nvPr/>
          </p:nvSpPr>
          <p:spPr>
            <a:xfrm flipH="false" flipV="false" rot="0">
              <a:off x="0" y="0"/>
              <a:ext cx="21945600" cy="514604"/>
            </a:xfrm>
            <a:custGeom>
              <a:avLst/>
              <a:gdLst/>
              <a:ahLst/>
              <a:cxnLst/>
              <a:rect r="r" b="b" t="t" l="l"/>
              <a:pathLst>
                <a:path h="514604" w="21945600">
                  <a:moveTo>
                    <a:pt x="0" y="0"/>
                  </a:moveTo>
                  <a:lnTo>
                    <a:pt x="21945600" y="0"/>
                  </a:lnTo>
                  <a:lnTo>
                    <a:pt x="21945600" y="514604"/>
                  </a:lnTo>
                  <a:lnTo>
                    <a:pt x="0" y="514604"/>
                  </a:lnTo>
                  <a:close/>
                </a:path>
              </a:pathLst>
            </a:custGeom>
            <a:blipFill>
              <a:blip r:embed="rId3">
                <a:alphaModFix amt="0"/>
              </a:blip>
              <a:stretch>
                <a:fillRect l="0" t="-777644" r="0" b="-784258"/>
              </a:stretch>
            </a:blipFill>
          </p:spPr>
        </p:sp>
        <p:sp>
          <p:nvSpPr>
            <p:cNvPr name="TextBox 52" id="52"/>
            <p:cNvSpPr txBox="true"/>
            <p:nvPr/>
          </p:nvSpPr>
          <p:spPr>
            <a:xfrm>
              <a:off x="0" y="-28575"/>
              <a:ext cx="21945600" cy="543179"/>
            </a:xfrm>
            <a:prstGeom prst="rect">
              <a:avLst/>
            </a:prstGeom>
          </p:spPr>
          <p:txBody>
            <a:bodyPr anchor="ctr" rtlCol="false" tIns="0" lIns="0" bIns="0" rIns="0"/>
            <a:lstStyle/>
            <a:p>
              <a:pPr algn="l">
                <a:lnSpc>
                  <a:spcPts val="1980"/>
                </a:lnSpc>
              </a:pPr>
              <a:r>
                <a:rPr lang="en-US" sz="1650">
                  <a:solidFill>
                    <a:srgbClr val="1B4332"/>
                  </a:solidFill>
                  <a:latin typeface="Calibri (MS)"/>
                  <a:ea typeface="Calibri (MS)"/>
                  <a:cs typeface="Calibri (MS)"/>
                  <a:sym typeface="Calibri (MS)"/>
                </a:rPr>
                <a:t>Full notebook, data, and this deck: </a:t>
              </a:r>
              <a:r>
                <a:rPr lang="en-US" sz="1650" b="true">
                  <a:solidFill>
                    <a:srgbClr val="2D6A4F"/>
                  </a:solidFill>
                  <a:latin typeface="Calibri (MS) Bold"/>
                  <a:ea typeface="Calibri (MS) Bold"/>
                  <a:cs typeface="Calibri (MS) Bold"/>
                  <a:sym typeface="Calibri (MS) Bold"/>
                </a:rPr>
                <a:t>github.com/willbebettertoday/dogsuppy-no-case-study</a:t>
              </a:r>
              <a:r>
                <a:rPr lang="en-US" sz="1650" i="true">
                  <a:solidFill>
                    <a:srgbClr val="1B4332"/>
                  </a:solidFill>
                  <a:latin typeface="Calibri (MS) Italics"/>
                  <a:ea typeface="Calibri (MS) Italics"/>
                  <a:cs typeface="Calibri (MS) Italics"/>
                  <a:sym typeface="Calibri (MS) Italics"/>
                </a:rPr>
                <a:t>  </a:t>
              </a:r>
            </a:p>
          </p:txBody>
        </p:sp>
      </p:grpSp>
      <p:grpSp>
        <p:nvGrpSpPr>
          <p:cNvPr name="Group 53" id="53"/>
          <p:cNvGrpSpPr/>
          <p:nvPr/>
        </p:nvGrpSpPr>
        <p:grpSpPr>
          <a:xfrm rot="0">
            <a:off x="685800" y="9806940"/>
            <a:ext cx="13716000" cy="342900"/>
            <a:chOff x="0" y="0"/>
            <a:chExt cx="18288000" cy="457200"/>
          </a:xfrm>
        </p:grpSpPr>
        <p:sp>
          <p:nvSpPr>
            <p:cNvPr name="Freeform 54" id="54"/>
            <p:cNvSpPr/>
            <p:nvPr/>
          </p:nvSpPr>
          <p:spPr>
            <a:xfrm flipH="false" flipV="false" rot="0">
              <a:off x="0" y="0"/>
              <a:ext cx="18288000" cy="457200"/>
            </a:xfrm>
            <a:custGeom>
              <a:avLst/>
              <a:gdLst/>
              <a:ahLst/>
              <a:cxnLst/>
              <a:rect r="r" b="b" t="t" l="l"/>
              <a:pathLst>
                <a:path h="457200" w="18288000">
                  <a:moveTo>
                    <a:pt x="0" y="0"/>
                  </a:moveTo>
                  <a:lnTo>
                    <a:pt x="18288000" y="0"/>
                  </a:lnTo>
                  <a:lnTo>
                    <a:pt x="18288000" y="457200"/>
                  </a:lnTo>
                  <a:lnTo>
                    <a:pt x="0" y="457200"/>
                  </a:lnTo>
                  <a:close/>
                </a:path>
              </a:pathLst>
            </a:custGeom>
            <a:blipFill>
              <a:blip r:embed="rId3">
                <a:alphaModFix amt="0"/>
              </a:blip>
              <a:stretch>
                <a:fillRect l="0" t="-729401" r="0" b="-729401"/>
              </a:stretch>
            </a:blipFill>
          </p:spPr>
        </p:sp>
        <p:sp>
          <p:nvSpPr>
            <p:cNvPr name="TextBox 55" id="55"/>
            <p:cNvSpPr txBox="true"/>
            <p:nvPr/>
          </p:nvSpPr>
          <p:spPr>
            <a:xfrm>
              <a:off x="0" y="-28575"/>
              <a:ext cx="18288000" cy="485775"/>
            </a:xfrm>
            <a:prstGeom prst="rect">
              <a:avLst/>
            </a:prstGeom>
          </p:spPr>
          <p:txBody>
            <a:bodyPr anchor="ctr" rtlCol="false" tIns="0" lIns="0" bIns="0" rIns="0"/>
            <a:lstStyle/>
            <a:p>
              <a:pPr algn="l">
                <a:lnSpc>
                  <a:spcPts val="1620"/>
                </a:lnSpc>
              </a:pPr>
              <a:r>
                <a:rPr lang="en-US" sz="1350">
                  <a:solidFill>
                    <a:srgbClr val="6C757D"/>
                  </a:solidFill>
                  <a:latin typeface="Calibri (MS)"/>
                  <a:ea typeface="Calibri (MS)"/>
                  <a:cs typeface="Calibri (MS)"/>
                  <a:sym typeface="Calibri (MS)"/>
                </a:rPr>
                <a:t>Dental Bright → Norway  ·  Danil Sysenko  ·  April 2026</a:t>
              </a:r>
            </a:p>
          </p:txBody>
        </p:sp>
      </p:grpSp>
      <p:grpSp>
        <p:nvGrpSpPr>
          <p:cNvPr name="Group 56" id="56"/>
          <p:cNvGrpSpPr/>
          <p:nvPr/>
        </p:nvGrpSpPr>
        <p:grpSpPr>
          <a:xfrm rot="0">
            <a:off x="16870680" y="9806940"/>
            <a:ext cx="822960" cy="342900"/>
            <a:chOff x="0" y="0"/>
            <a:chExt cx="1097280" cy="457200"/>
          </a:xfrm>
        </p:grpSpPr>
        <p:sp>
          <p:nvSpPr>
            <p:cNvPr name="Freeform 57" id="57"/>
            <p:cNvSpPr/>
            <p:nvPr/>
          </p:nvSpPr>
          <p:spPr>
            <a:xfrm flipH="false" flipV="false" rot="0">
              <a:off x="0" y="0"/>
              <a:ext cx="1097280" cy="457200"/>
            </a:xfrm>
            <a:custGeom>
              <a:avLst/>
              <a:gdLst/>
              <a:ahLst/>
              <a:cxnLst/>
              <a:rect r="r" b="b" t="t" l="l"/>
              <a:pathLst>
                <a:path h="457200" w="1097280">
                  <a:moveTo>
                    <a:pt x="0" y="0"/>
                  </a:moveTo>
                  <a:lnTo>
                    <a:pt x="1097280" y="0"/>
                  </a:lnTo>
                  <a:lnTo>
                    <a:pt x="1097280" y="457200"/>
                  </a:lnTo>
                  <a:lnTo>
                    <a:pt x="0" y="457200"/>
                  </a:lnTo>
                  <a:close/>
                </a:path>
              </a:pathLst>
            </a:custGeom>
            <a:blipFill>
              <a:blip r:embed="rId3">
                <a:alphaModFix amt="0"/>
              </a:blip>
              <a:stretch>
                <a:fillRect l="-3459" t="0" r="-3459" b="0"/>
              </a:stretch>
            </a:blipFill>
          </p:spPr>
        </p:sp>
        <p:sp>
          <p:nvSpPr>
            <p:cNvPr name="TextBox 58" id="58"/>
            <p:cNvSpPr txBox="true"/>
            <p:nvPr/>
          </p:nvSpPr>
          <p:spPr>
            <a:xfrm>
              <a:off x="0" y="-28575"/>
              <a:ext cx="1097280" cy="485775"/>
            </a:xfrm>
            <a:prstGeom prst="rect">
              <a:avLst/>
            </a:prstGeom>
          </p:spPr>
          <p:txBody>
            <a:bodyPr anchor="ctr" rtlCol="false" tIns="0" lIns="0" bIns="0" rIns="0"/>
            <a:lstStyle/>
            <a:p>
              <a:pPr algn="r">
                <a:lnSpc>
                  <a:spcPts val="1620"/>
                </a:lnSpc>
              </a:pPr>
              <a:r>
                <a:rPr lang="en-US" sz="1350">
                  <a:solidFill>
                    <a:srgbClr val="6C757D"/>
                  </a:solidFill>
                  <a:latin typeface="Calibri (MS)"/>
                  <a:ea typeface="Calibri (MS)"/>
                  <a:cs typeface="Calibri (MS)"/>
                  <a:sym typeface="Calibri (MS)"/>
                </a:rPr>
                <a:t>8 / 8</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DAHHUpexdME</dc:identifier>
  <dcterms:modified xsi:type="dcterms:W3CDTF">2011-08-01T06:04:30Z</dcterms:modified>
  <cp:revision>1</cp:revision>
  <dc:title>DogSuppy_NO_Case_Study (3).pptx</dc:title>
</cp:coreProperties>
</file>