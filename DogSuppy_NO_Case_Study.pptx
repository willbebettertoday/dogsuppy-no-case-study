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Spend share (%)</c:v>
                </c:pt>
              </c:strCache>
            </c:strRef>
          </c:tx>
          <c:spPr>
            <a:solidFill>
              <a:srgbClr val="2D6A4F"/>
            </a:solidFill>
            <a:effectLst/>
          </c:spPr>
          <c:invertIfNegative val="0"/>
          <c:dLbls>
            <c:numFmt formatCode="0.0&quot;%&quot;" sourceLinked="0"/>
            <c:txPr>
              <a:bodyPr/>
              <a:lstStyle/>
              <a:p>
                <a:pPr>
                  <a:defRPr b="0" i="0" strike="noStrike" sz="1000" u="none">
                    <a:solidFill>
                      <a:srgbClr val="1A2E23"/>
                    </a:solidFill>
                    <a:latin typeface="Arial"/>
                  </a:defRPr>
                </a:pPr>
              </a:p>
            </c:txPr>
            <c:showLegendKey val="0"/>
            <c:showVal val="1"/>
            <c:showCatName val="0"/>
            <c:showSerName val="0"/>
            <c:showPercent val="0"/>
            <c:showBubbleSize val="0"/>
            <c:showLeaderLines val="0"/>
          </c:dLbls>
          <c:cat>
            <c:multiLvlStrRef>
              <c:f>Sheet1!$A$2:$A$7</c:f>
              <c:multiLvlStrCache>
                <c:ptCount val="6"/>
                <c:lvl>
                  <c:pt idx="0">
                    <c:v>Solution-Aware</c:v>
                  </c:pt>
                  <c:pt idx="1">
                    <c:v>Problem-Aware</c:v>
                  </c:pt>
                  <c:pt idx="2">
                    <c:v>Other</c:v>
                  </c:pt>
                  <c:pt idx="3">
                    <c:v>Broad dog</c:v>
                  </c:pt>
                  <c:pt idx="4">
                    <c:v>Branded (own)</c:v>
                  </c:pt>
                  <c:pt idx="5">
                    <c:v>Competitor</c:v>
                  </c:pt>
                </c:lvl>
              </c:multiLvlStrCache>
            </c:multiLvlStrRef>
          </c:cat>
          <c:val>
            <c:numRef>
              <c:f>Sheet1!$B$2:$B$7</c:f>
              <c:numCache>
                <c:formatCode>General</c:formatCode>
                <c:ptCount val="6"/>
                <c:pt idx="0">
                  <c:v>42.2</c:v>
                </c:pt>
                <c:pt idx="1">
                  <c:v>24.7</c:v>
                </c:pt>
                <c:pt idx="2">
                  <c:v>11.9</c:v>
                </c:pt>
                <c:pt idx="3">
                  <c:v>10.9</c:v>
                </c:pt>
                <c:pt idx="4">
                  <c:v>5.3</c:v>
                </c:pt>
                <c:pt idx="5">
                  <c:v>5</c:v>
                </c:pt>
              </c:numCache>
            </c:numRef>
          </c:val>
        </c:ser>
        <c:dLbls>
          <c:numFmt formatCode="0.0&quot;%&quot;" sourceLinked="0"/>
          <c:txPr>
            <a:bodyPr/>
            <a:lstStyle/>
            <a:p>
              <a:pPr>
                <a:defRPr b="0" i="0" strike="noStrike" sz="1000" u="none">
                  <a:solidFill>
                    <a:srgbClr val="1A2E2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E2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DF2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C757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Daily spend (€)</c:v>
                </c:pt>
              </c:strCache>
            </c:strRef>
          </c:tx>
          <c:spPr>
            <a:solidFill>
              <a:srgbClr val="40916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Week 1</c:v>
                  </c:pt>
                  <c:pt idx="1">
                    <c:v>Week 2</c:v>
                  </c:pt>
                  <c:pt idx="2">
                    <c:v>Week 3</c:v>
                  </c:pt>
                  <c:pt idx="3">
                    <c:v>Week 4</c:v>
                  </c:pt>
                </c:lvl>
              </c:multiLvlStrCache>
            </c:multiLvlStrRef>
          </c:cat>
          <c:val>
            <c:numRef>
              <c:f>Sheet1!$B$2:$B$5</c:f>
              <c:numCache>
                <c:formatCode>General</c:formatCode>
                <c:ptCount val="4"/>
                <c:pt idx="0">
                  <c:v>150</c:v>
                </c:pt>
                <c:pt idx="1">
                  <c:v>300</c:v>
                </c:pt>
                <c:pt idx="2">
                  <c:v>600</c:v>
                </c:pt>
                <c:pt idx="3">
                  <c:v>1000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lineChart>
        <c:varyColors val="0"/>
        <c:ser>
          <c:idx val="1"/>
          <c:order val="1"/>
          <c:tx>
            <c:strRef>
              <c:f>Sheet1!$C$1</c:f>
              <c:strCache>
                <c:ptCount val="1"/>
                <c:pt idx="0">
                  <c:v>ROAS (×)</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E76F51"/>
              </a:solidFill>
              <a:ln w="9525" cap="flat">
                <a:solidFill>
                  <a:srgbClr val="E76F51"/>
                </a:solidFill>
                <a:prstDash val="solid"/>
                <a:round/>
              </a:ln>
              <a:effectLst/>
            </c:spPr>
          </c:marker>
          <c:cat>
            <c:multiLvlStrRef>
              <c:f>Sheet1!$A$2:$A$5</c:f>
              <c:multiLvlStrCache>
                <c:ptCount val="4"/>
                <c:lvl>
                  <c:pt idx="0">
                    <c:v>Week 1</c:v>
                  </c:pt>
                  <c:pt idx="1">
                    <c:v>Week 2</c:v>
                  </c:pt>
                  <c:pt idx="2">
                    <c:v>Week 3</c:v>
                  </c:pt>
                  <c:pt idx="3">
                    <c:v>Week 4</c:v>
                  </c:pt>
                </c:lvl>
              </c:multiLvlStrCache>
            </c:multiLvlStrRef>
          </c:cat>
          <c:val>
            <c:numRef>
              <c:f>Sheet1!$C$2:$C$5</c:f>
              <c:numCache>
                <c:formatCode>General</c:formatCode>
                <c:ptCount val="4"/>
                <c:pt idx="0">
                  <c:v>1.5</c:v>
                </c:pt>
                <c:pt idx="1">
                  <c:v>1.42</c:v>
                </c:pt>
                <c:pt idx="2">
                  <c:v>1.73</c:v>
                </c:pt>
                <c:pt idx="3">
                  <c:v>1.87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E2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DF2F4"/>
              </a:solidFill>
              <a:prstDash val="solid"/>
              <a:round/>
            </a:ln>
          </c:spPr>
        </c:majorGridlines>
        <c:title>
          <c:tx>
            <c:rich>
              <a:bodyPr/>
              <a:lstStyle/>
              <a:p>
                <a:pPr>
                  <a:defRPr sz="1000" b="0" i="0" u="none" strike="noStrike">
                    <a:solidFill>
                      <a:srgbClr val="6C757D"/>
                    </a:solidFill>
                    <a:latin typeface="Arial"/>
                  </a:defRPr>
                </a:pPr>
                <a:r>
                  <a:rPr sz="1000" b="0" i="0" u="none" strike="noStrike">
                    <a:solidFill>
                      <a:srgbClr val="6C757D"/>
                    </a:solidFill>
                    <a:latin typeface="Arial"/>
                  </a:rPr>
                  <a:t>Daily spend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57D"/>
                </a:solidFill>
                <a:latin typeface="Arial"/>
              </a:defRPr>
            </a:pPr>
            <a:endParaRPr lang="en-US"/>
          </a:p>
        </c:txPr>
        <c:crossAx val="2094734554"/>
        <c:crosses val="autoZero"/>
        <c:crossBetween val="between"/>
      </c:valAx>
      <c:valAx>
        <c:axId val="2094734553"/>
        <c:scaling>
          <c:orientation val="minMax"/>
          <c:max val="2"/>
          <c:min val="1"/>
        </c:scaling>
        <c:delete val="0"/>
        <c:axPos val="r"/>
        <c:title>
          <c:tx>
            <c:rich>
              <a:bodyPr/>
              <a:lstStyle/>
              <a:p>
                <a:pPr>
                  <a:defRPr sz="1000" b="0" i="0" u="none" strike="noStrike">
                    <a:solidFill>
                      <a:srgbClr val="6C757D"/>
                    </a:solidFill>
                    <a:latin typeface="Arial"/>
                  </a:defRPr>
                </a:pPr>
                <a:r>
                  <a:rPr sz="1000" b="0" i="0" u="none" strike="noStrike">
                    <a:solidFill>
                      <a:srgbClr val="6C757D"/>
                    </a:solidFill>
                    <a:latin typeface="Arial"/>
                  </a:rPr>
                  <a:t>ROAS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5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E23"/>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731520" y="1645920"/>
            <a:ext cx="365760" cy="73152"/>
          </a:xfrm>
          <a:prstGeom prst="rect">
            <a:avLst/>
          </a:prstGeom>
          <a:solidFill>
            <a:srgbClr val="F4A261"/>
          </a:solidFill>
          <a:ln/>
        </p:spPr>
      </p:sp>
      <p:sp>
        <p:nvSpPr>
          <p:cNvPr id="3" name="Text 1"/>
          <p:cNvSpPr/>
          <p:nvPr/>
        </p:nvSpPr>
        <p:spPr>
          <a:xfrm>
            <a:off x="731520" y="1828800"/>
            <a:ext cx="10058400" cy="365760"/>
          </a:xfrm>
          <a:prstGeom prst="rect">
            <a:avLst/>
          </a:prstGeom>
          <a:noFill/>
          <a:ln/>
        </p:spPr>
        <p:txBody>
          <a:bodyPr wrap="square" lIns="0" tIns="0" rIns="0" bIns="0" rtlCol="0" anchor="ctr"/>
          <a:lstStyle/>
          <a:p>
            <a:pPr indent="0" marL="0">
              <a:buNone/>
            </a:pPr>
            <a:r>
              <a:rPr lang="en-US" sz="1300" b="1" spc="400" kern="0" dirty="0">
                <a:solidFill>
                  <a:srgbClr val="F4A261"/>
                </a:solidFill>
                <a:latin typeface="Calibri" pitchFamily="34" charset="0"/>
                <a:ea typeface="Calibri" pitchFamily="34" charset="-122"/>
                <a:cs typeface="Calibri" pitchFamily="34" charset="-120"/>
              </a:rPr>
              <a:t>CASE STUDY  ·  DATA &amp; GROWTH ENGINEER</a:t>
            </a:r>
            <a:endParaRPr lang="en-US" sz="1300" dirty="0"/>
          </a:p>
        </p:txBody>
      </p:sp>
      <p:sp>
        <p:nvSpPr>
          <p:cNvPr id="4" name="Text 2"/>
          <p:cNvSpPr/>
          <p:nvPr/>
        </p:nvSpPr>
        <p:spPr>
          <a:xfrm>
            <a:off x="731520" y="2286000"/>
            <a:ext cx="10515600" cy="10058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Dental Bright → Norway</a:t>
            </a:r>
            <a:endParaRPr lang="en-US" sz="5600" dirty="0"/>
          </a:p>
        </p:txBody>
      </p:sp>
      <p:sp>
        <p:nvSpPr>
          <p:cNvPr id="5" name="Text 3"/>
          <p:cNvSpPr/>
          <p:nvPr/>
        </p:nvSpPr>
        <p:spPr>
          <a:xfrm>
            <a:off x="731520" y="3383280"/>
            <a:ext cx="10515600" cy="548640"/>
          </a:xfrm>
          <a:prstGeom prst="rect">
            <a:avLst/>
          </a:prstGeom>
          <a:noFill/>
          <a:ln/>
        </p:spPr>
        <p:txBody>
          <a:bodyPr wrap="square" lIns="0" tIns="0" rIns="0" bIns="0" rtlCol="0" anchor="ctr"/>
          <a:lstStyle/>
          <a:p>
            <a:pPr indent="0" marL="0">
              <a:buNone/>
            </a:pPr>
            <a:r>
              <a:rPr lang="en-US" sz="2200" i="1" dirty="0">
                <a:solidFill>
                  <a:srgbClr val="D8F3DC"/>
                </a:solidFill>
                <a:latin typeface="Calibri Light" pitchFamily="34" charset="0"/>
                <a:ea typeface="Calibri Light" pitchFamily="34" charset="-122"/>
                <a:cs typeface="Calibri Light" pitchFamily="34" charset="-120"/>
              </a:rPr>
              <a:t>Three Google Search campaigns to €1k/day at 1.5× ROAS</a:t>
            </a:r>
            <a:endParaRPr lang="en-US" sz="2200" dirty="0"/>
          </a:p>
        </p:txBody>
      </p:sp>
      <p:sp>
        <p:nvSpPr>
          <p:cNvPr id="6" name="Text 4"/>
          <p:cNvSpPr/>
          <p:nvPr/>
        </p:nvSpPr>
        <p:spPr>
          <a:xfrm>
            <a:off x="731520" y="4754880"/>
            <a:ext cx="22860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€63k</a:t>
            </a:r>
            <a:endParaRPr lang="en-US" sz="3200" dirty="0"/>
          </a:p>
        </p:txBody>
      </p:sp>
      <p:sp>
        <p:nvSpPr>
          <p:cNvPr id="7" name="Text 5"/>
          <p:cNvSpPr/>
          <p:nvPr/>
        </p:nvSpPr>
        <p:spPr>
          <a:xfrm>
            <a:off x="731520" y="5440680"/>
            <a:ext cx="2286000" cy="274320"/>
          </a:xfrm>
          <a:prstGeom prst="rect">
            <a:avLst/>
          </a:prstGeom>
          <a:noFill/>
          <a:ln/>
        </p:spPr>
        <p:txBody>
          <a:bodyPr wrap="square" lIns="0" tIns="0" rIns="0" bIns="0" rtlCol="0" anchor="ctr"/>
          <a:lstStyle/>
          <a:p>
            <a:pPr indent="0" marL="0">
              <a:buNone/>
            </a:pPr>
            <a:r>
              <a:rPr lang="en-US" sz="1100" spc="200" kern="0" dirty="0">
                <a:solidFill>
                  <a:srgbClr val="95D5B2"/>
                </a:solidFill>
                <a:latin typeface="Calibri" pitchFamily="34" charset="0"/>
                <a:ea typeface="Calibri" pitchFamily="34" charset="-122"/>
                <a:cs typeface="Calibri" pitchFamily="34" charset="-120"/>
              </a:rPr>
              <a:t>NL spend analyzed</a:t>
            </a:r>
            <a:endParaRPr lang="en-US" sz="1100" dirty="0"/>
          </a:p>
        </p:txBody>
      </p:sp>
      <p:sp>
        <p:nvSpPr>
          <p:cNvPr id="8" name="Text 6"/>
          <p:cNvSpPr/>
          <p:nvPr/>
        </p:nvSpPr>
        <p:spPr>
          <a:xfrm>
            <a:off x="3383280" y="4754880"/>
            <a:ext cx="22860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2,993</a:t>
            </a:r>
            <a:endParaRPr lang="en-US" sz="3200" dirty="0"/>
          </a:p>
        </p:txBody>
      </p:sp>
      <p:sp>
        <p:nvSpPr>
          <p:cNvPr id="9" name="Text 7"/>
          <p:cNvSpPr/>
          <p:nvPr/>
        </p:nvSpPr>
        <p:spPr>
          <a:xfrm>
            <a:off x="3383280" y="5440680"/>
            <a:ext cx="2286000" cy="274320"/>
          </a:xfrm>
          <a:prstGeom prst="rect">
            <a:avLst/>
          </a:prstGeom>
          <a:noFill/>
          <a:ln/>
        </p:spPr>
        <p:txBody>
          <a:bodyPr wrap="square" lIns="0" tIns="0" rIns="0" bIns="0" rtlCol="0" anchor="ctr"/>
          <a:lstStyle/>
          <a:p>
            <a:pPr indent="0" marL="0">
              <a:buNone/>
            </a:pPr>
            <a:r>
              <a:rPr lang="en-US" sz="1100" spc="200" kern="0" dirty="0">
                <a:solidFill>
                  <a:srgbClr val="95D5B2"/>
                </a:solidFill>
                <a:latin typeface="Calibri" pitchFamily="34" charset="0"/>
                <a:ea typeface="Calibri" pitchFamily="34" charset="-122"/>
                <a:cs typeface="Calibri" pitchFamily="34" charset="-120"/>
              </a:rPr>
              <a:t>unique search terms</a:t>
            </a:r>
            <a:endParaRPr lang="en-US" sz="1100" dirty="0"/>
          </a:p>
        </p:txBody>
      </p:sp>
      <p:sp>
        <p:nvSpPr>
          <p:cNvPr id="10" name="Text 8"/>
          <p:cNvSpPr/>
          <p:nvPr/>
        </p:nvSpPr>
        <p:spPr>
          <a:xfrm>
            <a:off x="6035040" y="4754880"/>
            <a:ext cx="22860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2.72×</a:t>
            </a:r>
            <a:endParaRPr lang="en-US" sz="3200" dirty="0"/>
          </a:p>
        </p:txBody>
      </p:sp>
      <p:sp>
        <p:nvSpPr>
          <p:cNvPr id="11" name="Text 9"/>
          <p:cNvSpPr/>
          <p:nvPr/>
        </p:nvSpPr>
        <p:spPr>
          <a:xfrm>
            <a:off x="6035040" y="5440680"/>
            <a:ext cx="2286000" cy="274320"/>
          </a:xfrm>
          <a:prstGeom prst="rect">
            <a:avLst/>
          </a:prstGeom>
          <a:noFill/>
          <a:ln/>
        </p:spPr>
        <p:txBody>
          <a:bodyPr wrap="square" lIns="0" tIns="0" rIns="0" bIns="0" rtlCol="0" anchor="ctr"/>
          <a:lstStyle/>
          <a:p>
            <a:pPr indent="0" marL="0">
              <a:buNone/>
            </a:pPr>
            <a:r>
              <a:rPr lang="en-US" sz="1100" spc="200" kern="0" dirty="0">
                <a:solidFill>
                  <a:srgbClr val="95D5B2"/>
                </a:solidFill>
                <a:latin typeface="Calibri" pitchFamily="34" charset="0"/>
                <a:ea typeface="Calibri" pitchFamily="34" charset="-122"/>
                <a:cs typeface="Calibri" pitchFamily="34" charset="-120"/>
              </a:rPr>
              <a:t>current NL ROAS</a:t>
            </a:r>
            <a:endParaRPr lang="en-US" sz="1100" dirty="0"/>
          </a:p>
        </p:txBody>
      </p:sp>
      <p:sp>
        <p:nvSpPr>
          <p:cNvPr id="12" name="Text 10"/>
          <p:cNvSpPr/>
          <p:nvPr/>
        </p:nvSpPr>
        <p:spPr>
          <a:xfrm>
            <a:off x="8686800" y="4754880"/>
            <a:ext cx="22860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€59</a:t>
            </a:r>
            <a:endParaRPr lang="en-US" sz="3200" dirty="0"/>
          </a:p>
        </p:txBody>
      </p:sp>
      <p:sp>
        <p:nvSpPr>
          <p:cNvPr id="13" name="Text 11"/>
          <p:cNvSpPr/>
          <p:nvPr/>
        </p:nvSpPr>
        <p:spPr>
          <a:xfrm>
            <a:off x="8686800" y="5440680"/>
            <a:ext cx="2286000" cy="274320"/>
          </a:xfrm>
          <a:prstGeom prst="rect">
            <a:avLst/>
          </a:prstGeom>
          <a:noFill/>
          <a:ln/>
        </p:spPr>
        <p:txBody>
          <a:bodyPr wrap="square" lIns="0" tIns="0" rIns="0" bIns="0" rtlCol="0" anchor="ctr"/>
          <a:lstStyle/>
          <a:p>
            <a:pPr indent="0" marL="0">
              <a:buNone/>
            </a:pPr>
            <a:r>
              <a:rPr lang="en-US" sz="1100" spc="200" kern="0" dirty="0">
                <a:solidFill>
                  <a:srgbClr val="95D5B2"/>
                </a:solidFill>
                <a:latin typeface="Calibri" pitchFamily="34" charset="0"/>
                <a:ea typeface="Calibri" pitchFamily="34" charset="-122"/>
                <a:cs typeface="Calibri" pitchFamily="34" charset="-120"/>
              </a:rPr>
              <a:t>blended AOV</a:t>
            </a:r>
            <a:endParaRPr lang="en-US" sz="1100" dirty="0"/>
          </a:p>
        </p:txBody>
      </p:sp>
      <p:sp>
        <p:nvSpPr>
          <p:cNvPr id="14" name="Text 12"/>
          <p:cNvSpPr/>
          <p:nvPr/>
        </p:nvSpPr>
        <p:spPr>
          <a:xfrm>
            <a:off x="731520" y="6263640"/>
            <a:ext cx="5486400" cy="274320"/>
          </a:xfrm>
          <a:prstGeom prst="rect">
            <a:avLst/>
          </a:prstGeom>
          <a:noFill/>
          <a:ln/>
        </p:spPr>
        <p:txBody>
          <a:bodyPr wrap="square" lIns="0" tIns="0" rIns="0" bIns="0" rtlCol="0" anchor="ctr"/>
          <a:lstStyle/>
          <a:p>
            <a:pPr indent="0" marL="0">
              <a:buNone/>
            </a:pPr>
            <a:r>
              <a:rPr lang="en-US" sz="1100" dirty="0">
                <a:solidFill>
                  <a:srgbClr val="95D5B2"/>
                </a:solidFill>
                <a:latin typeface="Calibri" pitchFamily="34" charset="0"/>
                <a:ea typeface="Calibri" pitchFamily="34" charset="-122"/>
                <a:cs typeface="Calibri" pitchFamily="34" charset="-120"/>
              </a:rPr>
              <a:t>Danil Sysenko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50292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TL;DR</a:t>
            </a:r>
            <a:endParaRPr lang="en-US" sz="3800" dirty="0"/>
          </a:p>
        </p:txBody>
      </p:sp>
      <p:sp>
        <p:nvSpPr>
          <p:cNvPr id="3" name="Text 1"/>
          <p:cNvSpPr/>
          <p:nvPr/>
        </p:nvSpPr>
        <p:spPr>
          <a:xfrm>
            <a:off x="457200" y="868680"/>
            <a:ext cx="10972800" cy="365760"/>
          </a:xfrm>
          <a:prstGeom prst="rect">
            <a:avLst/>
          </a:prstGeom>
          <a:noFill/>
          <a:ln/>
        </p:spPr>
        <p:txBody>
          <a:bodyPr wrap="square" lIns="0" tIns="0" rIns="0" bIns="0" rtlCol="0" anchor="ctr"/>
          <a:lstStyle/>
          <a:p>
            <a:pPr indent="0" marL="0">
              <a:buNone/>
            </a:pPr>
            <a:r>
              <a:rPr lang="en-US" sz="1600" i="1" dirty="0">
                <a:solidFill>
                  <a:srgbClr val="6C757D"/>
                </a:solidFill>
                <a:latin typeface="Calibri Light" pitchFamily="34" charset="0"/>
                <a:ea typeface="Calibri Light" pitchFamily="34" charset="-122"/>
                <a:cs typeface="Calibri Light" pitchFamily="34" charset="-120"/>
              </a:rPr>
              <a:t>€14.4k over four weeks → €24.9k revenue. 1.74× blended, W2 dips before it scales.</a:t>
            </a:r>
            <a:endParaRPr lang="en-US" sz="1600" dirty="0"/>
          </a:p>
        </p:txBody>
      </p:sp>
      <p:sp>
        <p:nvSpPr>
          <p:cNvPr id="4" name="Shape 2"/>
          <p:cNvSpPr/>
          <p:nvPr/>
        </p:nvSpPr>
        <p:spPr>
          <a:xfrm>
            <a:off x="457200" y="1554480"/>
            <a:ext cx="3657600" cy="2377440"/>
          </a:xfrm>
          <a:prstGeom prst="rect">
            <a:avLst/>
          </a:prstGeom>
          <a:solidFill>
            <a:srgbClr val="F8F9FA"/>
          </a:solidFill>
          <a:ln w="12700">
            <a:solidFill>
              <a:srgbClr val="E9ECEF"/>
            </a:solidFill>
            <a:prstDash val="solid"/>
          </a:ln>
        </p:spPr>
      </p:sp>
      <p:sp>
        <p:nvSpPr>
          <p:cNvPr id="5" name="Shape 3"/>
          <p:cNvSpPr/>
          <p:nvPr/>
        </p:nvSpPr>
        <p:spPr>
          <a:xfrm>
            <a:off x="457200" y="1554480"/>
            <a:ext cx="73152" cy="2377440"/>
          </a:xfrm>
          <a:prstGeom prst="rect">
            <a:avLst/>
          </a:prstGeom>
          <a:solidFill>
            <a:srgbClr val="2D6A4F"/>
          </a:solidFill>
          <a:ln/>
        </p:spPr>
      </p:sp>
      <p:sp>
        <p:nvSpPr>
          <p:cNvPr id="6" name="Text 4"/>
          <p:cNvSpPr/>
          <p:nvPr/>
        </p:nvSpPr>
        <p:spPr>
          <a:xfrm>
            <a:off x="731520" y="1691640"/>
            <a:ext cx="914400" cy="457200"/>
          </a:xfrm>
          <a:prstGeom prst="rect">
            <a:avLst/>
          </a:prstGeom>
          <a:noFill/>
          <a:ln/>
        </p:spPr>
        <p:txBody>
          <a:bodyPr wrap="square" lIns="0" tIns="0" rIns="0" bIns="0" rtlCol="0" anchor="ctr"/>
          <a:lstStyle/>
          <a:p>
            <a:pPr indent="0" marL="0">
              <a:buNone/>
            </a:pPr>
            <a:r>
              <a:rPr lang="en-US" sz="1400" b="1" dirty="0">
                <a:solidFill>
                  <a:srgbClr val="E76F51"/>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731520" y="2011680"/>
            <a:ext cx="3291840" cy="457200"/>
          </a:xfrm>
          <a:prstGeom prst="rect">
            <a:avLst/>
          </a:prstGeom>
          <a:noFill/>
          <a:ln/>
        </p:spPr>
        <p:txBody>
          <a:bodyPr wrap="square" lIns="0" tIns="0" rIns="0" bIns="0" rtlCol="0" anchor="ctr"/>
          <a:lstStyle/>
          <a:p>
            <a:pPr indent="0" marL="0">
              <a:buNone/>
            </a:pPr>
            <a:r>
              <a:rPr lang="en-US" sz="2200" b="1" dirty="0">
                <a:solidFill>
                  <a:srgbClr val="1A2E23"/>
                </a:solidFill>
                <a:latin typeface="Georgia" pitchFamily="34" charset="0"/>
                <a:ea typeface="Georgia" pitchFamily="34" charset="-122"/>
                <a:cs typeface="Georgia" pitchFamily="34" charset="-120"/>
              </a:rPr>
              <a:t>Problem-Aware</a:t>
            </a:r>
            <a:endParaRPr lang="en-US" sz="2200" dirty="0"/>
          </a:p>
        </p:txBody>
      </p:sp>
      <p:sp>
        <p:nvSpPr>
          <p:cNvPr id="8" name="Text 6"/>
          <p:cNvSpPr/>
          <p:nvPr/>
        </p:nvSpPr>
        <p:spPr>
          <a:xfrm>
            <a:off x="731520" y="2560320"/>
            <a:ext cx="3291840" cy="32004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30%</a:t>
            </a:r>
            <a:pPr indent="0" marL="0">
              <a:buNone/>
            </a:pPr>
            <a:r>
              <a:rPr lang="en-US" sz="1200" dirty="0">
                <a:solidFill>
                  <a:srgbClr val="6C757D"/>
                </a:solidFill>
                <a:latin typeface="Calibri" pitchFamily="34" charset="0"/>
                <a:ea typeface="Calibri" pitchFamily="34" charset="-122"/>
                <a:cs typeface="Calibri" pitchFamily="34" charset="-120"/>
              </a:rPr>
              <a:t>  of budget  ·  </a:t>
            </a:r>
            <a:pPr indent="0" marL="0">
              <a:buNone/>
            </a:pPr>
            <a:r>
              <a:rPr lang="en-US" sz="1400" b="1" dirty="0">
                <a:solidFill>
                  <a:srgbClr val="2D6A4F"/>
                </a:solidFill>
                <a:latin typeface="Calibri" pitchFamily="34" charset="0"/>
                <a:ea typeface="Calibri" pitchFamily="34" charset="-122"/>
                <a:cs typeface="Calibri" pitchFamily="34" charset="-120"/>
              </a:rPr>
              <a:t>2.87×</a:t>
            </a:r>
            <a:pPr indent="0" marL="0">
              <a:buNone/>
            </a:pPr>
            <a:r>
              <a:rPr lang="en-US" sz="1200" dirty="0">
                <a:solidFill>
                  <a:srgbClr val="6C757D"/>
                </a:solidFill>
                <a:latin typeface="Calibri" pitchFamily="34" charset="0"/>
                <a:ea typeface="Calibri" pitchFamily="34" charset="-122"/>
                <a:cs typeface="Calibri" pitchFamily="34" charset="-120"/>
              </a:rPr>
              <a:t>  NL benchmark</a:t>
            </a:r>
            <a:endParaRPr lang="en-US" sz="1400" dirty="0"/>
          </a:p>
        </p:txBody>
      </p:sp>
      <p:sp>
        <p:nvSpPr>
          <p:cNvPr id="9" name="Text 7"/>
          <p:cNvSpPr/>
          <p:nvPr/>
        </p:nvSpPr>
        <p:spPr>
          <a:xfrm>
            <a:off x="731520" y="2971800"/>
            <a:ext cx="3291840" cy="914400"/>
          </a:xfrm>
          <a:prstGeom prst="rect">
            <a:avLst/>
          </a:prstGeom>
          <a:noFill/>
          <a:ln/>
        </p:spPr>
        <p:txBody>
          <a:bodyPr wrap="square" lIns="0" tIns="0" rIns="0" bIns="0" rtlCol="0" anchor="ctr"/>
          <a:lstStyle/>
          <a:p>
            <a:pPr indent="0" marL="0">
              <a:buNone/>
            </a:pPr>
            <a:r>
              <a:rPr lang="en-US" sz="1200" dirty="0">
                <a:solidFill>
                  <a:srgbClr val="1A2E23"/>
                </a:solidFill>
                <a:latin typeface="Calibri Light" pitchFamily="34" charset="0"/>
                <a:ea typeface="Calibri Light" pitchFamily="34" charset="-122"/>
                <a:cs typeface="Calibri Light" pitchFamily="34" charset="-120"/>
              </a:rPr>
              <a:t>Symptom queries: bad breath, tartar, gum issues. Cheapest CPC, hottest intent.</a:t>
            </a:r>
            <a:endParaRPr lang="en-US" sz="1200" dirty="0"/>
          </a:p>
        </p:txBody>
      </p:sp>
      <p:sp>
        <p:nvSpPr>
          <p:cNvPr id="10" name="Shape 8"/>
          <p:cNvSpPr/>
          <p:nvPr/>
        </p:nvSpPr>
        <p:spPr>
          <a:xfrm>
            <a:off x="4389120" y="1554480"/>
            <a:ext cx="3657600" cy="2377440"/>
          </a:xfrm>
          <a:prstGeom prst="rect">
            <a:avLst/>
          </a:prstGeom>
          <a:solidFill>
            <a:srgbClr val="F8F9FA"/>
          </a:solidFill>
          <a:ln w="12700">
            <a:solidFill>
              <a:srgbClr val="E9ECEF"/>
            </a:solidFill>
            <a:prstDash val="solid"/>
          </a:ln>
        </p:spPr>
      </p:sp>
      <p:sp>
        <p:nvSpPr>
          <p:cNvPr id="11" name="Shape 9"/>
          <p:cNvSpPr/>
          <p:nvPr/>
        </p:nvSpPr>
        <p:spPr>
          <a:xfrm>
            <a:off x="4389120" y="1554480"/>
            <a:ext cx="73152" cy="2377440"/>
          </a:xfrm>
          <a:prstGeom prst="rect">
            <a:avLst/>
          </a:prstGeom>
          <a:solidFill>
            <a:srgbClr val="2D6A4F"/>
          </a:solidFill>
          <a:ln/>
        </p:spPr>
      </p:sp>
      <p:sp>
        <p:nvSpPr>
          <p:cNvPr id="12" name="Text 10"/>
          <p:cNvSpPr/>
          <p:nvPr/>
        </p:nvSpPr>
        <p:spPr>
          <a:xfrm>
            <a:off x="4663440" y="1691640"/>
            <a:ext cx="914400" cy="457200"/>
          </a:xfrm>
          <a:prstGeom prst="rect">
            <a:avLst/>
          </a:prstGeom>
          <a:noFill/>
          <a:ln/>
        </p:spPr>
        <p:txBody>
          <a:bodyPr wrap="square" lIns="0" tIns="0" rIns="0" bIns="0" rtlCol="0" anchor="ctr"/>
          <a:lstStyle/>
          <a:p>
            <a:pPr indent="0" marL="0">
              <a:buNone/>
            </a:pPr>
            <a:r>
              <a:rPr lang="en-US" sz="1400" b="1" dirty="0">
                <a:solidFill>
                  <a:srgbClr val="E76F51"/>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4663440" y="2011680"/>
            <a:ext cx="3291840" cy="457200"/>
          </a:xfrm>
          <a:prstGeom prst="rect">
            <a:avLst/>
          </a:prstGeom>
          <a:noFill/>
          <a:ln/>
        </p:spPr>
        <p:txBody>
          <a:bodyPr wrap="square" lIns="0" tIns="0" rIns="0" bIns="0" rtlCol="0" anchor="ctr"/>
          <a:lstStyle/>
          <a:p>
            <a:pPr indent="0" marL="0">
              <a:buNone/>
            </a:pPr>
            <a:r>
              <a:rPr lang="en-US" sz="2200" b="1" dirty="0">
                <a:solidFill>
                  <a:srgbClr val="1A2E23"/>
                </a:solidFill>
                <a:latin typeface="Georgia" pitchFamily="34" charset="0"/>
                <a:ea typeface="Georgia" pitchFamily="34" charset="-122"/>
                <a:cs typeface="Georgia" pitchFamily="34" charset="-120"/>
              </a:rPr>
              <a:t>Solution-Aware</a:t>
            </a:r>
            <a:endParaRPr lang="en-US" sz="2200" dirty="0"/>
          </a:p>
        </p:txBody>
      </p:sp>
      <p:sp>
        <p:nvSpPr>
          <p:cNvPr id="14" name="Text 12"/>
          <p:cNvSpPr/>
          <p:nvPr/>
        </p:nvSpPr>
        <p:spPr>
          <a:xfrm>
            <a:off x="4663440" y="2560320"/>
            <a:ext cx="3291840" cy="32004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55%</a:t>
            </a:r>
            <a:pPr indent="0" marL="0">
              <a:buNone/>
            </a:pPr>
            <a:r>
              <a:rPr lang="en-US" sz="1200" dirty="0">
                <a:solidFill>
                  <a:srgbClr val="6C757D"/>
                </a:solidFill>
                <a:latin typeface="Calibri" pitchFamily="34" charset="0"/>
                <a:ea typeface="Calibri" pitchFamily="34" charset="-122"/>
                <a:cs typeface="Calibri" pitchFamily="34" charset="-120"/>
              </a:rPr>
              <a:t>  of budget  ·  </a:t>
            </a:r>
            <a:pPr indent="0" marL="0">
              <a:buNone/>
            </a:pPr>
            <a:r>
              <a:rPr lang="en-US" sz="1400" b="1" dirty="0">
                <a:solidFill>
                  <a:srgbClr val="2D6A4F"/>
                </a:solidFill>
                <a:latin typeface="Calibri" pitchFamily="34" charset="0"/>
                <a:ea typeface="Calibri" pitchFamily="34" charset="-122"/>
                <a:cs typeface="Calibri" pitchFamily="34" charset="-120"/>
              </a:rPr>
              <a:t>3.09×</a:t>
            </a:r>
            <a:pPr indent="0" marL="0">
              <a:buNone/>
            </a:pPr>
            <a:r>
              <a:rPr lang="en-US" sz="1200" dirty="0">
                <a:solidFill>
                  <a:srgbClr val="6C757D"/>
                </a:solidFill>
                <a:latin typeface="Calibri" pitchFamily="34" charset="0"/>
                <a:ea typeface="Calibri" pitchFamily="34" charset="-122"/>
                <a:cs typeface="Calibri" pitchFamily="34" charset="-120"/>
              </a:rPr>
              <a:t>  NL benchmark</a:t>
            </a:r>
            <a:endParaRPr lang="en-US" sz="1400" dirty="0"/>
          </a:p>
        </p:txBody>
      </p:sp>
      <p:sp>
        <p:nvSpPr>
          <p:cNvPr id="15" name="Text 13"/>
          <p:cNvSpPr/>
          <p:nvPr/>
        </p:nvSpPr>
        <p:spPr>
          <a:xfrm>
            <a:off x="4663440" y="2971800"/>
            <a:ext cx="3291840" cy="914400"/>
          </a:xfrm>
          <a:prstGeom prst="rect">
            <a:avLst/>
          </a:prstGeom>
          <a:noFill/>
          <a:ln/>
        </p:spPr>
        <p:txBody>
          <a:bodyPr wrap="square" lIns="0" tIns="0" rIns="0" bIns="0" rtlCol="0" anchor="ctr"/>
          <a:lstStyle/>
          <a:p>
            <a:pPr indent="0" marL="0">
              <a:buNone/>
            </a:pPr>
            <a:r>
              <a:rPr lang="en-US" sz="1200" dirty="0">
                <a:solidFill>
                  <a:srgbClr val="1A2E23"/>
                </a:solidFill>
                <a:latin typeface="Calibri Light" pitchFamily="34" charset="0"/>
                <a:ea typeface="Calibri Light" pitchFamily="34" charset="-122"/>
                <a:cs typeface="Calibri Light" pitchFamily="34" charset="-120"/>
              </a:rPr>
              <a:t>Category queries: tannpulver, tannpleie, tannstein fjerning. Volume + highest ROAS.</a:t>
            </a:r>
            <a:endParaRPr lang="en-US" sz="1200" dirty="0"/>
          </a:p>
        </p:txBody>
      </p:sp>
      <p:sp>
        <p:nvSpPr>
          <p:cNvPr id="16" name="Shape 14"/>
          <p:cNvSpPr/>
          <p:nvPr/>
        </p:nvSpPr>
        <p:spPr>
          <a:xfrm>
            <a:off x="8321040" y="1554480"/>
            <a:ext cx="3657600" cy="2377440"/>
          </a:xfrm>
          <a:prstGeom prst="rect">
            <a:avLst/>
          </a:prstGeom>
          <a:solidFill>
            <a:srgbClr val="F8F9FA"/>
          </a:solidFill>
          <a:ln w="12700">
            <a:solidFill>
              <a:srgbClr val="E9ECEF"/>
            </a:solidFill>
            <a:prstDash val="solid"/>
          </a:ln>
        </p:spPr>
      </p:sp>
      <p:sp>
        <p:nvSpPr>
          <p:cNvPr id="17" name="Shape 15"/>
          <p:cNvSpPr/>
          <p:nvPr/>
        </p:nvSpPr>
        <p:spPr>
          <a:xfrm>
            <a:off x="8321040" y="1554480"/>
            <a:ext cx="73152" cy="2377440"/>
          </a:xfrm>
          <a:prstGeom prst="rect">
            <a:avLst/>
          </a:prstGeom>
          <a:solidFill>
            <a:srgbClr val="2D6A4F"/>
          </a:solidFill>
          <a:ln/>
        </p:spPr>
      </p:sp>
      <p:sp>
        <p:nvSpPr>
          <p:cNvPr id="18" name="Text 16"/>
          <p:cNvSpPr/>
          <p:nvPr/>
        </p:nvSpPr>
        <p:spPr>
          <a:xfrm>
            <a:off x="8595360" y="1691640"/>
            <a:ext cx="914400" cy="457200"/>
          </a:xfrm>
          <a:prstGeom prst="rect">
            <a:avLst/>
          </a:prstGeom>
          <a:noFill/>
          <a:ln/>
        </p:spPr>
        <p:txBody>
          <a:bodyPr wrap="square" lIns="0" tIns="0" rIns="0" bIns="0" rtlCol="0" anchor="ctr"/>
          <a:lstStyle/>
          <a:p>
            <a:pPr indent="0" marL="0">
              <a:buNone/>
            </a:pPr>
            <a:r>
              <a:rPr lang="en-US" sz="1400" b="1" dirty="0">
                <a:solidFill>
                  <a:srgbClr val="E76F51"/>
                </a:solidFill>
                <a:latin typeface="Calibri" pitchFamily="34" charset="0"/>
                <a:ea typeface="Calibri" pitchFamily="34" charset="-122"/>
                <a:cs typeface="Calibri" pitchFamily="34" charset="-120"/>
              </a:rPr>
              <a:t>03</a:t>
            </a:r>
            <a:endParaRPr lang="en-US" sz="1400" dirty="0"/>
          </a:p>
        </p:txBody>
      </p:sp>
      <p:sp>
        <p:nvSpPr>
          <p:cNvPr id="19" name="Text 17"/>
          <p:cNvSpPr/>
          <p:nvPr/>
        </p:nvSpPr>
        <p:spPr>
          <a:xfrm>
            <a:off x="8595360" y="2011680"/>
            <a:ext cx="3291840" cy="457200"/>
          </a:xfrm>
          <a:prstGeom prst="rect">
            <a:avLst/>
          </a:prstGeom>
          <a:noFill/>
          <a:ln/>
        </p:spPr>
        <p:txBody>
          <a:bodyPr wrap="square" lIns="0" tIns="0" rIns="0" bIns="0" rtlCol="0" anchor="ctr"/>
          <a:lstStyle/>
          <a:p>
            <a:pPr indent="0" marL="0">
              <a:buNone/>
            </a:pPr>
            <a:r>
              <a:rPr lang="en-US" sz="2200" b="1" dirty="0">
                <a:solidFill>
                  <a:srgbClr val="1A2E23"/>
                </a:solidFill>
                <a:latin typeface="Georgia" pitchFamily="34" charset="0"/>
                <a:ea typeface="Georgia" pitchFamily="34" charset="-122"/>
                <a:cs typeface="Georgia" pitchFamily="34" charset="-120"/>
              </a:rPr>
              <a:t>DSA Discovery</a:t>
            </a:r>
            <a:endParaRPr lang="en-US" sz="2200" dirty="0"/>
          </a:p>
        </p:txBody>
      </p:sp>
      <p:sp>
        <p:nvSpPr>
          <p:cNvPr id="20" name="Text 18"/>
          <p:cNvSpPr/>
          <p:nvPr/>
        </p:nvSpPr>
        <p:spPr>
          <a:xfrm>
            <a:off x="8595360" y="2560320"/>
            <a:ext cx="3291840" cy="32004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15%</a:t>
            </a:r>
            <a:pPr indent="0" marL="0">
              <a:buNone/>
            </a:pPr>
            <a:r>
              <a:rPr lang="en-US" sz="1200" dirty="0">
                <a:solidFill>
                  <a:srgbClr val="6C757D"/>
                </a:solidFill>
                <a:latin typeface="Calibri" pitchFamily="34" charset="0"/>
                <a:ea typeface="Calibri" pitchFamily="34" charset="-122"/>
                <a:cs typeface="Calibri" pitchFamily="34" charset="-120"/>
              </a:rPr>
              <a:t>  of budget  ·  </a:t>
            </a:r>
            <a:pPr indent="0" marL="0">
              <a:buNone/>
            </a:pPr>
            <a:r>
              <a:rPr lang="en-US" sz="1400" b="1" dirty="0">
                <a:solidFill>
                  <a:srgbClr val="2D6A4F"/>
                </a:solidFill>
                <a:latin typeface="Calibri" pitchFamily="34" charset="0"/>
                <a:ea typeface="Calibri" pitchFamily="34" charset="-122"/>
                <a:cs typeface="Calibri" pitchFamily="34" charset="-120"/>
              </a:rPr>
              <a:t>~1.8×</a:t>
            </a:r>
            <a:pPr indent="0" marL="0">
              <a:buNone/>
            </a:pPr>
            <a:r>
              <a:rPr lang="en-US" sz="1200" dirty="0">
                <a:solidFill>
                  <a:srgbClr val="6C757D"/>
                </a:solidFill>
                <a:latin typeface="Calibri" pitchFamily="34" charset="0"/>
                <a:ea typeface="Calibri" pitchFamily="34" charset="-122"/>
                <a:cs typeface="Calibri" pitchFamily="34" charset="-120"/>
              </a:rPr>
              <a:t>  NL benchmark</a:t>
            </a:r>
            <a:endParaRPr lang="en-US" sz="1400" dirty="0"/>
          </a:p>
        </p:txBody>
      </p:sp>
      <p:sp>
        <p:nvSpPr>
          <p:cNvPr id="21" name="Text 19"/>
          <p:cNvSpPr/>
          <p:nvPr/>
        </p:nvSpPr>
        <p:spPr>
          <a:xfrm>
            <a:off x="8595360" y="2971800"/>
            <a:ext cx="3291840" cy="914400"/>
          </a:xfrm>
          <a:prstGeom prst="rect">
            <a:avLst/>
          </a:prstGeom>
          <a:noFill/>
          <a:ln/>
        </p:spPr>
        <p:txBody>
          <a:bodyPr wrap="square" lIns="0" tIns="0" rIns="0" bIns="0" rtlCol="0" anchor="ctr"/>
          <a:lstStyle/>
          <a:p>
            <a:pPr indent="0" marL="0">
              <a:buNone/>
            </a:pPr>
            <a:r>
              <a:rPr lang="en-US" sz="1200" dirty="0">
                <a:solidFill>
                  <a:srgbClr val="1A2E23"/>
                </a:solidFill>
                <a:latin typeface="Calibri Light" pitchFamily="34" charset="0"/>
                <a:ea typeface="Calibri Light" pitchFamily="34" charset="-122"/>
                <a:cs typeface="Calibri Light" pitchFamily="34" charset="-120"/>
              </a:rPr>
              <a:t>Dynamic Search Ads on landing pages. Finds NO-specific queries our translation misses.</a:t>
            </a:r>
            <a:endParaRPr lang="en-US" sz="1200" dirty="0"/>
          </a:p>
        </p:txBody>
      </p:sp>
      <p:sp>
        <p:nvSpPr>
          <p:cNvPr id="22" name="Text 20"/>
          <p:cNvSpPr/>
          <p:nvPr/>
        </p:nvSpPr>
        <p:spPr>
          <a:xfrm>
            <a:off x="457200" y="4206240"/>
            <a:ext cx="7315200" cy="36576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Path to target</a:t>
            </a:r>
            <a:endParaRPr lang="en-US" sz="1800" dirty="0"/>
          </a:p>
        </p:txBody>
      </p:sp>
      <p:sp>
        <p:nvSpPr>
          <p:cNvPr id="23" name="Shape 21"/>
          <p:cNvSpPr/>
          <p:nvPr/>
        </p:nvSpPr>
        <p:spPr>
          <a:xfrm>
            <a:off x="457200" y="4709160"/>
            <a:ext cx="2743200" cy="1280160"/>
          </a:xfrm>
          <a:prstGeom prst="rect">
            <a:avLst/>
          </a:prstGeom>
          <a:solidFill>
            <a:srgbClr val="F8F9FA"/>
          </a:solidFill>
          <a:ln w="12700">
            <a:solidFill>
              <a:srgbClr val="E9ECEF"/>
            </a:solidFill>
            <a:prstDash val="solid"/>
          </a:ln>
        </p:spPr>
      </p:sp>
      <p:sp>
        <p:nvSpPr>
          <p:cNvPr id="24" name="Text 22"/>
          <p:cNvSpPr/>
          <p:nvPr/>
        </p:nvSpPr>
        <p:spPr>
          <a:xfrm>
            <a:off x="594360" y="4800600"/>
            <a:ext cx="2468880" cy="320040"/>
          </a:xfrm>
          <a:prstGeom prst="rect">
            <a:avLst/>
          </a:prstGeom>
          <a:noFill/>
          <a:ln/>
        </p:spPr>
        <p:txBody>
          <a:bodyPr wrap="square" lIns="0" tIns="0" rIns="0" bIns="0" rtlCol="0" anchor="ctr"/>
          <a:lstStyle/>
          <a:p>
            <a:pPr indent="0" marL="0">
              <a:buNone/>
            </a:pPr>
            <a:r>
              <a:rPr lang="en-US" sz="1300" b="1" spc="200" kern="0" dirty="0">
                <a:solidFill>
                  <a:srgbClr val="6C757D"/>
                </a:solidFill>
                <a:latin typeface="Calibri" pitchFamily="34" charset="0"/>
                <a:ea typeface="Calibri" pitchFamily="34" charset="-122"/>
                <a:cs typeface="Calibri" pitchFamily="34" charset="-120"/>
              </a:rPr>
              <a:t>Week 1</a:t>
            </a:r>
            <a:endParaRPr lang="en-US" sz="1300" dirty="0"/>
          </a:p>
        </p:txBody>
      </p:sp>
      <p:sp>
        <p:nvSpPr>
          <p:cNvPr id="25" name="Text 23"/>
          <p:cNvSpPr/>
          <p:nvPr/>
        </p:nvSpPr>
        <p:spPr>
          <a:xfrm>
            <a:off x="594360" y="5120640"/>
            <a:ext cx="2468880" cy="502920"/>
          </a:xfrm>
          <a:prstGeom prst="rect">
            <a:avLst/>
          </a:prstGeom>
          <a:noFill/>
          <a:ln/>
        </p:spPr>
        <p:txBody>
          <a:bodyPr wrap="square" lIns="0" tIns="0" rIns="0" bIns="0" rtlCol="0" anchor="ctr"/>
          <a:lstStyle/>
          <a:p>
            <a:pPr indent="0" marL="0">
              <a:buNone/>
            </a:pPr>
            <a:r>
              <a:rPr lang="en-US" sz="2600" b="1" dirty="0">
                <a:solidFill>
                  <a:srgbClr val="1A2E23"/>
                </a:solidFill>
                <a:latin typeface="Georgia" pitchFamily="34" charset="0"/>
                <a:ea typeface="Georgia" pitchFamily="34" charset="-122"/>
                <a:cs typeface="Georgia" pitchFamily="34" charset="-120"/>
              </a:rPr>
              <a:t>€150/day</a:t>
            </a:r>
            <a:endParaRPr lang="en-US" sz="2600" dirty="0"/>
          </a:p>
        </p:txBody>
      </p:sp>
      <p:sp>
        <p:nvSpPr>
          <p:cNvPr id="26" name="Text 24"/>
          <p:cNvSpPr/>
          <p:nvPr/>
        </p:nvSpPr>
        <p:spPr>
          <a:xfrm>
            <a:off x="594360" y="5669280"/>
            <a:ext cx="2468880" cy="274320"/>
          </a:xfrm>
          <a:prstGeom prst="rect">
            <a:avLst/>
          </a:prstGeom>
          <a:noFill/>
          <a:ln/>
        </p:spPr>
        <p:txBody>
          <a:bodyPr wrap="square" lIns="0" tIns="0" rIns="0" bIns="0" rtlCol="0" anchor="ctr"/>
          <a:lstStyle/>
          <a:p>
            <a:pPr indent="0" marL="0">
              <a:buNone/>
            </a:pPr>
            <a:r>
              <a:rPr lang="en-US" sz="1300" b="1" dirty="0">
                <a:solidFill>
                  <a:srgbClr val="2D6A4F"/>
                </a:solidFill>
                <a:latin typeface="Calibri" pitchFamily="34" charset="0"/>
                <a:ea typeface="Calibri" pitchFamily="34" charset="-122"/>
                <a:cs typeface="Calibri" pitchFamily="34" charset="-120"/>
              </a:rPr>
              <a:t>ROAS  1.50×</a:t>
            </a:r>
            <a:endParaRPr lang="en-US" sz="1300" dirty="0"/>
          </a:p>
        </p:txBody>
      </p:sp>
      <p:sp>
        <p:nvSpPr>
          <p:cNvPr id="27" name="Shape 25"/>
          <p:cNvSpPr/>
          <p:nvPr/>
        </p:nvSpPr>
        <p:spPr>
          <a:xfrm>
            <a:off x="3383280" y="4709160"/>
            <a:ext cx="2743200" cy="1280160"/>
          </a:xfrm>
          <a:prstGeom prst="rect">
            <a:avLst/>
          </a:prstGeom>
          <a:solidFill>
            <a:srgbClr val="F8F9FA"/>
          </a:solidFill>
          <a:ln w="12700">
            <a:solidFill>
              <a:srgbClr val="E9ECEF"/>
            </a:solidFill>
            <a:prstDash val="solid"/>
          </a:ln>
        </p:spPr>
      </p:sp>
      <p:sp>
        <p:nvSpPr>
          <p:cNvPr id="28" name="Text 26"/>
          <p:cNvSpPr/>
          <p:nvPr/>
        </p:nvSpPr>
        <p:spPr>
          <a:xfrm>
            <a:off x="3520440" y="4800600"/>
            <a:ext cx="2468880" cy="320040"/>
          </a:xfrm>
          <a:prstGeom prst="rect">
            <a:avLst/>
          </a:prstGeom>
          <a:noFill/>
          <a:ln/>
        </p:spPr>
        <p:txBody>
          <a:bodyPr wrap="square" lIns="0" tIns="0" rIns="0" bIns="0" rtlCol="0" anchor="ctr"/>
          <a:lstStyle/>
          <a:p>
            <a:pPr indent="0" marL="0">
              <a:buNone/>
            </a:pPr>
            <a:r>
              <a:rPr lang="en-US" sz="1300" b="1" spc="200" kern="0" dirty="0">
                <a:solidFill>
                  <a:srgbClr val="6C757D"/>
                </a:solidFill>
                <a:latin typeface="Calibri" pitchFamily="34" charset="0"/>
                <a:ea typeface="Calibri" pitchFamily="34" charset="-122"/>
                <a:cs typeface="Calibri" pitchFamily="34" charset="-120"/>
              </a:rPr>
              <a:t>Week 2</a:t>
            </a:r>
            <a:endParaRPr lang="en-US" sz="1300" dirty="0"/>
          </a:p>
        </p:txBody>
      </p:sp>
      <p:sp>
        <p:nvSpPr>
          <p:cNvPr id="29" name="Text 27"/>
          <p:cNvSpPr/>
          <p:nvPr/>
        </p:nvSpPr>
        <p:spPr>
          <a:xfrm>
            <a:off x="3520440" y="5120640"/>
            <a:ext cx="2468880" cy="502920"/>
          </a:xfrm>
          <a:prstGeom prst="rect">
            <a:avLst/>
          </a:prstGeom>
          <a:noFill/>
          <a:ln/>
        </p:spPr>
        <p:txBody>
          <a:bodyPr wrap="square" lIns="0" tIns="0" rIns="0" bIns="0" rtlCol="0" anchor="ctr"/>
          <a:lstStyle/>
          <a:p>
            <a:pPr indent="0" marL="0">
              <a:buNone/>
            </a:pPr>
            <a:r>
              <a:rPr lang="en-US" sz="2600" b="1" dirty="0">
                <a:solidFill>
                  <a:srgbClr val="1A2E23"/>
                </a:solidFill>
                <a:latin typeface="Georgia" pitchFamily="34" charset="0"/>
                <a:ea typeface="Georgia" pitchFamily="34" charset="-122"/>
                <a:cs typeface="Georgia" pitchFamily="34" charset="-120"/>
              </a:rPr>
              <a:t>€300/day</a:t>
            </a:r>
            <a:endParaRPr lang="en-US" sz="2600" dirty="0"/>
          </a:p>
        </p:txBody>
      </p:sp>
      <p:sp>
        <p:nvSpPr>
          <p:cNvPr id="30" name="Text 28"/>
          <p:cNvSpPr/>
          <p:nvPr/>
        </p:nvSpPr>
        <p:spPr>
          <a:xfrm>
            <a:off x="3520440" y="5669280"/>
            <a:ext cx="2468880" cy="274320"/>
          </a:xfrm>
          <a:prstGeom prst="rect">
            <a:avLst/>
          </a:prstGeom>
          <a:noFill/>
          <a:ln/>
        </p:spPr>
        <p:txBody>
          <a:bodyPr wrap="square" lIns="0" tIns="0" rIns="0" bIns="0" rtlCol="0" anchor="ctr"/>
          <a:lstStyle/>
          <a:p>
            <a:pPr indent="0" marL="0">
              <a:buNone/>
            </a:pPr>
            <a:r>
              <a:rPr lang="en-US" sz="1300" b="1" dirty="0">
                <a:solidFill>
                  <a:srgbClr val="2D6A4F"/>
                </a:solidFill>
                <a:latin typeface="Calibri" pitchFamily="34" charset="0"/>
                <a:ea typeface="Calibri" pitchFamily="34" charset="-122"/>
                <a:cs typeface="Calibri" pitchFamily="34" charset="-120"/>
              </a:rPr>
              <a:t>ROAS  1.42×</a:t>
            </a:r>
            <a:endParaRPr lang="en-US" sz="1300" dirty="0"/>
          </a:p>
        </p:txBody>
      </p:sp>
      <p:sp>
        <p:nvSpPr>
          <p:cNvPr id="31" name="Shape 29"/>
          <p:cNvSpPr/>
          <p:nvPr/>
        </p:nvSpPr>
        <p:spPr>
          <a:xfrm>
            <a:off x="6309360" y="4709160"/>
            <a:ext cx="2743200" cy="1280160"/>
          </a:xfrm>
          <a:prstGeom prst="rect">
            <a:avLst/>
          </a:prstGeom>
          <a:solidFill>
            <a:srgbClr val="F8F9FA"/>
          </a:solidFill>
          <a:ln w="12700">
            <a:solidFill>
              <a:srgbClr val="E9ECEF"/>
            </a:solidFill>
            <a:prstDash val="solid"/>
          </a:ln>
        </p:spPr>
      </p:sp>
      <p:sp>
        <p:nvSpPr>
          <p:cNvPr id="32" name="Text 30"/>
          <p:cNvSpPr/>
          <p:nvPr/>
        </p:nvSpPr>
        <p:spPr>
          <a:xfrm>
            <a:off x="6446520" y="4800600"/>
            <a:ext cx="2468880" cy="320040"/>
          </a:xfrm>
          <a:prstGeom prst="rect">
            <a:avLst/>
          </a:prstGeom>
          <a:noFill/>
          <a:ln/>
        </p:spPr>
        <p:txBody>
          <a:bodyPr wrap="square" lIns="0" tIns="0" rIns="0" bIns="0" rtlCol="0" anchor="ctr"/>
          <a:lstStyle/>
          <a:p>
            <a:pPr indent="0" marL="0">
              <a:buNone/>
            </a:pPr>
            <a:r>
              <a:rPr lang="en-US" sz="1300" b="1" spc="200" kern="0" dirty="0">
                <a:solidFill>
                  <a:srgbClr val="6C757D"/>
                </a:solidFill>
                <a:latin typeface="Calibri" pitchFamily="34" charset="0"/>
                <a:ea typeface="Calibri" pitchFamily="34" charset="-122"/>
                <a:cs typeface="Calibri" pitchFamily="34" charset="-120"/>
              </a:rPr>
              <a:t>Week 3</a:t>
            </a:r>
            <a:endParaRPr lang="en-US" sz="1300" dirty="0"/>
          </a:p>
        </p:txBody>
      </p:sp>
      <p:sp>
        <p:nvSpPr>
          <p:cNvPr id="33" name="Text 31"/>
          <p:cNvSpPr/>
          <p:nvPr/>
        </p:nvSpPr>
        <p:spPr>
          <a:xfrm>
            <a:off x="6446520" y="5120640"/>
            <a:ext cx="2468880" cy="502920"/>
          </a:xfrm>
          <a:prstGeom prst="rect">
            <a:avLst/>
          </a:prstGeom>
          <a:noFill/>
          <a:ln/>
        </p:spPr>
        <p:txBody>
          <a:bodyPr wrap="square" lIns="0" tIns="0" rIns="0" bIns="0" rtlCol="0" anchor="ctr"/>
          <a:lstStyle/>
          <a:p>
            <a:pPr indent="0" marL="0">
              <a:buNone/>
            </a:pPr>
            <a:r>
              <a:rPr lang="en-US" sz="2600" b="1" dirty="0">
                <a:solidFill>
                  <a:srgbClr val="1A2E23"/>
                </a:solidFill>
                <a:latin typeface="Georgia" pitchFamily="34" charset="0"/>
                <a:ea typeface="Georgia" pitchFamily="34" charset="-122"/>
                <a:cs typeface="Georgia" pitchFamily="34" charset="-120"/>
              </a:rPr>
              <a:t>€600/day</a:t>
            </a:r>
            <a:endParaRPr lang="en-US" sz="2600" dirty="0"/>
          </a:p>
        </p:txBody>
      </p:sp>
      <p:sp>
        <p:nvSpPr>
          <p:cNvPr id="34" name="Text 32"/>
          <p:cNvSpPr/>
          <p:nvPr/>
        </p:nvSpPr>
        <p:spPr>
          <a:xfrm>
            <a:off x="6446520" y="5669280"/>
            <a:ext cx="2468880" cy="274320"/>
          </a:xfrm>
          <a:prstGeom prst="rect">
            <a:avLst/>
          </a:prstGeom>
          <a:noFill/>
          <a:ln/>
        </p:spPr>
        <p:txBody>
          <a:bodyPr wrap="square" lIns="0" tIns="0" rIns="0" bIns="0" rtlCol="0" anchor="ctr"/>
          <a:lstStyle/>
          <a:p>
            <a:pPr indent="0" marL="0">
              <a:buNone/>
            </a:pPr>
            <a:r>
              <a:rPr lang="en-US" sz="1300" b="1" dirty="0">
                <a:solidFill>
                  <a:srgbClr val="2D6A4F"/>
                </a:solidFill>
                <a:latin typeface="Calibri" pitchFamily="34" charset="0"/>
                <a:ea typeface="Calibri" pitchFamily="34" charset="-122"/>
                <a:cs typeface="Calibri" pitchFamily="34" charset="-120"/>
              </a:rPr>
              <a:t>ROAS  1.73×</a:t>
            </a:r>
            <a:endParaRPr lang="en-US" sz="1300" dirty="0"/>
          </a:p>
        </p:txBody>
      </p:sp>
      <p:sp>
        <p:nvSpPr>
          <p:cNvPr id="35" name="Shape 33"/>
          <p:cNvSpPr/>
          <p:nvPr/>
        </p:nvSpPr>
        <p:spPr>
          <a:xfrm>
            <a:off x="9235440" y="4709160"/>
            <a:ext cx="2743200" cy="1280160"/>
          </a:xfrm>
          <a:prstGeom prst="rect">
            <a:avLst/>
          </a:prstGeom>
          <a:solidFill>
            <a:srgbClr val="2D6A4F"/>
          </a:solidFill>
          <a:ln w="12700">
            <a:solidFill>
              <a:srgbClr val="E9ECEF"/>
            </a:solidFill>
            <a:prstDash val="solid"/>
          </a:ln>
        </p:spPr>
      </p:sp>
      <p:sp>
        <p:nvSpPr>
          <p:cNvPr id="36" name="Text 34"/>
          <p:cNvSpPr/>
          <p:nvPr/>
        </p:nvSpPr>
        <p:spPr>
          <a:xfrm>
            <a:off x="9372600" y="4800600"/>
            <a:ext cx="2468880" cy="320040"/>
          </a:xfrm>
          <a:prstGeom prst="rect">
            <a:avLst/>
          </a:prstGeom>
          <a:noFill/>
          <a:ln/>
        </p:spPr>
        <p:txBody>
          <a:bodyPr wrap="square" lIns="0" tIns="0" rIns="0" bIns="0" rtlCol="0" anchor="ctr"/>
          <a:lstStyle/>
          <a:p>
            <a:pPr indent="0" marL="0">
              <a:buNone/>
            </a:pPr>
            <a:r>
              <a:rPr lang="en-US" sz="1300" b="1" spc="200" kern="0" dirty="0">
                <a:solidFill>
                  <a:srgbClr val="D8F3DC"/>
                </a:solidFill>
                <a:latin typeface="Calibri" pitchFamily="34" charset="0"/>
                <a:ea typeface="Calibri" pitchFamily="34" charset="-122"/>
                <a:cs typeface="Calibri" pitchFamily="34" charset="-120"/>
              </a:rPr>
              <a:t>Week 4</a:t>
            </a:r>
            <a:endParaRPr lang="en-US" sz="1300" dirty="0"/>
          </a:p>
        </p:txBody>
      </p:sp>
      <p:sp>
        <p:nvSpPr>
          <p:cNvPr id="37" name="Text 35"/>
          <p:cNvSpPr/>
          <p:nvPr/>
        </p:nvSpPr>
        <p:spPr>
          <a:xfrm>
            <a:off x="9372600" y="5120640"/>
            <a:ext cx="246888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€1000/day</a:t>
            </a:r>
            <a:endParaRPr lang="en-US" sz="2600" dirty="0"/>
          </a:p>
        </p:txBody>
      </p:sp>
      <p:sp>
        <p:nvSpPr>
          <p:cNvPr id="38" name="Text 36"/>
          <p:cNvSpPr/>
          <p:nvPr/>
        </p:nvSpPr>
        <p:spPr>
          <a:xfrm>
            <a:off x="9372600" y="5669280"/>
            <a:ext cx="2468880" cy="274320"/>
          </a:xfrm>
          <a:prstGeom prst="rect">
            <a:avLst/>
          </a:prstGeom>
          <a:noFill/>
          <a:ln/>
        </p:spPr>
        <p:txBody>
          <a:bodyPr wrap="square" lIns="0" tIns="0" rIns="0" bIns="0" rtlCol="0" anchor="ctr"/>
          <a:lstStyle/>
          <a:p>
            <a:pPr indent="0" marL="0">
              <a:buNone/>
            </a:pPr>
            <a:r>
              <a:rPr lang="en-US" sz="1300" b="1" dirty="0">
                <a:solidFill>
                  <a:srgbClr val="F4A261"/>
                </a:solidFill>
                <a:latin typeface="Calibri" pitchFamily="34" charset="0"/>
                <a:ea typeface="Calibri" pitchFamily="34" charset="-122"/>
                <a:cs typeface="Calibri" pitchFamily="34" charset="-120"/>
              </a:rPr>
              <a:t>ROAS  1.87×</a:t>
            </a:r>
            <a:endParaRPr lang="en-US" sz="1300" dirty="0"/>
          </a:p>
        </p:txBody>
      </p:sp>
      <p:sp>
        <p:nvSpPr>
          <p:cNvPr id="39" name="Text 37"/>
          <p:cNvSpPr/>
          <p:nvPr/>
        </p:nvSpPr>
        <p:spPr>
          <a:xfrm>
            <a:off x="457200" y="6172200"/>
            <a:ext cx="10972800" cy="274320"/>
          </a:xfrm>
          <a:prstGeom prst="rect">
            <a:avLst/>
          </a:prstGeom>
          <a:noFill/>
          <a:ln/>
        </p:spPr>
        <p:txBody>
          <a:bodyPr wrap="square" lIns="0" tIns="0" rIns="0" bIns="0" rtlCol="0" anchor="ctr"/>
          <a:lstStyle/>
          <a:p>
            <a:pPr indent="0" marL="0">
              <a:buNone/>
            </a:pPr>
            <a:r>
              <a:rPr lang="en-US" sz="1100" i="1" dirty="0">
                <a:solidFill>
                  <a:srgbClr val="6C757D"/>
                </a:solidFill>
                <a:latin typeface="Calibri Light" pitchFamily="34" charset="0"/>
                <a:ea typeface="Calibri Light" pitchFamily="34" charset="-122"/>
                <a:cs typeface="Calibri Light" pitchFamily="34" charset="-120"/>
              </a:rPr>
              <a:t>Built in a weekend without a Norwegian speaker to verify keywords. Campaign 3 (DSA) exists partly to catch what my translation misses.</a:t>
            </a:r>
            <a:endParaRPr lang="en-US" sz="1100" dirty="0"/>
          </a:p>
        </p:txBody>
      </p:sp>
      <p:sp>
        <p:nvSpPr>
          <p:cNvPr id="40" name="Text 38"/>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41" name="Text 39"/>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50292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What the NL data says</a:t>
            </a:r>
            <a:endParaRPr lang="en-US" sz="3800" dirty="0"/>
          </a:p>
        </p:txBody>
      </p:sp>
      <p:sp>
        <p:nvSpPr>
          <p:cNvPr id="3" name="Text 1"/>
          <p:cNvSpPr/>
          <p:nvPr/>
        </p:nvSpPr>
        <p:spPr>
          <a:xfrm>
            <a:off x="457200" y="868680"/>
            <a:ext cx="10972800" cy="365760"/>
          </a:xfrm>
          <a:prstGeom prst="rect">
            <a:avLst/>
          </a:prstGeom>
          <a:noFill/>
          <a:ln/>
        </p:spPr>
        <p:txBody>
          <a:bodyPr wrap="square" lIns="0" tIns="0" rIns="0" bIns="0" rtlCol="0" anchor="ctr"/>
          <a:lstStyle/>
          <a:p>
            <a:pPr indent="0" marL="0">
              <a:buNone/>
            </a:pPr>
            <a:r>
              <a:rPr lang="en-US" sz="1600" i="1" dirty="0">
                <a:solidFill>
                  <a:srgbClr val="6C757D"/>
                </a:solidFill>
                <a:latin typeface="Calibri Light" pitchFamily="34" charset="0"/>
                <a:ea typeface="Calibri Light" pitchFamily="34" charset="-122"/>
                <a:cs typeface="Calibri Light" pitchFamily="34" charset="-120"/>
              </a:rPr>
              <a:t>I grouped 2,993 search terms into 6 intent clusters. Two drive three-quarters of revenue.</a:t>
            </a:r>
            <a:endParaRPr lang="en-US" sz="1600" dirty="0"/>
          </a:p>
        </p:txBody>
      </p:sp>
      <p:sp>
        <p:nvSpPr>
          <p:cNvPr id="4" name="Text 2"/>
          <p:cNvSpPr/>
          <p:nvPr/>
        </p:nvSpPr>
        <p:spPr>
          <a:xfrm>
            <a:off x="457200" y="1417320"/>
            <a:ext cx="5486400" cy="320040"/>
          </a:xfrm>
          <a:prstGeom prst="rect">
            <a:avLst/>
          </a:prstGeom>
          <a:noFill/>
          <a:ln/>
        </p:spPr>
        <p:txBody>
          <a:bodyPr wrap="square" lIns="0" tIns="0" rIns="0" bIns="0" rtlCol="0" anchor="ctr"/>
          <a:lstStyle/>
          <a:p>
            <a:pPr indent="0" marL="0">
              <a:buNone/>
            </a:pPr>
            <a:r>
              <a:rPr lang="en-US" sz="1300" b="1" spc="200" kern="0" dirty="0">
                <a:solidFill>
                  <a:srgbClr val="1A2E23"/>
                </a:solidFill>
                <a:latin typeface="Calibri" pitchFamily="34" charset="0"/>
                <a:ea typeface="Calibri" pitchFamily="34" charset="-122"/>
                <a:cs typeface="Calibri" pitchFamily="34" charset="-120"/>
              </a:rPr>
              <a:t>Spend share and ROAS by cluster</a:t>
            </a:r>
            <a:endParaRPr lang="en-US" sz="1300" dirty="0"/>
          </a:p>
        </p:txBody>
      </p:sp>
      <p:graphicFrame>
        <p:nvGraphicFramePr>
          <p:cNvPr id="5" name="Chart 0" descr=""/>
          <p:cNvGraphicFramePr/>
          <p:nvPr/>
        </p:nvGraphicFramePr>
        <p:xfrm>
          <a:off x="457200" y="1783080"/>
          <a:ext cx="566928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92240" y="1417320"/>
            <a:ext cx="5486400" cy="320040"/>
          </a:xfrm>
          <a:prstGeom prst="rect">
            <a:avLst/>
          </a:prstGeom>
          <a:noFill/>
          <a:ln/>
        </p:spPr>
        <p:txBody>
          <a:bodyPr wrap="square" lIns="0" tIns="0" rIns="0" bIns="0" rtlCol="0" anchor="ctr"/>
          <a:lstStyle/>
          <a:p>
            <a:pPr indent="0" marL="0">
              <a:buNone/>
            </a:pPr>
            <a:r>
              <a:rPr lang="en-US" sz="1300" b="1" spc="200" kern="0" dirty="0">
                <a:solidFill>
                  <a:srgbClr val="1A2E23"/>
                </a:solidFill>
                <a:latin typeface="Calibri" pitchFamily="34" charset="0"/>
                <a:ea typeface="Calibri" pitchFamily="34" charset="-122"/>
                <a:cs typeface="Calibri" pitchFamily="34" charset="-120"/>
              </a:rPr>
              <a:t>Cluster performance (6 months, NL)</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783080"/>
          <a:ext cx="5212080" cy="914400"/>
        </p:xfrm>
        <a:graphic>
          <a:graphicData uri="http://schemas.openxmlformats.org/drawingml/2006/table">
            <a:tbl>
              <a:tblPr/>
              <a:tblGrid>
                <a:gridCol w="1600200"/>
                <a:gridCol w="777240"/>
                <a:gridCol w="777240"/>
                <a:gridCol w="640080"/>
                <a:gridCol w="640080"/>
                <a:gridCol w="64008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Cluster</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Spend</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ROAS</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CPC</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CVR</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r>
              <a:tr h="347472">
                <a:tc>
                  <a:txBody>
                    <a:bodyPr/>
                    <a:lstStyle/>
                    <a:p>
                      <a:pPr algn="l" indent="0" marL="0">
                        <a:buNone/>
                      </a:pPr>
                      <a:r>
                        <a:rPr lang="en-US" sz="1100" b="1" dirty="0">
                          <a:solidFill>
                            <a:srgbClr val="1A2E23"/>
                          </a:solidFill>
                          <a:latin typeface="Calibri" pitchFamily="34" charset="0"/>
                          <a:ea typeface="Calibri" pitchFamily="34" charset="-122"/>
                          <a:cs typeface="Calibri" pitchFamily="34" charset="-120"/>
                        </a:rPr>
                        <a:t>Solution-Aware</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€26,636</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€82,282</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b="1" dirty="0">
                          <a:solidFill>
                            <a:srgbClr val="2D6A4F"/>
                          </a:solidFill>
                          <a:latin typeface="Calibri" pitchFamily="34" charset="0"/>
                          <a:ea typeface="Calibri" pitchFamily="34" charset="-122"/>
                          <a:cs typeface="Calibri" pitchFamily="34" charset="-120"/>
                        </a:rPr>
                        <a:t>3.09×</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€1.22</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47472">
                <a:tc>
                  <a:txBody>
                    <a:bodyPr/>
                    <a:lstStyle/>
                    <a:p>
                      <a:pPr algn="l" indent="0" marL="0">
                        <a:buNone/>
                      </a:pPr>
                      <a:r>
                        <a:rPr lang="en-US" sz="1100" b="1" dirty="0">
                          <a:solidFill>
                            <a:srgbClr val="1A2E23"/>
                          </a:solidFill>
                          <a:latin typeface="Calibri" pitchFamily="34" charset="0"/>
                          <a:ea typeface="Calibri" pitchFamily="34" charset="-122"/>
                          <a:cs typeface="Calibri" pitchFamily="34" charset="-120"/>
                        </a:rPr>
                        <a:t>Problem-Aware</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€15,596</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€44,730</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b="1" dirty="0">
                          <a:solidFill>
                            <a:srgbClr val="2D6A4F"/>
                          </a:solidFill>
                          <a:latin typeface="Calibri" pitchFamily="34" charset="0"/>
                          <a:ea typeface="Calibri" pitchFamily="34" charset="-122"/>
                          <a:cs typeface="Calibri" pitchFamily="34" charset="-120"/>
                        </a:rPr>
                        <a:t>2.87×</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1A2E23"/>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47472">
                <a:tc>
                  <a:txBody>
                    <a:bodyPr/>
                    <a:lstStyle/>
                    <a:p>
                      <a:pPr algn="l" indent="0" marL="0">
                        <a:buNone/>
                      </a:pPr>
                      <a:r>
                        <a:rPr lang="en-US" sz="1100" dirty="0">
                          <a:solidFill>
                            <a:srgbClr val="6C757D"/>
                          </a:solidFill>
                          <a:latin typeface="Calibri" pitchFamily="34" charset="0"/>
                          <a:ea typeface="Calibri" pitchFamily="34" charset="-122"/>
                          <a:cs typeface="Calibri" pitchFamily="34" charset="-120"/>
                        </a:rPr>
                        <a:t>Other</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€7,535</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€15,465</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2.05×</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€1.67</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47472">
                <a:tc>
                  <a:txBody>
                    <a:bodyPr/>
                    <a:lstStyle/>
                    <a:p>
                      <a:pPr algn="l" indent="0" marL="0">
                        <a:buNone/>
                      </a:pPr>
                      <a:r>
                        <a:rPr lang="en-US" sz="1100" dirty="0">
                          <a:solidFill>
                            <a:srgbClr val="6C757D"/>
                          </a:solidFill>
                          <a:latin typeface="Calibri" pitchFamily="34" charset="0"/>
                          <a:ea typeface="Calibri" pitchFamily="34" charset="-122"/>
                          <a:cs typeface="Calibri" pitchFamily="34" charset="-120"/>
                        </a:rPr>
                        <a:t>Broad dog</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€6,881</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€15,087</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47472">
                <a:tc>
                  <a:txBody>
                    <a:bodyPr/>
                    <a:lstStyle/>
                    <a:p>
                      <a:pPr algn="l" indent="0" marL="0">
                        <a:buNone/>
                      </a:pPr>
                      <a:r>
                        <a:rPr lang="en-US" sz="1100" dirty="0">
                          <a:solidFill>
                            <a:srgbClr val="6C757D"/>
                          </a:solidFill>
                          <a:latin typeface="Calibri" pitchFamily="34" charset="0"/>
                          <a:ea typeface="Calibri" pitchFamily="34" charset="-122"/>
                          <a:cs typeface="Calibri" pitchFamily="34" charset="-120"/>
                        </a:rPr>
                        <a:t>Branded (Beemzy)</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€3,366</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€8,424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47472">
                <a:tc>
                  <a:txBody>
                    <a:bodyPr/>
                    <a:lstStyle/>
                    <a:p>
                      <a:pPr algn="l" indent="0" marL="0">
                        <a:buNone/>
                      </a:pPr>
                      <a:r>
                        <a:rPr lang="en-US" sz="1100" i="1" dirty="0">
                          <a:solidFill>
                            <a:srgbClr val="E76F51"/>
                          </a:solidFill>
                          <a:latin typeface="Calibri" pitchFamily="34" charset="0"/>
                          <a:ea typeface="Calibri" pitchFamily="34" charset="-122"/>
                          <a:cs typeface="Calibri" pitchFamily="34" charset="-120"/>
                        </a:rPr>
                        <a:t>Competitor</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€3,134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€5,564</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b="1" dirty="0">
                          <a:solidFill>
                            <a:srgbClr val="E76F51"/>
                          </a:solidFill>
                          <a:latin typeface="Calibri" pitchFamily="34" charset="0"/>
                          <a:ea typeface="Calibri" pitchFamily="34" charset="-122"/>
                          <a:cs typeface="Calibri" pitchFamily="34" charset="-120"/>
                        </a:rPr>
                        <a:t>1.78×</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€1.86</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100" dirty="0">
                          <a:solidFill>
                            <a:srgbClr val="6C757D"/>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bl>
          </a:graphicData>
        </a:graphic>
      </p:graphicFrame>
      <p:sp>
        <p:nvSpPr>
          <p:cNvPr id="8" name="Shape 4"/>
          <p:cNvSpPr/>
          <p:nvPr/>
        </p:nvSpPr>
        <p:spPr>
          <a:xfrm>
            <a:off x="6492240" y="5120640"/>
            <a:ext cx="5212080" cy="960120"/>
          </a:xfrm>
          <a:prstGeom prst="rect">
            <a:avLst/>
          </a:prstGeom>
          <a:solidFill>
            <a:srgbClr val="D8F3DC"/>
          </a:solidFill>
          <a:ln/>
        </p:spPr>
      </p:sp>
      <p:sp>
        <p:nvSpPr>
          <p:cNvPr id="9" name="Shape 5"/>
          <p:cNvSpPr/>
          <p:nvPr/>
        </p:nvSpPr>
        <p:spPr>
          <a:xfrm>
            <a:off x="6492240" y="5120640"/>
            <a:ext cx="73152" cy="960120"/>
          </a:xfrm>
          <a:prstGeom prst="rect">
            <a:avLst/>
          </a:prstGeom>
          <a:solidFill>
            <a:srgbClr val="2D6A4F"/>
          </a:solidFill>
          <a:ln/>
        </p:spPr>
      </p:sp>
      <p:sp>
        <p:nvSpPr>
          <p:cNvPr id="10" name="Text 6"/>
          <p:cNvSpPr/>
          <p:nvPr/>
        </p:nvSpPr>
        <p:spPr>
          <a:xfrm>
            <a:off x="6720840" y="5212080"/>
            <a:ext cx="4892040" cy="822960"/>
          </a:xfrm>
          <a:prstGeom prst="rect">
            <a:avLst/>
          </a:prstGeom>
          <a:noFill/>
          <a:ln/>
        </p:spPr>
        <p:txBody>
          <a:bodyPr wrap="square" lIns="0" tIns="0" rIns="0" bIns="0" rtlCol="0" anchor="t"/>
          <a:lstStyle/>
          <a:p>
            <a:pPr indent="0" marL="0">
              <a:buNone/>
            </a:pPr>
            <a:r>
              <a:rPr lang="en-US" sz="1200" b="1" dirty="0">
                <a:solidFill>
                  <a:srgbClr val="1B4332"/>
                </a:solidFill>
                <a:latin typeface="Calibri Light" pitchFamily="34" charset="0"/>
                <a:ea typeface="Calibri Light" pitchFamily="34" charset="-122"/>
                <a:cs typeface="Calibri Light" pitchFamily="34" charset="-120"/>
              </a:rPr>
              <a:t>Key insight.  </a:t>
            </a:r>
            <a:pPr indent="0" marL="0">
              <a:buNone/>
            </a:pPr>
            <a:r>
              <a:rPr lang="en-US" sz="1200" dirty="0">
                <a:solidFill>
                  <a:srgbClr val="1A2E23"/>
                </a:solidFill>
                <a:latin typeface="Calibri Light" pitchFamily="34" charset="0"/>
                <a:ea typeface="Calibri Light" pitchFamily="34" charset="-122"/>
                <a:cs typeface="Calibri Light" pitchFamily="34" charset="-120"/>
              </a:rPr>
              <a:t>Solution + Problem = </a:t>
            </a:r>
            <a:pPr indent="0" marL="0">
              <a:buNone/>
            </a:pPr>
            <a:r>
              <a:rPr lang="en-US" sz="1200" b="1" dirty="0">
                <a:solidFill>
                  <a:srgbClr val="1B4332"/>
                </a:solidFill>
                <a:latin typeface="Calibri Light" pitchFamily="34" charset="0"/>
                <a:ea typeface="Calibri Light" pitchFamily="34" charset="-122"/>
                <a:cs typeface="Calibri Light" pitchFamily="34" charset="-120"/>
              </a:rPr>
              <a:t>67% of NL spend, 74% of NL revenue</a:t>
            </a:r>
            <a:pPr indent="0" marL="0">
              <a:buNone/>
            </a:pPr>
            <a:r>
              <a:rPr lang="en-US" sz="1200" dirty="0">
                <a:solidFill>
                  <a:srgbClr val="1A2E23"/>
                </a:solidFill>
                <a:latin typeface="Calibri Light" pitchFamily="34" charset="0"/>
                <a:ea typeface="Calibri Light" pitchFamily="34" charset="-122"/>
                <a:cs typeface="Calibri Light" pitchFamily="34" charset="-120"/>
              </a:rPr>
              <a:t>. Competitor has the worst ROAS (1.78×) — expected to be worse in NO without brand trust. Branded won't exist in NO yet.</a:t>
            </a:r>
            <a:endParaRPr lang="en-US" sz="1200" dirty="0"/>
          </a:p>
        </p:txBody>
      </p:sp>
      <p:sp>
        <p:nvSpPr>
          <p:cNvPr id="11" name="Text 7"/>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12" name="Text 8"/>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50292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Norway: market and unit economics</a:t>
            </a:r>
            <a:endParaRPr lang="en-US" sz="3800" dirty="0"/>
          </a:p>
        </p:txBody>
      </p:sp>
      <p:sp>
        <p:nvSpPr>
          <p:cNvPr id="3" name="Text 1"/>
          <p:cNvSpPr/>
          <p:nvPr/>
        </p:nvSpPr>
        <p:spPr>
          <a:xfrm>
            <a:off x="457200" y="868680"/>
            <a:ext cx="10972800" cy="365760"/>
          </a:xfrm>
          <a:prstGeom prst="rect">
            <a:avLst/>
          </a:prstGeom>
          <a:noFill/>
          <a:ln/>
        </p:spPr>
        <p:txBody>
          <a:bodyPr wrap="square" lIns="0" tIns="0" rIns="0" bIns="0" rtlCol="0" anchor="ctr"/>
          <a:lstStyle/>
          <a:p>
            <a:pPr indent="0" marL="0">
              <a:buNone/>
            </a:pPr>
            <a:r>
              <a:rPr lang="en-US" sz="1600" i="1" dirty="0">
                <a:solidFill>
                  <a:srgbClr val="6C757D"/>
                </a:solidFill>
                <a:latin typeface="Calibri Light" pitchFamily="34" charset="0"/>
                <a:ea typeface="Calibri Light" pitchFamily="34" charset="-122"/>
                <a:cs typeface="Calibri Light" pitchFamily="34" charset="-120"/>
              </a:rPr>
              <a:t>Explicit assumptions — every number is adjustable with Week 1 real data.</a:t>
            </a:r>
            <a:endParaRPr lang="en-US" sz="1600" dirty="0"/>
          </a:p>
        </p:txBody>
      </p:sp>
      <p:pic>
        <p:nvPicPr>
          <p:cNvPr id="4" name="Image 0" descr="preencoded.png">    </p:cNvPr>
          <p:cNvPicPr>
            <a:picLocks noChangeAspect="1"/>
          </p:cNvPicPr>
          <p:nvPr/>
        </p:nvPicPr>
        <p:blipFill>
          <a:blip r:embed="rId1"/>
          <a:stretch>
            <a:fillRect/>
          </a:stretch>
        </p:blipFill>
        <p:spPr>
          <a:xfrm>
            <a:off x="457200" y="1463040"/>
            <a:ext cx="411480" cy="411480"/>
          </a:xfrm>
          <a:prstGeom prst="rect">
            <a:avLst/>
          </a:prstGeom>
        </p:spPr>
      </p:pic>
      <p:sp>
        <p:nvSpPr>
          <p:cNvPr id="5" name="Text 2"/>
          <p:cNvSpPr/>
          <p:nvPr/>
        </p:nvSpPr>
        <p:spPr>
          <a:xfrm>
            <a:off x="960120" y="1508760"/>
            <a:ext cx="4572000" cy="36576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Market context</a:t>
            </a:r>
            <a:endParaRPr lang="en-US" sz="1800" dirty="0"/>
          </a:p>
        </p:txBody>
      </p:sp>
      <p:sp>
        <p:nvSpPr>
          <p:cNvPr id="6" name="Text 3"/>
          <p:cNvSpPr/>
          <p:nvPr/>
        </p:nvSpPr>
        <p:spPr>
          <a:xfrm>
            <a:off x="457200" y="2011680"/>
            <a:ext cx="5303520" cy="228600"/>
          </a:xfrm>
          <a:prstGeom prst="rect">
            <a:avLst/>
          </a:prstGeom>
          <a:noFill/>
          <a:ln/>
        </p:spPr>
        <p:txBody>
          <a:bodyPr wrap="square" lIns="0" tIns="0" rIns="0" bIns="0" rtlCol="0" anchor="ctr"/>
          <a:lstStyle/>
          <a:p>
            <a:pPr indent="0" marL="0">
              <a:buNone/>
            </a:pPr>
            <a:r>
              <a:rPr lang="en-US" sz="900" b="1" spc="300" kern="0" dirty="0">
                <a:solidFill>
                  <a:srgbClr val="6C757D"/>
                </a:solidFill>
                <a:latin typeface="Calibri" pitchFamily="34" charset="0"/>
                <a:ea typeface="Calibri" pitchFamily="34" charset="-122"/>
                <a:cs typeface="Calibri" pitchFamily="34" charset="-120"/>
              </a:rPr>
              <a:t>POPULATION</a:t>
            </a:r>
            <a:endParaRPr lang="en-US" sz="900" dirty="0"/>
          </a:p>
        </p:txBody>
      </p:sp>
      <p:sp>
        <p:nvSpPr>
          <p:cNvPr id="7" name="Text 4"/>
          <p:cNvSpPr/>
          <p:nvPr/>
        </p:nvSpPr>
        <p:spPr>
          <a:xfrm>
            <a:off x="457200" y="2212848"/>
            <a:ext cx="2103120" cy="41148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5.55M</a:t>
            </a:r>
            <a:endParaRPr lang="en-US" sz="1800" dirty="0"/>
          </a:p>
        </p:txBody>
      </p:sp>
      <p:sp>
        <p:nvSpPr>
          <p:cNvPr id="8" name="Text 5"/>
          <p:cNvSpPr/>
          <p:nvPr/>
        </p:nvSpPr>
        <p:spPr>
          <a:xfrm>
            <a:off x="2606040" y="2240280"/>
            <a:ext cx="3108960" cy="502920"/>
          </a:xfrm>
          <a:prstGeom prst="rect">
            <a:avLst/>
          </a:prstGeom>
          <a:noFill/>
          <a:ln/>
        </p:spPr>
        <p:txBody>
          <a:bodyPr wrap="square" lIns="0" tIns="0" rIns="0" bIns="0" rtlCol="0" anchor="ctr"/>
          <a:lstStyle/>
          <a:p>
            <a:pPr indent="0" marL="0">
              <a:buNone/>
            </a:pPr>
            <a:r>
              <a:rPr lang="en-US" sz="1100" dirty="0">
                <a:solidFill>
                  <a:srgbClr val="1A2E23"/>
                </a:solidFill>
                <a:latin typeface="Calibri Light" pitchFamily="34" charset="0"/>
                <a:ea typeface="Calibri Light" pitchFamily="34" charset="-122"/>
                <a:cs typeface="Calibri Light" pitchFamily="34" charset="-120"/>
              </a:rPr>
              <a:t>~20% dog-owning households → ~560k dogs</a:t>
            </a:r>
            <a:endParaRPr lang="en-US" sz="1100" dirty="0"/>
          </a:p>
        </p:txBody>
      </p:sp>
      <p:sp>
        <p:nvSpPr>
          <p:cNvPr id="9" name="Text 6"/>
          <p:cNvSpPr/>
          <p:nvPr/>
        </p:nvSpPr>
        <p:spPr>
          <a:xfrm>
            <a:off x="457200" y="2852928"/>
            <a:ext cx="5303520" cy="228600"/>
          </a:xfrm>
          <a:prstGeom prst="rect">
            <a:avLst/>
          </a:prstGeom>
          <a:noFill/>
          <a:ln/>
        </p:spPr>
        <p:txBody>
          <a:bodyPr wrap="square" lIns="0" tIns="0" rIns="0" bIns="0" rtlCol="0" anchor="ctr"/>
          <a:lstStyle/>
          <a:p>
            <a:pPr indent="0" marL="0">
              <a:buNone/>
            </a:pPr>
            <a:r>
              <a:rPr lang="en-US" sz="900" b="1" spc="300" kern="0" dirty="0">
                <a:solidFill>
                  <a:srgbClr val="6C757D"/>
                </a:solidFill>
                <a:latin typeface="Calibri" pitchFamily="34" charset="0"/>
                <a:ea typeface="Calibri" pitchFamily="34" charset="-122"/>
                <a:cs typeface="Calibri" pitchFamily="34" charset="-120"/>
              </a:rPr>
              <a:t>LANGUAGE</a:t>
            </a:r>
            <a:endParaRPr lang="en-US" sz="900" dirty="0"/>
          </a:p>
        </p:txBody>
      </p:sp>
      <p:sp>
        <p:nvSpPr>
          <p:cNvPr id="10" name="Text 7"/>
          <p:cNvSpPr/>
          <p:nvPr/>
        </p:nvSpPr>
        <p:spPr>
          <a:xfrm>
            <a:off x="457200" y="3054096"/>
            <a:ext cx="2103120" cy="41148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Bokmål</a:t>
            </a:r>
            <a:endParaRPr lang="en-US" sz="1800" dirty="0"/>
          </a:p>
        </p:txBody>
      </p:sp>
      <p:sp>
        <p:nvSpPr>
          <p:cNvPr id="11" name="Text 8"/>
          <p:cNvSpPr/>
          <p:nvPr/>
        </p:nvSpPr>
        <p:spPr>
          <a:xfrm>
            <a:off x="2606040" y="3081528"/>
            <a:ext cx="3108960" cy="502920"/>
          </a:xfrm>
          <a:prstGeom prst="rect">
            <a:avLst/>
          </a:prstGeom>
          <a:noFill/>
          <a:ln/>
        </p:spPr>
        <p:txBody>
          <a:bodyPr wrap="square" lIns="0" tIns="0" rIns="0" bIns="0" rtlCol="0" anchor="ctr"/>
          <a:lstStyle/>
          <a:p>
            <a:pPr indent="0" marL="0">
              <a:buNone/>
            </a:pPr>
            <a:r>
              <a:rPr lang="en-US" sz="1100" dirty="0">
                <a:solidFill>
                  <a:srgbClr val="1A2E23"/>
                </a:solidFill>
                <a:latin typeface="Calibri Light" pitchFamily="34" charset="0"/>
                <a:ea typeface="Calibri Light" pitchFamily="34" charset="-122"/>
                <a:cs typeface="Calibri Light" pitchFamily="34" charset="-120"/>
              </a:rPr>
              <a:t>~90% of searches; Nynorsk covered via broad match</a:t>
            </a:r>
            <a:endParaRPr lang="en-US" sz="1100" dirty="0"/>
          </a:p>
        </p:txBody>
      </p:sp>
      <p:sp>
        <p:nvSpPr>
          <p:cNvPr id="12" name="Text 9"/>
          <p:cNvSpPr/>
          <p:nvPr/>
        </p:nvSpPr>
        <p:spPr>
          <a:xfrm>
            <a:off x="457200" y="3694176"/>
            <a:ext cx="5303520" cy="228600"/>
          </a:xfrm>
          <a:prstGeom prst="rect">
            <a:avLst/>
          </a:prstGeom>
          <a:noFill/>
          <a:ln/>
        </p:spPr>
        <p:txBody>
          <a:bodyPr wrap="square" lIns="0" tIns="0" rIns="0" bIns="0" rtlCol="0" anchor="ctr"/>
          <a:lstStyle/>
          <a:p>
            <a:pPr indent="0" marL="0">
              <a:buNone/>
            </a:pPr>
            <a:r>
              <a:rPr lang="en-US" sz="900" b="1" spc="300" kern="0" dirty="0">
                <a:solidFill>
                  <a:srgbClr val="6C757D"/>
                </a:solidFill>
                <a:latin typeface="Calibri" pitchFamily="34" charset="0"/>
                <a:ea typeface="Calibri" pitchFamily="34" charset="-122"/>
                <a:cs typeface="Calibri" pitchFamily="34" charset="-120"/>
              </a:rPr>
              <a:t>TOP PET E-TAIL</a:t>
            </a:r>
            <a:endParaRPr lang="en-US" sz="900" dirty="0"/>
          </a:p>
        </p:txBody>
      </p:sp>
      <p:sp>
        <p:nvSpPr>
          <p:cNvPr id="13" name="Text 10"/>
          <p:cNvSpPr/>
          <p:nvPr/>
        </p:nvSpPr>
        <p:spPr>
          <a:xfrm>
            <a:off x="457200" y="3895344"/>
            <a:ext cx="2103120" cy="41148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zooplus.no</a:t>
            </a:r>
            <a:endParaRPr lang="en-US" sz="1800" dirty="0"/>
          </a:p>
        </p:txBody>
      </p:sp>
      <p:sp>
        <p:nvSpPr>
          <p:cNvPr id="14" name="Text 11"/>
          <p:cNvSpPr/>
          <p:nvPr/>
        </p:nvSpPr>
        <p:spPr>
          <a:xfrm>
            <a:off x="2606040" y="3922776"/>
            <a:ext cx="3108960" cy="502920"/>
          </a:xfrm>
          <a:prstGeom prst="rect">
            <a:avLst/>
          </a:prstGeom>
          <a:noFill/>
          <a:ln/>
        </p:spPr>
        <p:txBody>
          <a:bodyPr wrap="square" lIns="0" tIns="0" rIns="0" bIns="0" rtlCol="0" anchor="ctr"/>
          <a:lstStyle/>
          <a:p>
            <a:pPr indent="0" marL="0">
              <a:buNone/>
            </a:pPr>
            <a:r>
              <a:rPr lang="en-US" sz="1100" dirty="0">
                <a:solidFill>
                  <a:srgbClr val="1A2E23"/>
                </a:solidFill>
                <a:latin typeface="Calibri Light" pitchFamily="34" charset="0"/>
                <a:ea typeface="Calibri Light" pitchFamily="34" charset="-122"/>
                <a:cs typeface="Calibri Light" pitchFamily="34" charset="-120"/>
              </a:rPr>
              <a:t>then musti.no, buddy.no, dyrelege.no</a:t>
            </a:r>
            <a:endParaRPr lang="en-US" sz="1100" dirty="0"/>
          </a:p>
        </p:txBody>
      </p:sp>
      <p:sp>
        <p:nvSpPr>
          <p:cNvPr id="15" name="Text 12"/>
          <p:cNvSpPr/>
          <p:nvPr/>
        </p:nvSpPr>
        <p:spPr>
          <a:xfrm>
            <a:off x="457200" y="4535424"/>
            <a:ext cx="5303520" cy="228600"/>
          </a:xfrm>
          <a:prstGeom prst="rect">
            <a:avLst/>
          </a:prstGeom>
          <a:noFill/>
          <a:ln/>
        </p:spPr>
        <p:txBody>
          <a:bodyPr wrap="square" lIns="0" tIns="0" rIns="0" bIns="0" rtlCol="0" anchor="ctr"/>
          <a:lstStyle/>
          <a:p>
            <a:pPr indent="0" marL="0">
              <a:buNone/>
            </a:pPr>
            <a:r>
              <a:rPr lang="en-US" sz="900" b="1" spc="300" kern="0" dirty="0">
                <a:solidFill>
                  <a:srgbClr val="6C757D"/>
                </a:solidFill>
                <a:latin typeface="Calibri" pitchFamily="34" charset="0"/>
                <a:ea typeface="Calibri" pitchFamily="34" charset="-122"/>
                <a:cs typeface="Calibri" pitchFamily="34" charset="-120"/>
              </a:rPr>
              <a:t>COMPETITOR DENSITY</a:t>
            </a:r>
            <a:endParaRPr lang="en-US" sz="900" dirty="0"/>
          </a:p>
        </p:txBody>
      </p:sp>
      <p:sp>
        <p:nvSpPr>
          <p:cNvPr id="16" name="Text 13"/>
          <p:cNvSpPr/>
          <p:nvPr/>
        </p:nvSpPr>
        <p:spPr>
          <a:xfrm>
            <a:off x="457200" y="4736592"/>
            <a:ext cx="2103120" cy="41148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Low–Medium</a:t>
            </a:r>
            <a:endParaRPr lang="en-US" sz="1800" dirty="0"/>
          </a:p>
        </p:txBody>
      </p:sp>
      <p:sp>
        <p:nvSpPr>
          <p:cNvPr id="17" name="Text 14"/>
          <p:cNvSpPr/>
          <p:nvPr/>
        </p:nvSpPr>
        <p:spPr>
          <a:xfrm>
            <a:off x="2606040" y="4764024"/>
            <a:ext cx="3108960" cy="502920"/>
          </a:xfrm>
          <a:prstGeom prst="rect">
            <a:avLst/>
          </a:prstGeom>
          <a:noFill/>
          <a:ln/>
        </p:spPr>
        <p:txBody>
          <a:bodyPr wrap="square" lIns="0" tIns="0" rIns="0" bIns="0" rtlCol="0" anchor="ctr"/>
          <a:lstStyle/>
          <a:p>
            <a:pPr indent="0" marL="0">
              <a:buNone/>
            </a:pPr>
            <a:r>
              <a:rPr lang="en-US" sz="1100" dirty="0">
                <a:solidFill>
                  <a:srgbClr val="1A2E23"/>
                </a:solidFill>
                <a:latin typeface="Calibri Light" pitchFamily="34" charset="0"/>
                <a:ea typeface="Calibri Light" pitchFamily="34" charset="-122"/>
                <a:cs typeface="Calibri Light" pitchFamily="34" charset="-120"/>
              </a:rPr>
              <a:t>Plaque Off, DentaLife present; natural powder = white space</a:t>
            </a:r>
            <a:endParaRPr lang="en-US" sz="1100" dirty="0"/>
          </a:p>
        </p:txBody>
      </p:sp>
      <p:pic>
        <p:nvPicPr>
          <p:cNvPr id="18" name="Image 1" descr="preencoded.png">    </p:cNvPr>
          <p:cNvPicPr>
            <a:picLocks noChangeAspect="1"/>
          </p:cNvPicPr>
          <p:nvPr/>
        </p:nvPicPr>
        <p:blipFill>
          <a:blip r:embed="rId2"/>
          <a:stretch>
            <a:fillRect/>
          </a:stretch>
        </p:blipFill>
        <p:spPr>
          <a:xfrm>
            <a:off x="6400800" y="1463040"/>
            <a:ext cx="411480" cy="411480"/>
          </a:xfrm>
          <a:prstGeom prst="rect">
            <a:avLst/>
          </a:prstGeom>
        </p:spPr>
      </p:pic>
      <p:sp>
        <p:nvSpPr>
          <p:cNvPr id="19" name="Text 15"/>
          <p:cNvSpPr/>
          <p:nvPr/>
        </p:nvSpPr>
        <p:spPr>
          <a:xfrm>
            <a:off x="6903720" y="1508760"/>
            <a:ext cx="5486400" cy="36576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Unit economics (NO vs NL baseline)</a:t>
            </a:r>
            <a:endParaRPr lang="en-US" sz="1800" dirty="0"/>
          </a:p>
        </p:txBody>
      </p:sp>
      <p:sp>
        <p:nvSpPr>
          <p:cNvPr id="20" name="Shape 16"/>
          <p:cNvSpPr/>
          <p:nvPr/>
        </p:nvSpPr>
        <p:spPr>
          <a:xfrm>
            <a:off x="6400800" y="2057400"/>
            <a:ext cx="2651760" cy="1417320"/>
          </a:xfrm>
          <a:prstGeom prst="rect">
            <a:avLst/>
          </a:prstGeom>
          <a:solidFill>
            <a:srgbClr val="F8F9FA"/>
          </a:solidFill>
          <a:ln w="12700">
            <a:solidFill>
              <a:srgbClr val="E9ECEF"/>
            </a:solidFill>
            <a:prstDash val="solid"/>
          </a:ln>
        </p:spPr>
      </p:sp>
      <p:sp>
        <p:nvSpPr>
          <p:cNvPr id="21" name="Text 17"/>
          <p:cNvSpPr/>
          <p:nvPr/>
        </p:nvSpPr>
        <p:spPr>
          <a:xfrm>
            <a:off x="6583680" y="2148840"/>
            <a:ext cx="2286000" cy="274320"/>
          </a:xfrm>
          <a:prstGeom prst="rect">
            <a:avLst/>
          </a:prstGeom>
          <a:noFill/>
          <a:ln/>
        </p:spPr>
        <p:txBody>
          <a:bodyPr wrap="square" lIns="0" tIns="0" rIns="0" bIns="0" rtlCol="0" anchor="ctr"/>
          <a:lstStyle/>
          <a:p>
            <a:pPr indent="0" marL="0">
              <a:buNone/>
            </a:pPr>
            <a:r>
              <a:rPr lang="en-US" sz="1100" b="1" spc="200" kern="0" dirty="0">
                <a:solidFill>
                  <a:srgbClr val="6C757D"/>
                </a:solidFill>
                <a:latin typeface="Calibri" pitchFamily="34" charset="0"/>
                <a:ea typeface="Calibri" pitchFamily="34" charset="-122"/>
                <a:cs typeface="Calibri" pitchFamily="34" charset="-120"/>
              </a:rPr>
              <a:t>CPC</a:t>
            </a:r>
            <a:endParaRPr lang="en-US" sz="1100" dirty="0"/>
          </a:p>
        </p:txBody>
      </p:sp>
      <p:sp>
        <p:nvSpPr>
          <p:cNvPr id="22" name="Text 18"/>
          <p:cNvSpPr/>
          <p:nvPr/>
        </p:nvSpPr>
        <p:spPr>
          <a:xfrm>
            <a:off x="6583680" y="2423160"/>
            <a:ext cx="2286000" cy="457200"/>
          </a:xfrm>
          <a:prstGeom prst="rect">
            <a:avLst/>
          </a:prstGeom>
          <a:noFill/>
          <a:ln/>
        </p:spPr>
        <p:txBody>
          <a:bodyPr wrap="square" lIns="0" tIns="0" rIns="0" bIns="0" rtlCol="0" anchor="ctr"/>
          <a:lstStyle/>
          <a:p>
            <a:pPr indent="0" marL="0">
              <a:buNone/>
            </a:pPr>
            <a:r>
              <a:rPr lang="en-US" sz="2400" b="1" dirty="0">
                <a:solidFill>
                  <a:srgbClr val="1A2E23"/>
                </a:solidFill>
                <a:latin typeface="Georgia" pitchFamily="34" charset="0"/>
                <a:ea typeface="Georgia" pitchFamily="34" charset="-122"/>
                <a:cs typeface="Georgia" pitchFamily="34" charset="-120"/>
              </a:rPr>
              <a:t>€1.45</a:t>
            </a:r>
            <a:endParaRPr lang="en-US" sz="2400" dirty="0"/>
          </a:p>
        </p:txBody>
      </p:sp>
      <p:sp>
        <p:nvSpPr>
          <p:cNvPr id="23" name="Text 19"/>
          <p:cNvSpPr/>
          <p:nvPr/>
        </p:nvSpPr>
        <p:spPr>
          <a:xfrm>
            <a:off x="6583680" y="2926080"/>
            <a:ext cx="2286000" cy="22860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NL €1.22</a:t>
            </a:r>
            <a:pPr indent="0" marL="0">
              <a:buNone/>
            </a:pPr>
            <a:r>
              <a:rPr lang="en-US" sz="1100" b="1" dirty="0">
                <a:solidFill>
                  <a:srgbClr val="E76F51"/>
                </a:solidFill>
                <a:latin typeface="Calibri" pitchFamily="34" charset="0"/>
                <a:ea typeface="Calibri" pitchFamily="34" charset="-122"/>
                <a:cs typeface="Calibri" pitchFamily="34" charset="-120"/>
              </a:rPr>
              <a:t>   +20%</a:t>
            </a:r>
            <a:endParaRPr lang="en-US" sz="1100" dirty="0"/>
          </a:p>
        </p:txBody>
      </p:sp>
      <p:sp>
        <p:nvSpPr>
          <p:cNvPr id="24" name="Text 20"/>
          <p:cNvSpPr/>
          <p:nvPr/>
        </p:nvSpPr>
        <p:spPr>
          <a:xfrm>
            <a:off x="6583680" y="3154680"/>
            <a:ext cx="2286000" cy="274320"/>
          </a:xfrm>
          <a:prstGeom prst="rect">
            <a:avLst/>
          </a:prstGeom>
          <a:noFill/>
          <a:ln/>
        </p:spPr>
        <p:txBody>
          <a:bodyPr wrap="square" lIns="0" tIns="0" rIns="0" bIns="0" rtlCol="0" anchor="ctr"/>
          <a:lstStyle/>
          <a:p>
            <a:pPr indent="0" marL="0">
              <a:buNone/>
            </a:pPr>
            <a:r>
              <a:rPr lang="en-US" sz="1000" i="1" dirty="0">
                <a:solidFill>
                  <a:srgbClr val="1A2E23"/>
                </a:solidFill>
                <a:latin typeface="Calibri Light" pitchFamily="34" charset="0"/>
                <a:ea typeface="Calibri Light" pitchFamily="34" charset="-122"/>
                <a:cs typeface="Calibri Light" pitchFamily="34" charset="-120"/>
              </a:rPr>
              <a:t>Cold market, Nordic auction density</a:t>
            </a:r>
            <a:endParaRPr lang="en-US" sz="1000" dirty="0"/>
          </a:p>
        </p:txBody>
      </p:sp>
      <p:sp>
        <p:nvSpPr>
          <p:cNvPr id="25" name="Shape 21"/>
          <p:cNvSpPr/>
          <p:nvPr/>
        </p:nvSpPr>
        <p:spPr>
          <a:xfrm>
            <a:off x="9235440" y="2057400"/>
            <a:ext cx="2651760" cy="1417320"/>
          </a:xfrm>
          <a:prstGeom prst="rect">
            <a:avLst/>
          </a:prstGeom>
          <a:solidFill>
            <a:srgbClr val="F8F9FA"/>
          </a:solidFill>
          <a:ln w="12700">
            <a:solidFill>
              <a:srgbClr val="E9ECEF"/>
            </a:solidFill>
            <a:prstDash val="solid"/>
          </a:ln>
        </p:spPr>
      </p:sp>
      <p:sp>
        <p:nvSpPr>
          <p:cNvPr id="26" name="Text 22"/>
          <p:cNvSpPr/>
          <p:nvPr/>
        </p:nvSpPr>
        <p:spPr>
          <a:xfrm>
            <a:off x="9418320" y="2148840"/>
            <a:ext cx="2286000" cy="274320"/>
          </a:xfrm>
          <a:prstGeom prst="rect">
            <a:avLst/>
          </a:prstGeom>
          <a:noFill/>
          <a:ln/>
        </p:spPr>
        <p:txBody>
          <a:bodyPr wrap="square" lIns="0" tIns="0" rIns="0" bIns="0" rtlCol="0" anchor="ctr"/>
          <a:lstStyle/>
          <a:p>
            <a:pPr indent="0" marL="0">
              <a:buNone/>
            </a:pPr>
            <a:r>
              <a:rPr lang="en-US" sz="1100" b="1" spc="200" kern="0" dirty="0">
                <a:solidFill>
                  <a:srgbClr val="6C757D"/>
                </a:solidFill>
                <a:latin typeface="Calibri" pitchFamily="34" charset="0"/>
                <a:ea typeface="Calibri" pitchFamily="34" charset="-122"/>
                <a:cs typeface="Calibri" pitchFamily="34" charset="-120"/>
              </a:rPr>
              <a:t>CVR</a:t>
            </a:r>
            <a:endParaRPr lang="en-US" sz="1100" dirty="0"/>
          </a:p>
        </p:txBody>
      </p:sp>
      <p:sp>
        <p:nvSpPr>
          <p:cNvPr id="27" name="Text 23"/>
          <p:cNvSpPr/>
          <p:nvPr/>
        </p:nvSpPr>
        <p:spPr>
          <a:xfrm>
            <a:off x="9418320" y="2423160"/>
            <a:ext cx="2286000" cy="457200"/>
          </a:xfrm>
          <a:prstGeom prst="rect">
            <a:avLst/>
          </a:prstGeom>
          <a:noFill/>
          <a:ln/>
        </p:spPr>
        <p:txBody>
          <a:bodyPr wrap="square" lIns="0" tIns="0" rIns="0" bIns="0" rtlCol="0" anchor="ctr"/>
          <a:lstStyle/>
          <a:p>
            <a:pPr indent="0" marL="0">
              <a:buNone/>
            </a:pPr>
            <a:r>
              <a:rPr lang="en-US" sz="2400" b="1" dirty="0">
                <a:solidFill>
                  <a:srgbClr val="1A2E23"/>
                </a:solidFill>
                <a:latin typeface="Georgia" pitchFamily="34" charset="0"/>
                <a:ea typeface="Georgia" pitchFamily="34" charset="-122"/>
                <a:cs typeface="Georgia" pitchFamily="34" charset="-120"/>
              </a:rPr>
              <a:t>4.20%</a:t>
            </a:r>
            <a:endParaRPr lang="en-US" sz="2400" dirty="0"/>
          </a:p>
        </p:txBody>
      </p:sp>
      <p:sp>
        <p:nvSpPr>
          <p:cNvPr id="28" name="Text 24"/>
          <p:cNvSpPr/>
          <p:nvPr/>
        </p:nvSpPr>
        <p:spPr>
          <a:xfrm>
            <a:off x="9418320" y="2926080"/>
            <a:ext cx="2286000" cy="22860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NL 5.66%</a:t>
            </a:r>
            <a:pPr indent="0" marL="0">
              <a:buNone/>
            </a:pPr>
            <a:r>
              <a:rPr lang="en-US" sz="1100" b="1" dirty="0">
                <a:solidFill>
                  <a:srgbClr val="E76F51"/>
                </a:solidFill>
                <a:latin typeface="Calibri" pitchFamily="34" charset="0"/>
                <a:ea typeface="Calibri" pitchFamily="34" charset="-122"/>
                <a:cs typeface="Calibri" pitchFamily="34" charset="-120"/>
              </a:rPr>
              <a:t>   −25%</a:t>
            </a:r>
            <a:endParaRPr lang="en-US" sz="1100" dirty="0"/>
          </a:p>
        </p:txBody>
      </p:sp>
      <p:sp>
        <p:nvSpPr>
          <p:cNvPr id="29" name="Text 25"/>
          <p:cNvSpPr/>
          <p:nvPr/>
        </p:nvSpPr>
        <p:spPr>
          <a:xfrm>
            <a:off x="9418320" y="3154680"/>
            <a:ext cx="2286000" cy="274320"/>
          </a:xfrm>
          <a:prstGeom prst="rect">
            <a:avLst/>
          </a:prstGeom>
          <a:noFill/>
          <a:ln/>
        </p:spPr>
        <p:txBody>
          <a:bodyPr wrap="square" lIns="0" tIns="0" rIns="0" bIns="0" rtlCol="0" anchor="ctr"/>
          <a:lstStyle/>
          <a:p>
            <a:pPr indent="0" marL="0">
              <a:buNone/>
            </a:pPr>
            <a:r>
              <a:rPr lang="en-US" sz="1000" i="1" dirty="0">
                <a:solidFill>
                  <a:srgbClr val="1A2E23"/>
                </a:solidFill>
                <a:latin typeface="Calibri Light" pitchFamily="34" charset="0"/>
                <a:ea typeface="Calibri Light" pitchFamily="34" charset="-122"/>
                <a:cs typeface="Calibri Light" pitchFamily="34" charset="-120"/>
              </a:rPr>
              <a:t>No brand trust yet; improves W3-4</a:t>
            </a:r>
            <a:endParaRPr lang="en-US" sz="1000" dirty="0"/>
          </a:p>
        </p:txBody>
      </p:sp>
      <p:sp>
        <p:nvSpPr>
          <p:cNvPr id="30" name="Shape 26"/>
          <p:cNvSpPr/>
          <p:nvPr/>
        </p:nvSpPr>
        <p:spPr>
          <a:xfrm>
            <a:off x="6400800" y="3657600"/>
            <a:ext cx="2651760" cy="1417320"/>
          </a:xfrm>
          <a:prstGeom prst="rect">
            <a:avLst/>
          </a:prstGeom>
          <a:solidFill>
            <a:srgbClr val="F8F9FA"/>
          </a:solidFill>
          <a:ln w="12700">
            <a:solidFill>
              <a:srgbClr val="E9ECEF"/>
            </a:solidFill>
            <a:prstDash val="solid"/>
          </a:ln>
        </p:spPr>
      </p:sp>
      <p:sp>
        <p:nvSpPr>
          <p:cNvPr id="31" name="Text 27"/>
          <p:cNvSpPr/>
          <p:nvPr/>
        </p:nvSpPr>
        <p:spPr>
          <a:xfrm>
            <a:off x="6583680" y="3749040"/>
            <a:ext cx="2286000" cy="274320"/>
          </a:xfrm>
          <a:prstGeom prst="rect">
            <a:avLst/>
          </a:prstGeom>
          <a:noFill/>
          <a:ln/>
        </p:spPr>
        <p:txBody>
          <a:bodyPr wrap="square" lIns="0" tIns="0" rIns="0" bIns="0" rtlCol="0" anchor="ctr"/>
          <a:lstStyle/>
          <a:p>
            <a:pPr indent="0" marL="0">
              <a:buNone/>
            </a:pPr>
            <a:r>
              <a:rPr lang="en-US" sz="1100" b="1" spc="200" kern="0" dirty="0">
                <a:solidFill>
                  <a:srgbClr val="6C757D"/>
                </a:solidFill>
                <a:latin typeface="Calibri" pitchFamily="34" charset="0"/>
                <a:ea typeface="Calibri" pitchFamily="34" charset="-122"/>
                <a:cs typeface="Calibri" pitchFamily="34" charset="-120"/>
              </a:rPr>
              <a:t>AOV</a:t>
            </a:r>
            <a:endParaRPr lang="en-US" sz="1100" dirty="0"/>
          </a:p>
        </p:txBody>
      </p:sp>
      <p:sp>
        <p:nvSpPr>
          <p:cNvPr id="32" name="Text 28"/>
          <p:cNvSpPr/>
          <p:nvPr/>
        </p:nvSpPr>
        <p:spPr>
          <a:xfrm>
            <a:off x="6583680" y="4023360"/>
            <a:ext cx="2286000" cy="457200"/>
          </a:xfrm>
          <a:prstGeom prst="rect">
            <a:avLst/>
          </a:prstGeom>
          <a:noFill/>
          <a:ln/>
        </p:spPr>
        <p:txBody>
          <a:bodyPr wrap="square" lIns="0" tIns="0" rIns="0" bIns="0" rtlCol="0" anchor="ctr"/>
          <a:lstStyle/>
          <a:p>
            <a:pPr indent="0" marL="0">
              <a:buNone/>
            </a:pPr>
            <a:r>
              <a:rPr lang="en-US" sz="2400" b="1" dirty="0">
                <a:solidFill>
                  <a:srgbClr val="1A2E23"/>
                </a:solidFill>
                <a:latin typeface="Georgia" pitchFamily="34" charset="0"/>
                <a:ea typeface="Georgia" pitchFamily="34" charset="-122"/>
                <a:cs typeface="Georgia" pitchFamily="34" charset="-120"/>
              </a:rPr>
              <a:t>€62.00</a:t>
            </a:r>
            <a:endParaRPr lang="en-US" sz="2400" dirty="0"/>
          </a:p>
        </p:txBody>
      </p:sp>
      <p:sp>
        <p:nvSpPr>
          <p:cNvPr id="33" name="Text 29"/>
          <p:cNvSpPr/>
          <p:nvPr/>
        </p:nvSpPr>
        <p:spPr>
          <a:xfrm>
            <a:off x="6583680" y="4526280"/>
            <a:ext cx="2286000" cy="22860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NL €58.83</a:t>
            </a:r>
            <a:pPr indent="0" marL="0">
              <a:buNone/>
            </a:pPr>
            <a:r>
              <a:rPr lang="en-US" sz="1100" b="1" dirty="0">
                <a:solidFill>
                  <a:srgbClr val="E76F51"/>
                </a:solidFill>
                <a:latin typeface="Calibri" pitchFamily="34" charset="0"/>
                <a:ea typeface="Calibri" pitchFamily="34" charset="-122"/>
                <a:cs typeface="Calibri" pitchFamily="34" charset="-120"/>
              </a:rPr>
              <a:t>   +5%</a:t>
            </a:r>
            <a:endParaRPr lang="en-US" sz="1100" dirty="0"/>
          </a:p>
        </p:txBody>
      </p:sp>
      <p:sp>
        <p:nvSpPr>
          <p:cNvPr id="34" name="Text 30"/>
          <p:cNvSpPr/>
          <p:nvPr/>
        </p:nvSpPr>
        <p:spPr>
          <a:xfrm>
            <a:off x="6583680" y="4754880"/>
            <a:ext cx="2286000" cy="274320"/>
          </a:xfrm>
          <a:prstGeom prst="rect">
            <a:avLst/>
          </a:prstGeom>
          <a:noFill/>
          <a:ln/>
        </p:spPr>
        <p:txBody>
          <a:bodyPr wrap="square" lIns="0" tIns="0" rIns="0" bIns="0" rtlCol="0" anchor="ctr"/>
          <a:lstStyle/>
          <a:p>
            <a:pPr indent="0" marL="0">
              <a:buNone/>
            </a:pPr>
            <a:r>
              <a:rPr lang="en-US" sz="1000" i="1" dirty="0">
                <a:solidFill>
                  <a:srgbClr val="1A2E23"/>
                </a:solidFill>
                <a:latin typeface="Calibri Light" pitchFamily="34" charset="0"/>
                <a:ea typeface="Calibri Light" pitchFamily="34" charset="-122"/>
                <a:cs typeface="Calibri Light" pitchFamily="34" charset="-120"/>
              </a:rPr>
              <a:t>Nordic price index uplift</a:t>
            </a:r>
            <a:endParaRPr lang="en-US" sz="1000" dirty="0"/>
          </a:p>
        </p:txBody>
      </p:sp>
      <p:sp>
        <p:nvSpPr>
          <p:cNvPr id="35" name="Shape 31"/>
          <p:cNvSpPr/>
          <p:nvPr/>
        </p:nvSpPr>
        <p:spPr>
          <a:xfrm>
            <a:off x="9235440" y="3657600"/>
            <a:ext cx="2651760" cy="1417320"/>
          </a:xfrm>
          <a:prstGeom prst="rect">
            <a:avLst/>
          </a:prstGeom>
          <a:solidFill>
            <a:srgbClr val="F8F9FA"/>
          </a:solidFill>
          <a:ln w="12700">
            <a:solidFill>
              <a:srgbClr val="E9ECEF"/>
            </a:solidFill>
            <a:prstDash val="solid"/>
          </a:ln>
        </p:spPr>
      </p:sp>
      <p:sp>
        <p:nvSpPr>
          <p:cNvPr id="36" name="Text 32"/>
          <p:cNvSpPr/>
          <p:nvPr/>
        </p:nvSpPr>
        <p:spPr>
          <a:xfrm>
            <a:off x="9418320" y="3749040"/>
            <a:ext cx="2286000" cy="274320"/>
          </a:xfrm>
          <a:prstGeom prst="rect">
            <a:avLst/>
          </a:prstGeom>
          <a:noFill/>
          <a:ln/>
        </p:spPr>
        <p:txBody>
          <a:bodyPr wrap="square" lIns="0" tIns="0" rIns="0" bIns="0" rtlCol="0" anchor="ctr"/>
          <a:lstStyle/>
          <a:p>
            <a:pPr indent="0" marL="0">
              <a:buNone/>
            </a:pPr>
            <a:r>
              <a:rPr lang="en-US" sz="1100" b="1" spc="200" kern="0" dirty="0">
                <a:solidFill>
                  <a:srgbClr val="6C757D"/>
                </a:solidFill>
                <a:latin typeface="Calibri" pitchFamily="34" charset="0"/>
                <a:ea typeface="Calibri" pitchFamily="34" charset="-122"/>
                <a:cs typeface="Calibri" pitchFamily="34" charset="-120"/>
              </a:rPr>
              <a:t>Target ROAS</a:t>
            </a:r>
            <a:endParaRPr lang="en-US" sz="1100" dirty="0"/>
          </a:p>
        </p:txBody>
      </p:sp>
      <p:sp>
        <p:nvSpPr>
          <p:cNvPr id="37" name="Text 33"/>
          <p:cNvSpPr/>
          <p:nvPr/>
        </p:nvSpPr>
        <p:spPr>
          <a:xfrm>
            <a:off x="9418320" y="4023360"/>
            <a:ext cx="2286000" cy="457200"/>
          </a:xfrm>
          <a:prstGeom prst="rect">
            <a:avLst/>
          </a:prstGeom>
          <a:noFill/>
          <a:ln/>
        </p:spPr>
        <p:txBody>
          <a:bodyPr wrap="square" lIns="0" tIns="0" rIns="0" bIns="0" rtlCol="0" anchor="ctr"/>
          <a:lstStyle/>
          <a:p>
            <a:pPr indent="0" marL="0">
              <a:buNone/>
            </a:pPr>
            <a:r>
              <a:rPr lang="en-US" sz="2400" b="1" dirty="0">
                <a:solidFill>
                  <a:srgbClr val="1A2E23"/>
                </a:solidFill>
                <a:latin typeface="Georgia" pitchFamily="34" charset="0"/>
                <a:ea typeface="Georgia" pitchFamily="34" charset="-122"/>
                <a:cs typeface="Georgia" pitchFamily="34" charset="-120"/>
              </a:rPr>
              <a:t>1.50×</a:t>
            </a:r>
            <a:endParaRPr lang="en-US" sz="2400" dirty="0"/>
          </a:p>
        </p:txBody>
      </p:sp>
      <p:sp>
        <p:nvSpPr>
          <p:cNvPr id="38" name="Text 34"/>
          <p:cNvSpPr/>
          <p:nvPr/>
        </p:nvSpPr>
        <p:spPr>
          <a:xfrm>
            <a:off x="9418320" y="4526280"/>
            <a:ext cx="2286000" cy="22860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NL 2.72×</a:t>
            </a:r>
            <a:pPr indent="0" marL="0">
              <a:buNone/>
            </a:pPr>
            <a:r>
              <a:rPr lang="en-US" sz="1100" b="1" dirty="0">
                <a:solidFill>
                  <a:srgbClr val="E76F51"/>
                </a:solidFill>
                <a:latin typeface="Calibri" pitchFamily="34" charset="0"/>
                <a:ea typeface="Calibri" pitchFamily="34" charset="-122"/>
                <a:cs typeface="Calibri" pitchFamily="34" charset="-120"/>
              </a:rPr>
              <a:t>   min</a:t>
            </a:r>
            <a:endParaRPr lang="en-US" sz="1100" dirty="0"/>
          </a:p>
        </p:txBody>
      </p:sp>
      <p:sp>
        <p:nvSpPr>
          <p:cNvPr id="39" name="Text 35"/>
          <p:cNvSpPr/>
          <p:nvPr/>
        </p:nvSpPr>
        <p:spPr>
          <a:xfrm>
            <a:off x="9418320" y="4754880"/>
            <a:ext cx="2286000" cy="274320"/>
          </a:xfrm>
          <a:prstGeom prst="rect">
            <a:avLst/>
          </a:prstGeom>
          <a:noFill/>
          <a:ln/>
        </p:spPr>
        <p:txBody>
          <a:bodyPr wrap="square" lIns="0" tIns="0" rIns="0" bIns="0" rtlCol="0" anchor="ctr"/>
          <a:lstStyle/>
          <a:p>
            <a:pPr indent="0" marL="0">
              <a:buNone/>
            </a:pPr>
            <a:r>
              <a:rPr lang="en-US" sz="1000" i="1" dirty="0">
                <a:solidFill>
                  <a:srgbClr val="1A2E23"/>
                </a:solidFill>
                <a:latin typeface="Calibri Light" pitchFamily="34" charset="0"/>
                <a:ea typeface="Calibri Light" pitchFamily="34" charset="-122"/>
                <a:cs typeface="Calibri Light" pitchFamily="34" charset="-120"/>
              </a:rPr>
              <a:t>Brief target; model lands at 1.81×</a:t>
            </a:r>
            <a:endParaRPr lang="en-US" sz="1000" dirty="0"/>
          </a:p>
        </p:txBody>
      </p:sp>
      <p:sp>
        <p:nvSpPr>
          <p:cNvPr id="40" name="Shape 36"/>
          <p:cNvSpPr/>
          <p:nvPr/>
        </p:nvSpPr>
        <p:spPr>
          <a:xfrm>
            <a:off x="457200" y="5577840"/>
            <a:ext cx="11247120" cy="777240"/>
          </a:xfrm>
          <a:prstGeom prst="rect">
            <a:avLst/>
          </a:prstGeom>
          <a:solidFill>
            <a:srgbClr val="1B4332"/>
          </a:solidFill>
          <a:ln/>
        </p:spPr>
      </p:sp>
      <p:sp>
        <p:nvSpPr>
          <p:cNvPr id="41" name="Text 37"/>
          <p:cNvSpPr/>
          <p:nvPr/>
        </p:nvSpPr>
        <p:spPr>
          <a:xfrm>
            <a:off x="731520" y="5623560"/>
            <a:ext cx="10698480" cy="685800"/>
          </a:xfrm>
          <a:prstGeom prst="rect">
            <a:avLst/>
          </a:prstGeom>
          <a:noFill/>
          <a:ln/>
        </p:spPr>
        <p:txBody>
          <a:bodyPr wrap="square" lIns="0" tIns="0" rIns="0" bIns="0" rtlCol="0" anchor="ctr"/>
          <a:lstStyle/>
          <a:p>
            <a:pPr indent="0" marL="0">
              <a:buNone/>
            </a:pPr>
            <a:r>
              <a:rPr lang="en-US" sz="1300" b="1" dirty="0">
                <a:solidFill>
                  <a:srgbClr val="F4A261"/>
                </a:solidFill>
                <a:latin typeface="Calibri Light" pitchFamily="34" charset="0"/>
                <a:ea typeface="Calibri Light" pitchFamily="34" charset="-122"/>
                <a:cs typeface="Calibri Light" pitchFamily="34" charset="-120"/>
              </a:rPr>
              <a:t>Break-even check.  </a:t>
            </a:r>
            <a:pPr indent="0" marL="0">
              <a:buNone/>
            </a:pPr>
            <a:r>
              <a:rPr lang="en-US" sz="1300" dirty="0">
                <a:solidFill>
                  <a:srgbClr val="FFFFFF"/>
                </a:solidFill>
                <a:latin typeface="Calibri Light" pitchFamily="34" charset="0"/>
                <a:ea typeface="Calibri Light" pitchFamily="34" charset="-122"/>
                <a:cs typeface="Calibri Light" pitchFamily="34" charset="-120"/>
              </a:rPr>
              <a:t>At €1k/day and CPC €1.45, we need </a:t>
            </a:r>
            <a:pPr indent="0" marL="0">
              <a:buNone/>
            </a:pPr>
            <a:r>
              <a:rPr lang="en-US" sz="1300" b="1" dirty="0">
                <a:solidFill>
                  <a:srgbClr val="FFFFFF"/>
                </a:solidFill>
                <a:latin typeface="Calibri Light" pitchFamily="34" charset="0"/>
                <a:ea typeface="Calibri Light" pitchFamily="34" charset="-122"/>
                <a:cs typeface="Calibri Light" pitchFamily="34" charset="-120"/>
              </a:rPr>
              <a:t>CVR ≥ 3.5%</a:t>
            </a:r>
            <a:pPr indent="0" marL="0">
              <a:buNone/>
            </a:pPr>
            <a:r>
              <a:rPr lang="en-US" sz="1300" dirty="0">
                <a:solidFill>
                  <a:srgbClr val="FFFFFF"/>
                </a:solidFill>
                <a:latin typeface="Calibri Light" pitchFamily="34" charset="0"/>
                <a:ea typeface="Calibri Light" pitchFamily="34" charset="-122"/>
                <a:cs typeface="Calibri Light" pitchFamily="34" charset="-120"/>
              </a:rPr>
              <a:t> to hit 1.5× ROAS. Baseline assumes 4.2%. Safety buffer holds even if NO CVR is 40% below NL.</a:t>
            </a:r>
            <a:endParaRPr lang="en-US" sz="1300" dirty="0"/>
          </a:p>
        </p:txBody>
      </p:sp>
      <p:sp>
        <p:nvSpPr>
          <p:cNvPr id="42" name="Text 38"/>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43" name="Text 39"/>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lIns="0" tIns="0" rIns="0" bIns="0" rtlCol="0" anchor="ctr"/>
          <a:lstStyle/>
          <a:p>
            <a:pPr indent="0" marL="0">
              <a:buNone/>
            </a:pPr>
            <a:r>
              <a:rPr lang="en-US" sz="1100" b="1" spc="400" kern="0" dirty="0">
                <a:solidFill>
                  <a:srgbClr val="E76F51"/>
                </a:solidFill>
                <a:latin typeface="Calibri" pitchFamily="34" charset="0"/>
                <a:ea typeface="Calibri" pitchFamily="34" charset="-122"/>
                <a:cs typeface="Calibri" pitchFamily="34" charset="-120"/>
              </a:rPr>
              <a:t>CAMPAIGNS 1 &amp; 2</a:t>
            </a:r>
            <a:endParaRPr lang="en-US" sz="1100" dirty="0"/>
          </a:p>
        </p:txBody>
      </p:sp>
      <p:sp>
        <p:nvSpPr>
          <p:cNvPr id="3" name="Text 1"/>
          <p:cNvSpPr/>
          <p:nvPr/>
        </p:nvSpPr>
        <p:spPr>
          <a:xfrm>
            <a:off x="457200" y="640080"/>
            <a:ext cx="10972800" cy="64008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Where the revenue lives</a:t>
            </a:r>
            <a:endParaRPr lang="en-US" sz="3800" dirty="0"/>
          </a:p>
        </p:txBody>
      </p:sp>
      <p:sp>
        <p:nvSpPr>
          <p:cNvPr id="4" name="Text 2"/>
          <p:cNvSpPr/>
          <p:nvPr/>
        </p:nvSpPr>
        <p:spPr>
          <a:xfrm>
            <a:off x="457200" y="1280160"/>
            <a:ext cx="11247120" cy="365760"/>
          </a:xfrm>
          <a:prstGeom prst="rect">
            <a:avLst/>
          </a:prstGeom>
          <a:noFill/>
          <a:ln/>
        </p:spPr>
        <p:txBody>
          <a:bodyPr wrap="square" lIns="0" tIns="0" rIns="0" bIns="0" rtlCol="0" anchor="ctr"/>
          <a:lstStyle/>
          <a:p>
            <a:pPr indent="0" marL="0">
              <a:buNone/>
            </a:pPr>
            <a:r>
              <a:rPr lang="en-US" sz="1400" i="1" dirty="0">
                <a:solidFill>
                  <a:srgbClr val="6C757D"/>
                </a:solidFill>
                <a:latin typeface="Calibri Light" pitchFamily="34" charset="0"/>
                <a:ea typeface="Calibri Light" pitchFamily="34" charset="-122"/>
                <a:cs typeface="Calibri Light" pitchFamily="34" charset="-120"/>
              </a:rPr>
              <a:t>85% of the budget. Both clusters did the heavy lifting in NL — there's no reason Norway should be different.</a:t>
            </a:r>
            <a:endParaRPr lang="en-US" sz="1400" dirty="0"/>
          </a:p>
        </p:txBody>
      </p:sp>
      <p:sp>
        <p:nvSpPr>
          <p:cNvPr id="5" name="Shape 3"/>
          <p:cNvSpPr/>
          <p:nvPr/>
        </p:nvSpPr>
        <p:spPr>
          <a:xfrm>
            <a:off x="457200" y="1828800"/>
            <a:ext cx="5577840" cy="4251960"/>
          </a:xfrm>
          <a:prstGeom prst="rect">
            <a:avLst/>
          </a:prstGeom>
          <a:solidFill>
            <a:srgbClr val="F8F9FA"/>
          </a:solidFill>
          <a:ln w="12700">
            <a:solidFill>
              <a:srgbClr val="E9ECEF"/>
            </a:solidFill>
            <a:prstDash val="solid"/>
          </a:ln>
        </p:spPr>
      </p:sp>
      <p:sp>
        <p:nvSpPr>
          <p:cNvPr id="6" name="Shape 4"/>
          <p:cNvSpPr/>
          <p:nvPr/>
        </p:nvSpPr>
        <p:spPr>
          <a:xfrm>
            <a:off x="457200" y="1828800"/>
            <a:ext cx="73152" cy="4251960"/>
          </a:xfrm>
          <a:prstGeom prst="rect">
            <a:avLst/>
          </a:prstGeom>
          <a:solidFill>
            <a:srgbClr val="E76F51"/>
          </a:solidFill>
          <a:ln/>
        </p:spPr>
      </p:sp>
      <p:sp>
        <p:nvSpPr>
          <p:cNvPr id="7" name="Text 5"/>
          <p:cNvSpPr/>
          <p:nvPr/>
        </p:nvSpPr>
        <p:spPr>
          <a:xfrm>
            <a:off x="685800" y="1920240"/>
            <a:ext cx="91440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685800" y="2194560"/>
            <a:ext cx="5212080" cy="457200"/>
          </a:xfrm>
          <a:prstGeom prst="rect">
            <a:avLst/>
          </a:prstGeom>
          <a:noFill/>
          <a:ln/>
        </p:spPr>
        <p:txBody>
          <a:bodyPr wrap="square" lIns="0" tIns="0" rIns="0" bIns="0" rtlCol="0" anchor="ctr"/>
          <a:lstStyle/>
          <a:p>
            <a:pPr indent="0" marL="0">
              <a:buNone/>
            </a:pPr>
            <a:r>
              <a:rPr lang="en-US" sz="2200" b="1" dirty="0">
                <a:solidFill>
                  <a:srgbClr val="1A2E23"/>
                </a:solidFill>
                <a:latin typeface="Georgia" pitchFamily="34" charset="0"/>
                <a:ea typeface="Georgia" pitchFamily="34" charset="-122"/>
                <a:cs typeface="Georgia" pitchFamily="34" charset="-120"/>
              </a:rPr>
              <a:t>Problem-Aware</a:t>
            </a:r>
            <a:endParaRPr lang="en-US" sz="2200" dirty="0"/>
          </a:p>
        </p:txBody>
      </p:sp>
      <p:sp>
        <p:nvSpPr>
          <p:cNvPr id="9" name="Text 7"/>
          <p:cNvSpPr/>
          <p:nvPr/>
        </p:nvSpPr>
        <p:spPr>
          <a:xfrm>
            <a:off x="685800" y="2651760"/>
            <a:ext cx="5212080" cy="502920"/>
          </a:xfrm>
          <a:prstGeom prst="rect">
            <a:avLst/>
          </a:prstGeom>
          <a:noFill/>
          <a:ln/>
        </p:spPr>
        <p:txBody>
          <a:bodyPr wrap="square" lIns="0" tIns="0" rIns="0" bIns="0" rtlCol="0" anchor="t"/>
          <a:lstStyle/>
          <a:p>
            <a:pPr indent="0" marL="0">
              <a:buNone/>
            </a:pPr>
            <a:r>
              <a:rPr lang="en-US" sz="1150" i="1" dirty="0">
                <a:solidFill>
                  <a:srgbClr val="1A2E23"/>
                </a:solidFill>
                <a:latin typeface="Calibri Light" pitchFamily="34" charset="0"/>
                <a:ea typeface="Calibri Light" pitchFamily="34" charset="-122"/>
                <a:cs typeface="Calibri Light" pitchFamily="34" charset="-120"/>
              </a:rPr>
              <a:t>They don't know tannpulver exists. They just know the dog stinks.</a:t>
            </a:r>
            <a:endParaRPr lang="en-US" sz="1150" dirty="0"/>
          </a:p>
        </p:txBody>
      </p:sp>
      <p:sp>
        <p:nvSpPr>
          <p:cNvPr id="10" name="Text 8"/>
          <p:cNvSpPr/>
          <p:nvPr/>
        </p:nvSpPr>
        <p:spPr>
          <a:xfrm>
            <a:off x="685800" y="3200400"/>
            <a:ext cx="5212080" cy="27432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30% · €300/day</a:t>
            </a:r>
            <a:pPr indent="0" marL="0">
              <a:buNone/>
            </a:pPr>
            <a:r>
              <a:rPr lang="en-US" sz="1050" dirty="0">
                <a:solidFill>
                  <a:srgbClr val="6C757D"/>
                </a:solidFill>
                <a:latin typeface="Calibri" pitchFamily="34" charset="0"/>
                <a:ea typeface="Calibri" pitchFamily="34" charset="-122"/>
                <a:cs typeface="Calibri" pitchFamily="34" charset="-120"/>
              </a:rPr>
              <a:t>   ·   NL: CPC €0.94 · CVR 4.8% · ROAS 2.87×</a:t>
            </a:r>
            <a:endParaRPr lang="en-US" sz="1300" dirty="0"/>
          </a:p>
        </p:txBody>
      </p:sp>
      <p:sp>
        <p:nvSpPr>
          <p:cNvPr id="11" name="Text 9"/>
          <p:cNvSpPr/>
          <p:nvPr/>
        </p:nvSpPr>
        <p:spPr>
          <a:xfrm>
            <a:off x="685800" y="3566160"/>
            <a:ext cx="5212080" cy="1280160"/>
          </a:xfrm>
          <a:prstGeom prst="rect">
            <a:avLst/>
          </a:prstGeom>
          <a:noFill/>
          <a:ln/>
        </p:spPr>
        <p:txBody>
          <a:bodyPr wrap="square" lIns="0" tIns="0" rIns="0" bIns="0" rtlCol="0" anchor="t"/>
          <a:lstStyle/>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hund dårlig ånde</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bad breath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tannstein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tartar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fjerne tannstein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remove tartar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hund stinker fra munnen</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dog smells from mouth</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betennelse tannkjøtt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gum inflammation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hund gule tenner</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yellow teeth dog</a:t>
            </a:r>
            <a:endParaRPr lang="en-US" sz="1050" dirty="0"/>
          </a:p>
        </p:txBody>
      </p:sp>
      <p:sp>
        <p:nvSpPr>
          <p:cNvPr id="12" name="Text 10"/>
          <p:cNvSpPr/>
          <p:nvPr/>
        </p:nvSpPr>
        <p:spPr>
          <a:xfrm>
            <a:off x="685800" y="4892040"/>
            <a:ext cx="5212080" cy="1097280"/>
          </a:xfrm>
          <a:prstGeom prst="rect">
            <a:avLst/>
          </a:prstGeom>
          <a:noFill/>
          <a:ln/>
        </p:spPr>
        <p:txBody>
          <a:bodyPr wrap="square" lIns="0" tIns="0" rIns="0" bIns="0" rtlCol="0" anchor="t"/>
          <a:lstStyle/>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STRUCTURE  </a:t>
            </a:r>
            <a:pPr indent="0" marL="0">
              <a:buNone/>
            </a:pPr>
            <a:r>
              <a:rPr lang="en-US" sz="1100" dirty="0">
                <a:solidFill>
                  <a:srgbClr val="1A2E23"/>
                </a:solidFill>
                <a:latin typeface="Calibri Light" pitchFamily="34" charset="0"/>
                <a:ea typeface="Calibri Light" pitchFamily="34" charset="-122"/>
                <a:cs typeface="Calibri Light" pitchFamily="34" charset="-120"/>
              </a:rPr>
              <a:t>Phrase match. 3 ad groups: breath / tartar / gums.</a:t>
            </a:r>
            <a:endParaRPr lang="en-US" sz="900" dirty="0"/>
          </a:p>
          <a:p>
            <a:pPr indent="0" marL="0">
              <a:buNone/>
            </a:pPr>
            <a:r>
              <a:rPr lang="en-US" sz="400" dirty="0">
                <a:solidFill>
                  <a:srgbClr val="000000"/>
                </a:solidFill>
                <a:latin typeface="Calibri Light" pitchFamily="34" charset="0"/>
                <a:ea typeface="Calibri Light" pitchFamily="34" charset="-122"/>
                <a:cs typeface="Calibri Light" pitchFamily="34" charset="-120"/>
              </a:rPr>
              <a:t>
</a:t>
            </a:r>
            <a:endParaRPr lang="en-US" sz="900" dirty="0"/>
          </a:p>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AD COPY  </a:t>
            </a:r>
            <a:pPr indent="0" marL="0">
              <a:buNone/>
            </a:pPr>
            <a:r>
              <a:rPr lang="en-US" sz="1100" dirty="0">
                <a:solidFill>
                  <a:srgbClr val="1A2E23"/>
                </a:solidFill>
                <a:latin typeface="Calibri Light" pitchFamily="34" charset="0"/>
                <a:ea typeface="Calibri Light" pitchFamily="34" charset="-122"/>
                <a:cs typeface="Calibri Light" pitchFamily="34" charset="-120"/>
              </a:rPr>
              <a:t>First angle I'd test: "Hunden din stinker fra munnen? Naturlig pulver — ryddig ånde på 14 dager."  (A/B against 3 variations)</a:t>
            </a:r>
            <a:endParaRPr lang="en-US" sz="900" dirty="0"/>
          </a:p>
          <a:p>
            <a:pPr indent="0" marL="0">
              <a:buNone/>
            </a:pPr>
            <a:r>
              <a:rPr lang="en-US" sz="400" dirty="0">
                <a:solidFill>
                  <a:srgbClr val="000000"/>
                </a:solidFill>
                <a:latin typeface="Calibri Light" pitchFamily="34" charset="0"/>
                <a:ea typeface="Calibri Light" pitchFamily="34" charset="-122"/>
                <a:cs typeface="Calibri Light" pitchFamily="34" charset="-120"/>
              </a:rPr>
              <a:t>
</a:t>
            </a:r>
            <a:endParaRPr lang="en-US" sz="900" dirty="0"/>
          </a:p>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KILL / SCALE  </a:t>
            </a:r>
            <a:pPr indent="0" marL="0">
              <a:buNone/>
            </a:pPr>
            <a:r>
              <a:rPr lang="en-US" sz="1100" dirty="0">
                <a:solidFill>
                  <a:srgbClr val="1A2E23"/>
                </a:solidFill>
                <a:latin typeface="Calibri Light" pitchFamily="34" charset="0"/>
                <a:ea typeface="Calibri Light" pitchFamily="34" charset="-122"/>
                <a:cs typeface="Calibri Light" pitchFamily="34" charset="-120"/>
              </a:rPr>
              <a:t>Pause ad group after €200 spend if ROAS &lt; 1.0×</a:t>
            </a:r>
            <a:endParaRPr lang="en-US" sz="900" dirty="0"/>
          </a:p>
        </p:txBody>
      </p:sp>
      <p:sp>
        <p:nvSpPr>
          <p:cNvPr id="13" name="Shape 11"/>
          <p:cNvSpPr/>
          <p:nvPr/>
        </p:nvSpPr>
        <p:spPr>
          <a:xfrm>
            <a:off x="6263640" y="1828800"/>
            <a:ext cx="5577840" cy="4251960"/>
          </a:xfrm>
          <a:prstGeom prst="rect">
            <a:avLst/>
          </a:prstGeom>
          <a:solidFill>
            <a:srgbClr val="F8F9FA"/>
          </a:solidFill>
          <a:ln w="12700">
            <a:solidFill>
              <a:srgbClr val="E9ECEF"/>
            </a:solidFill>
            <a:prstDash val="solid"/>
          </a:ln>
        </p:spPr>
      </p:sp>
      <p:sp>
        <p:nvSpPr>
          <p:cNvPr id="14" name="Shape 12"/>
          <p:cNvSpPr/>
          <p:nvPr/>
        </p:nvSpPr>
        <p:spPr>
          <a:xfrm>
            <a:off x="6263640" y="1828800"/>
            <a:ext cx="73152" cy="4251960"/>
          </a:xfrm>
          <a:prstGeom prst="rect">
            <a:avLst/>
          </a:prstGeom>
          <a:solidFill>
            <a:srgbClr val="2D6A4F"/>
          </a:solidFill>
          <a:ln/>
        </p:spPr>
      </p:sp>
      <p:sp>
        <p:nvSpPr>
          <p:cNvPr id="15" name="Text 13"/>
          <p:cNvSpPr/>
          <p:nvPr/>
        </p:nvSpPr>
        <p:spPr>
          <a:xfrm>
            <a:off x="6492240" y="1920240"/>
            <a:ext cx="914400" cy="274320"/>
          </a:xfrm>
          <a:prstGeom prst="rect">
            <a:avLst/>
          </a:prstGeom>
          <a:noFill/>
          <a:ln/>
        </p:spPr>
        <p:txBody>
          <a:bodyPr wrap="square" lIns="0" tIns="0" rIns="0" bIns="0" rtlCol="0" anchor="ctr"/>
          <a:lstStyle/>
          <a:p>
            <a:pPr indent="0" marL="0">
              <a:buNone/>
            </a:pPr>
            <a:r>
              <a:rPr lang="en-US" sz="1100" b="1" spc="200" kern="0" dirty="0">
                <a:solidFill>
                  <a:srgbClr val="2D6A4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6492240" y="2194560"/>
            <a:ext cx="5212080" cy="457200"/>
          </a:xfrm>
          <a:prstGeom prst="rect">
            <a:avLst/>
          </a:prstGeom>
          <a:noFill/>
          <a:ln/>
        </p:spPr>
        <p:txBody>
          <a:bodyPr wrap="square" lIns="0" tIns="0" rIns="0" bIns="0" rtlCol="0" anchor="ctr"/>
          <a:lstStyle/>
          <a:p>
            <a:pPr indent="0" marL="0">
              <a:buNone/>
            </a:pPr>
            <a:r>
              <a:rPr lang="en-US" sz="2200" b="1" dirty="0">
                <a:solidFill>
                  <a:srgbClr val="1A2E23"/>
                </a:solidFill>
                <a:latin typeface="Georgia" pitchFamily="34" charset="0"/>
                <a:ea typeface="Georgia" pitchFamily="34" charset="-122"/>
                <a:cs typeface="Georgia" pitchFamily="34" charset="-120"/>
              </a:rPr>
              <a:t>Solution-Aware</a:t>
            </a:r>
            <a:endParaRPr lang="en-US" sz="2200" dirty="0"/>
          </a:p>
        </p:txBody>
      </p:sp>
      <p:sp>
        <p:nvSpPr>
          <p:cNvPr id="17" name="Text 15"/>
          <p:cNvSpPr/>
          <p:nvPr/>
        </p:nvSpPr>
        <p:spPr>
          <a:xfrm>
            <a:off x="6492240" y="2651760"/>
            <a:ext cx="5212080" cy="502920"/>
          </a:xfrm>
          <a:prstGeom prst="rect">
            <a:avLst/>
          </a:prstGeom>
          <a:noFill/>
          <a:ln/>
        </p:spPr>
        <p:txBody>
          <a:bodyPr wrap="square" lIns="0" tIns="0" rIns="0" bIns="0" rtlCol="0" anchor="t"/>
          <a:lstStyle/>
          <a:p>
            <a:pPr indent="0" marL="0">
              <a:buNone/>
            </a:pPr>
            <a:r>
              <a:rPr lang="en-US" sz="1150" i="1" dirty="0">
                <a:solidFill>
                  <a:srgbClr val="1A2E23"/>
                </a:solidFill>
                <a:latin typeface="Calibri Light" pitchFamily="34" charset="0"/>
                <a:ea typeface="Calibri Light" pitchFamily="34" charset="-122"/>
                <a:cs typeface="Calibri Light" pitchFamily="34" charset="-120"/>
              </a:rPr>
              <a:t>They know they want a dental product. Bigger volume, higher CVR, slightly more expensive clicks.</a:t>
            </a:r>
            <a:endParaRPr lang="en-US" sz="1150" dirty="0"/>
          </a:p>
        </p:txBody>
      </p:sp>
      <p:sp>
        <p:nvSpPr>
          <p:cNvPr id="18" name="Text 16"/>
          <p:cNvSpPr/>
          <p:nvPr/>
        </p:nvSpPr>
        <p:spPr>
          <a:xfrm>
            <a:off x="6492240" y="3200400"/>
            <a:ext cx="5212080" cy="27432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55% · €550/day</a:t>
            </a:r>
            <a:pPr indent="0" marL="0">
              <a:buNone/>
            </a:pPr>
            <a:r>
              <a:rPr lang="en-US" sz="1050" dirty="0">
                <a:solidFill>
                  <a:srgbClr val="6C757D"/>
                </a:solidFill>
                <a:latin typeface="Calibri" pitchFamily="34" charset="0"/>
                <a:ea typeface="Calibri" pitchFamily="34" charset="-122"/>
                <a:cs typeface="Calibri" pitchFamily="34" charset="-120"/>
              </a:rPr>
              <a:t>   ·   NL: CPC €1.22 · CVR 6.5% · ROAS 3.09×</a:t>
            </a:r>
            <a:endParaRPr lang="en-US" sz="1300" dirty="0"/>
          </a:p>
        </p:txBody>
      </p:sp>
      <p:sp>
        <p:nvSpPr>
          <p:cNvPr id="19" name="Text 17"/>
          <p:cNvSpPr/>
          <p:nvPr/>
        </p:nvSpPr>
        <p:spPr>
          <a:xfrm>
            <a:off x="6492240" y="3566160"/>
            <a:ext cx="5212080" cy="1280160"/>
          </a:xfrm>
          <a:prstGeom prst="rect">
            <a:avLst/>
          </a:prstGeom>
          <a:noFill/>
          <a:ln/>
        </p:spPr>
        <p:txBody>
          <a:bodyPr wrap="square" lIns="0" tIns="0" rIns="0" bIns="0" rtlCol="0" anchor="t"/>
          <a:lstStyle/>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tannpulver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tooth powder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dental pulver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dental powder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beste tannpulver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best tooth powder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tannpleie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dental care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tannrens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teeth cleaning dog</a:t>
            </a:r>
            <a:endParaRPr lang="en-US" sz="1050" dirty="0"/>
          </a:p>
          <a:p>
            <a:pPr indent="0" marL="0">
              <a:spcAft>
                <a:spcPts val="200"/>
              </a:spcAft>
              <a:buNone/>
            </a:pPr>
            <a:r>
              <a:rPr lang="en-US" sz="1050" b="1" dirty="0">
                <a:solidFill>
                  <a:srgbClr val="1A2E23"/>
                </a:solidFill>
                <a:latin typeface="Calibri" pitchFamily="34" charset="0"/>
                <a:ea typeface="Calibri" pitchFamily="34" charset="-122"/>
                <a:cs typeface="Calibri" pitchFamily="34" charset="-120"/>
              </a:rPr>
              <a:t>anti plakk hund</a:t>
            </a:r>
            <a:pPr indent="0" marL="0">
              <a:spcAft>
                <a:spcPts val="200"/>
              </a:spcAft>
              <a:buNone/>
            </a:pPr>
            <a:r>
              <a:rPr lang="en-US" sz="1000" i="1" dirty="0">
                <a:solidFill>
                  <a:srgbClr val="6C757D"/>
                </a:solidFill>
                <a:latin typeface="Calibri" pitchFamily="34" charset="0"/>
                <a:ea typeface="Calibri" pitchFamily="34" charset="-122"/>
                <a:cs typeface="Calibri" pitchFamily="34" charset="-120"/>
              </a:rPr>
              <a:t>  anti plaque dog</a:t>
            </a:r>
            <a:endParaRPr lang="en-US" sz="1050" dirty="0"/>
          </a:p>
        </p:txBody>
      </p:sp>
      <p:sp>
        <p:nvSpPr>
          <p:cNvPr id="20" name="Text 18"/>
          <p:cNvSpPr/>
          <p:nvPr/>
        </p:nvSpPr>
        <p:spPr>
          <a:xfrm>
            <a:off x="6492240" y="4892040"/>
            <a:ext cx="5212080" cy="1097280"/>
          </a:xfrm>
          <a:prstGeom prst="rect">
            <a:avLst/>
          </a:prstGeom>
          <a:noFill/>
          <a:ln/>
        </p:spPr>
        <p:txBody>
          <a:bodyPr wrap="square" lIns="0" tIns="0" rIns="0" bIns="0" rtlCol="0" anchor="t"/>
          <a:lstStyle/>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STRUCTURE  </a:t>
            </a:r>
            <a:pPr indent="0" marL="0">
              <a:buNone/>
            </a:pPr>
            <a:r>
              <a:rPr lang="en-US" sz="1100" dirty="0">
                <a:solidFill>
                  <a:srgbClr val="1A2E23"/>
                </a:solidFill>
                <a:latin typeface="Calibri Light" pitchFamily="34" charset="0"/>
                <a:ea typeface="Calibri Light" pitchFamily="34" charset="-122"/>
                <a:cs typeface="Calibri Light" pitchFamily="34" charset="-120"/>
              </a:rPr>
              <a:t>Phrase match. 3 ad groups: powder / paste-brush / general care.</a:t>
            </a:r>
            <a:endParaRPr lang="en-US" sz="900" dirty="0"/>
          </a:p>
          <a:p>
            <a:pPr indent="0" marL="0">
              <a:buNone/>
            </a:pPr>
            <a:r>
              <a:rPr lang="en-US" sz="400" dirty="0">
                <a:solidFill>
                  <a:srgbClr val="000000"/>
                </a:solidFill>
                <a:latin typeface="Calibri Light" pitchFamily="34" charset="0"/>
                <a:ea typeface="Calibri Light" pitchFamily="34" charset="-122"/>
                <a:cs typeface="Calibri Light" pitchFamily="34" charset="-120"/>
              </a:rPr>
              <a:t>
</a:t>
            </a:r>
            <a:endParaRPr lang="en-US" sz="900" dirty="0"/>
          </a:p>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AD COPY  </a:t>
            </a:r>
            <a:pPr indent="0" marL="0">
              <a:buNone/>
            </a:pPr>
            <a:r>
              <a:rPr lang="en-US" sz="1100" dirty="0">
                <a:solidFill>
                  <a:srgbClr val="1A2E23"/>
                </a:solidFill>
                <a:latin typeface="Calibri Light" pitchFamily="34" charset="0"/>
                <a:ea typeface="Calibri Light" pitchFamily="34" charset="-122"/>
                <a:cs typeface="Calibri Light" pitchFamily="34" charset="-120"/>
              </a:rPr>
              <a:t>First angle: "Tannpulver for hund — 4.6/5 fra 12 000 anmeldelser. Prøv i 30 dager risikofritt."  (trust + risk reversal)</a:t>
            </a:r>
            <a:endParaRPr lang="en-US" sz="900" dirty="0"/>
          </a:p>
          <a:p>
            <a:pPr indent="0" marL="0">
              <a:buNone/>
            </a:pPr>
            <a:r>
              <a:rPr lang="en-US" sz="400" dirty="0">
                <a:solidFill>
                  <a:srgbClr val="000000"/>
                </a:solidFill>
                <a:latin typeface="Calibri Light" pitchFamily="34" charset="0"/>
                <a:ea typeface="Calibri Light" pitchFamily="34" charset="-122"/>
                <a:cs typeface="Calibri Light" pitchFamily="34" charset="-120"/>
              </a:rPr>
              <a:t>
</a:t>
            </a:r>
            <a:endParaRPr lang="en-US" sz="900" dirty="0"/>
          </a:p>
          <a:p>
            <a:pPr indent="0" marL="0">
              <a:buNone/>
            </a:pPr>
            <a:r>
              <a:rPr lang="en-US" sz="900" b="1" spc="200" kern="0" dirty="0">
                <a:solidFill>
                  <a:srgbClr val="E76F51"/>
                </a:solidFill>
                <a:latin typeface="Calibri Light" pitchFamily="34" charset="0"/>
                <a:ea typeface="Calibri Light" pitchFamily="34" charset="-122"/>
                <a:cs typeface="Calibri Light" pitchFamily="34" charset="-120"/>
              </a:rPr>
              <a:t>KILL / SCALE  </a:t>
            </a:r>
            <a:pPr indent="0" marL="0">
              <a:buNone/>
            </a:pPr>
            <a:r>
              <a:rPr lang="en-US" sz="1100" dirty="0">
                <a:solidFill>
                  <a:srgbClr val="1A2E23"/>
                </a:solidFill>
                <a:latin typeface="Calibri Light" pitchFamily="34" charset="0"/>
                <a:ea typeface="Calibri Light" pitchFamily="34" charset="-122"/>
                <a:cs typeface="Calibri Light" pitchFamily="34" charset="-120"/>
              </a:rPr>
              <a:t>tROAS 2.0× from Day 7 · Kill terms under 1.2× ROAS</a:t>
            </a:r>
            <a:endParaRPr lang="en-US" sz="900" dirty="0"/>
          </a:p>
        </p:txBody>
      </p:sp>
      <p:sp>
        <p:nvSpPr>
          <p:cNvPr id="21" name="Text 19"/>
          <p:cNvSpPr/>
          <p:nvPr/>
        </p:nvSpPr>
        <p:spPr>
          <a:xfrm>
            <a:off x="457200" y="6217920"/>
            <a:ext cx="11247120" cy="274320"/>
          </a:xfrm>
          <a:prstGeom prst="rect">
            <a:avLst/>
          </a:prstGeom>
          <a:noFill/>
          <a:ln/>
        </p:spPr>
        <p:txBody>
          <a:bodyPr wrap="square" lIns="0" tIns="0" rIns="0" bIns="0" rtlCol="0" anchor="ctr"/>
          <a:lstStyle/>
          <a:p>
            <a:pPr indent="0" marL="0">
              <a:buNone/>
            </a:pPr>
            <a:r>
              <a:rPr lang="en-US" sz="1100" i="1" dirty="0">
                <a:solidFill>
                  <a:srgbClr val="6C757D"/>
                </a:solidFill>
                <a:latin typeface="Calibri Light" pitchFamily="34" charset="0"/>
                <a:ea typeface="Calibri Light" pitchFamily="34" charset="-122"/>
                <a:cs typeface="Calibri Light" pitchFamily="34" charset="-120"/>
              </a:rPr>
              <a:t>Landing page for both: /no/dental-bright with Bokmål copy + Trustpilot widget above the fold before launch.</a:t>
            </a:r>
            <a:endParaRPr lang="en-US" sz="1100" dirty="0"/>
          </a:p>
        </p:txBody>
      </p:sp>
      <p:sp>
        <p:nvSpPr>
          <p:cNvPr id="22" name="Text 20"/>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23" name="Text 21"/>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lIns="0" tIns="0" rIns="0" bIns="0" rtlCol="0" anchor="ctr"/>
          <a:lstStyle/>
          <a:p>
            <a:pPr indent="0" marL="0">
              <a:buNone/>
            </a:pPr>
            <a:r>
              <a:rPr lang="en-US" sz="1100" b="1" spc="400" kern="0" dirty="0">
                <a:solidFill>
                  <a:srgbClr val="E76F51"/>
                </a:solidFill>
                <a:latin typeface="Calibri" pitchFamily="34" charset="0"/>
                <a:ea typeface="Calibri" pitchFamily="34" charset="-122"/>
                <a:cs typeface="Calibri" pitchFamily="34" charset="-120"/>
              </a:rPr>
              <a:t>CAMPAIGN 3</a:t>
            </a:r>
            <a:endParaRPr lang="en-US" sz="1100" dirty="0"/>
          </a:p>
        </p:txBody>
      </p:sp>
      <p:sp>
        <p:nvSpPr>
          <p:cNvPr id="3" name="Text 1"/>
          <p:cNvSpPr/>
          <p:nvPr/>
        </p:nvSpPr>
        <p:spPr>
          <a:xfrm>
            <a:off x="457200" y="640080"/>
            <a:ext cx="11247120" cy="64008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DSA: the unknown-unknowns bet</a:t>
            </a:r>
            <a:endParaRPr lang="en-US" sz="3800" dirty="0"/>
          </a:p>
        </p:txBody>
      </p:sp>
      <p:sp>
        <p:nvSpPr>
          <p:cNvPr id="4" name="Text 2"/>
          <p:cNvSpPr/>
          <p:nvPr/>
        </p:nvSpPr>
        <p:spPr>
          <a:xfrm>
            <a:off x="457200" y="1508760"/>
            <a:ext cx="6583680" cy="4572000"/>
          </a:xfrm>
          <a:prstGeom prst="rect">
            <a:avLst/>
          </a:prstGeom>
          <a:noFill/>
          <a:ln/>
        </p:spPr>
        <p:txBody>
          <a:bodyPr wrap="square" lIns="0" tIns="0" rIns="0" bIns="0" rtlCol="0" anchor="t"/>
          <a:lstStyle/>
          <a:p>
            <a:pPr indent="0" marL="0">
              <a:buNone/>
            </a:pPr>
            <a:r>
              <a:rPr lang="en-US" sz="1400" b="1" dirty="0">
                <a:solidFill>
                  <a:srgbClr val="1B4332"/>
                </a:solidFill>
                <a:latin typeface="Calibri Light" pitchFamily="34" charset="0"/>
                <a:ea typeface="Calibri Light" pitchFamily="34" charset="-122"/>
                <a:cs typeface="Calibri Light" pitchFamily="34" charset="-120"/>
              </a:rPr>
              <a:t>Why this campaign exists.</a:t>
            </a:r>
            <a:endParaRPr lang="en-US" sz="1400" dirty="0"/>
          </a:p>
          <a:p>
            <a:pPr indent="0" marL="0">
              <a:buNone/>
            </a:pPr>
            <a:r>
              <a:rPr lang="en-US" sz="600" dirty="0">
                <a:solidFill>
                  <a:srgbClr val="000000"/>
                </a:solidFill>
                <a:latin typeface="Calibri Light" pitchFamily="34" charset="0"/>
                <a:ea typeface="Calibri Light" pitchFamily="34" charset="-122"/>
                <a:cs typeface="Calibri Light" pitchFamily="34" charset="-120"/>
              </a:rPr>
              <a:t>
</a:t>
            </a:r>
            <a:endParaRPr lang="en-US" sz="1400" dirty="0"/>
          </a:p>
          <a:p>
            <a:pPr indent="0" marL="0">
              <a:buNone/>
            </a:pPr>
            <a:r>
              <a:rPr lang="en-US" sz="1300" dirty="0">
                <a:solidFill>
                  <a:srgbClr val="1A2E23"/>
                </a:solidFill>
                <a:latin typeface="Calibri Light" pitchFamily="34" charset="0"/>
                <a:ea typeface="Calibri Light" pitchFamily="34" charset="-122"/>
                <a:cs typeface="Calibri Light" pitchFamily="34" charset="-120"/>
              </a:rPr>
              <a:t>My Norwegian comes from 4 hours with Google Translate this weekend. If the dominant NO query is actually </a:t>
            </a:r>
            <a:pPr indent="0" marL="0">
              <a:buNone/>
            </a:pPr>
            <a:r>
              <a:rPr lang="en-US" sz="1300" b="1" dirty="0">
                <a:solidFill>
                  <a:srgbClr val="1A2E23"/>
                </a:solidFill>
                <a:latin typeface="Calibri Light" pitchFamily="34" charset="0"/>
                <a:ea typeface="Calibri Light" pitchFamily="34" charset="-122"/>
                <a:cs typeface="Calibri Light" pitchFamily="34" charset="-120"/>
              </a:rPr>
              <a:t>"tannrens"</a:t>
            </a:r>
            <a:pPr indent="0" marL="0">
              <a:buNone/>
            </a:pPr>
            <a:r>
              <a:rPr lang="en-US" sz="1300" dirty="0">
                <a:solidFill>
                  <a:srgbClr val="1A2E23"/>
                </a:solidFill>
                <a:latin typeface="Calibri Light" pitchFamily="34" charset="0"/>
                <a:ea typeface="Calibri Light" pitchFamily="34" charset="-122"/>
                <a:cs typeface="Calibri Light" pitchFamily="34" charset="-120"/>
              </a:rPr>
              <a:t> and I bid on </a:t>
            </a:r>
            <a:pPr indent="0" marL="0">
              <a:buNone/>
            </a:pPr>
            <a:r>
              <a:rPr lang="en-US" sz="1300" b="1" dirty="0">
                <a:solidFill>
                  <a:srgbClr val="1A2E23"/>
                </a:solidFill>
                <a:latin typeface="Calibri Light" pitchFamily="34" charset="0"/>
                <a:ea typeface="Calibri Light" pitchFamily="34" charset="-122"/>
                <a:cs typeface="Calibri Light" pitchFamily="34" charset="-120"/>
              </a:rPr>
              <a:t>"tannpulver"</a:t>
            </a:r>
            <a:pPr indent="0" marL="0">
              <a:buNone/>
            </a:pPr>
            <a:r>
              <a:rPr lang="en-US" sz="1300" dirty="0">
                <a:solidFill>
                  <a:srgbClr val="1A2E23"/>
                </a:solidFill>
                <a:latin typeface="Calibri Light" pitchFamily="34" charset="0"/>
                <a:ea typeface="Calibri Light" pitchFamily="34" charset="-122"/>
                <a:cs typeface="Calibri Light" pitchFamily="34" charset="-120"/>
              </a:rPr>
              <a:t>, Campaigns 1 and 2 quietly underperform for 3 weeks before anyone notices.</a:t>
            </a:r>
            <a:endParaRPr lang="en-US" sz="1400" dirty="0"/>
          </a:p>
          <a:p>
            <a:pPr indent="0" marL="0">
              <a:buNone/>
            </a:pPr>
            <a:r>
              <a:rPr lang="en-US" sz="800" dirty="0">
                <a:solidFill>
                  <a:srgbClr val="000000"/>
                </a:solidFill>
                <a:latin typeface="Calibri Light" pitchFamily="34" charset="0"/>
                <a:ea typeface="Calibri Light" pitchFamily="34" charset="-122"/>
                <a:cs typeface="Calibri Light" pitchFamily="34" charset="-120"/>
              </a:rPr>
              <a:t>
</a:t>
            </a:r>
            <a:endParaRPr lang="en-US" sz="1400" dirty="0"/>
          </a:p>
          <a:p>
            <a:pPr indent="0" marL="0">
              <a:buNone/>
            </a:pPr>
            <a:r>
              <a:rPr lang="en-US" sz="1300" dirty="0">
                <a:solidFill>
                  <a:srgbClr val="1A2E23"/>
                </a:solidFill>
                <a:latin typeface="Calibri Light" pitchFamily="34" charset="0"/>
                <a:ea typeface="Calibri Light" pitchFamily="34" charset="-122"/>
                <a:cs typeface="Calibri Light" pitchFamily="34" charset="-120"/>
              </a:rPr>
              <a:t>DSA lets Google crawl /no/dental-bright and match queries against the page content. It surfaces the real NO language within 7–10 days. We then promote winners to phrase match and add losers to the negatives list.</a:t>
            </a:r>
            <a:endParaRPr lang="en-US" sz="1400" dirty="0"/>
          </a:p>
          <a:p>
            <a:pPr indent="0" marL="0">
              <a:buNone/>
            </a:pPr>
            <a:r>
              <a:rPr lang="en-US" sz="800" dirty="0">
                <a:solidFill>
                  <a:srgbClr val="000000"/>
                </a:solidFill>
                <a:latin typeface="Calibri Light" pitchFamily="34" charset="0"/>
                <a:ea typeface="Calibri Light" pitchFamily="34" charset="-122"/>
                <a:cs typeface="Calibri Light" pitchFamily="34" charset="-120"/>
              </a:rPr>
              <a:t>
</a:t>
            </a:r>
            <a:endParaRPr lang="en-US" sz="1400" dirty="0"/>
          </a:p>
          <a:p>
            <a:pPr indent="0" marL="0">
              <a:buNone/>
            </a:pPr>
            <a:r>
              <a:rPr lang="en-US" sz="1300" b="1" i="1" dirty="0">
                <a:solidFill>
                  <a:srgbClr val="2D6A4F"/>
                </a:solidFill>
                <a:latin typeface="Calibri Light" pitchFamily="34" charset="0"/>
                <a:ea typeface="Calibri Light" pitchFamily="34" charset="-122"/>
                <a:cs typeface="Calibri Light" pitchFamily="34" charset="-120"/>
              </a:rPr>
              <a:t>It's a 15% budget allocation that de-risks the other 85%.</a:t>
            </a:r>
            <a:endParaRPr lang="en-US" sz="1400" dirty="0"/>
          </a:p>
        </p:txBody>
      </p:sp>
      <p:sp>
        <p:nvSpPr>
          <p:cNvPr id="5" name="Shape 3"/>
          <p:cNvSpPr/>
          <p:nvPr/>
        </p:nvSpPr>
        <p:spPr>
          <a:xfrm>
            <a:off x="7498080" y="1508760"/>
            <a:ext cx="4206240" cy="4572000"/>
          </a:xfrm>
          <a:prstGeom prst="rect">
            <a:avLst/>
          </a:prstGeom>
          <a:solidFill>
            <a:srgbClr val="1B4332"/>
          </a:solidFill>
          <a:ln/>
        </p:spPr>
      </p:sp>
      <p:sp>
        <p:nvSpPr>
          <p:cNvPr id="6" name="Text 4"/>
          <p:cNvSpPr/>
          <p:nvPr/>
        </p:nvSpPr>
        <p:spPr>
          <a:xfrm>
            <a:off x="7772400" y="1691640"/>
            <a:ext cx="3657600" cy="274320"/>
          </a:xfrm>
          <a:prstGeom prst="rect">
            <a:avLst/>
          </a:prstGeom>
          <a:noFill/>
          <a:ln/>
        </p:spPr>
        <p:txBody>
          <a:bodyPr wrap="square" lIns="0" tIns="0" rIns="0" bIns="0" rtlCol="0" anchor="ctr"/>
          <a:lstStyle/>
          <a:p>
            <a:pPr indent="0" marL="0">
              <a:buNone/>
            </a:pPr>
            <a:r>
              <a:rPr lang="en-US" sz="1000" b="1" spc="400" kern="0" dirty="0">
                <a:solidFill>
                  <a:srgbClr val="F4A261"/>
                </a:solidFill>
                <a:latin typeface="Calibri" pitchFamily="34" charset="0"/>
                <a:ea typeface="Calibri" pitchFamily="34" charset="-122"/>
                <a:cs typeface="Calibri" pitchFamily="34" charset="-120"/>
              </a:rPr>
              <a:t>SPEC</a:t>
            </a:r>
            <a:endParaRPr lang="en-US" sz="1000" dirty="0"/>
          </a:p>
        </p:txBody>
      </p:sp>
      <p:sp>
        <p:nvSpPr>
          <p:cNvPr id="7" name="Text 5"/>
          <p:cNvSpPr/>
          <p:nvPr/>
        </p:nvSpPr>
        <p:spPr>
          <a:xfrm>
            <a:off x="7772400" y="2011680"/>
            <a:ext cx="3657600" cy="228600"/>
          </a:xfrm>
          <a:prstGeom prst="rect">
            <a:avLst/>
          </a:prstGeom>
          <a:noFill/>
          <a:ln/>
        </p:spPr>
        <p:txBody>
          <a:bodyPr wrap="square" lIns="0" tIns="0" rIns="0" bIns="0" rtlCol="0" anchor="ctr"/>
          <a:lstStyle/>
          <a:p>
            <a:pPr indent="0" marL="0">
              <a:buNone/>
            </a:pPr>
            <a:r>
              <a:rPr lang="en-US" sz="900" b="1" spc="200" kern="0" dirty="0">
                <a:solidFill>
                  <a:srgbClr val="F4A261"/>
                </a:solidFill>
                <a:latin typeface="Calibri" pitchFamily="34" charset="0"/>
                <a:ea typeface="Calibri" pitchFamily="34" charset="-122"/>
                <a:cs typeface="Calibri" pitchFamily="34" charset="-120"/>
              </a:rPr>
              <a:t>Budget</a:t>
            </a:r>
            <a:endParaRPr lang="en-US" sz="900" dirty="0"/>
          </a:p>
        </p:txBody>
      </p:sp>
      <p:sp>
        <p:nvSpPr>
          <p:cNvPr id="8" name="Text 6"/>
          <p:cNvSpPr/>
          <p:nvPr/>
        </p:nvSpPr>
        <p:spPr>
          <a:xfrm>
            <a:off x="7772400" y="2240280"/>
            <a:ext cx="3657600" cy="411480"/>
          </a:xfrm>
          <a:prstGeom prst="rect">
            <a:avLst/>
          </a:prstGeom>
          <a:noFill/>
          <a:ln/>
        </p:spPr>
        <p:txBody>
          <a:bodyPr wrap="square" lIns="0" tIns="0" rIns="0" bIns="0" rtlCol="0" anchor="t"/>
          <a:lstStyle/>
          <a:p>
            <a:pPr indent="0" marL="0">
              <a:buNone/>
            </a:pPr>
            <a:r>
              <a:rPr lang="en-US" sz="1100" dirty="0">
                <a:solidFill>
                  <a:srgbClr val="FFFFFF"/>
                </a:solidFill>
                <a:latin typeface="Calibri Light" pitchFamily="34" charset="0"/>
                <a:ea typeface="Calibri Light" pitchFamily="34" charset="-122"/>
                <a:cs typeface="Calibri Light" pitchFamily="34" charset="-120"/>
              </a:rPr>
              <a:t>15% · €150/day, capped</a:t>
            </a:r>
            <a:endParaRPr lang="en-US" sz="1100" dirty="0"/>
          </a:p>
        </p:txBody>
      </p:sp>
      <p:sp>
        <p:nvSpPr>
          <p:cNvPr id="9" name="Text 7"/>
          <p:cNvSpPr/>
          <p:nvPr/>
        </p:nvSpPr>
        <p:spPr>
          <a:xfrm>
            <a:off x="7772400" y="2697480"/>
            <a:ext cx="3657600" cy="228600"/>
          </a:xfrm>
          <a:prstGeom prst="rect">
            <a:avLst/>
          </a:prstGeom>
          <a:noFill/>
          <a:ln/>
        </p:spPr>
        <p:txBody>
          <a:bodyPr wrap="square" lIns="0" tIns="0" rIns="0" bIns="0" rtlCol="0" anchor="ctr"/>
          <a:lstStyle/>
          <a:p>
            <a:pPr indent="0" marL="0">
              <a:buNone/>
            </a:pPr>
            <a:r>
              <a:rPr lang="en-US" sz="900" b="1" spc="200" kern="0" dirty="0">
                <a:solidFill>
                  <a:srgbClr val="F4A261"/>
                </a:solidFill>
                <a:latin typeface="Calibri" pitchFamily="34" charset="0"/>
                <a:ea typeface="Calibri" pitchFamily="34" charset="-122"/>
                <a:cs typeface="Calibri" pitchFamily="34" charset="-120"/>
              </a:rPr>
              <a:t>Type</a:t>
            </a:r>
            <a:endParaRPr lang="en-US" sz="900" dirty="0"/>
          </a:p>
        </p:txBody>
      </p:sp>
      <p:sp>
        <p:nvSpPr>
          <p:cNvPr id="10" name="Text 8"/>
          <p:cNvSpPr/>
          <p:nvPr/>
        </p:nvSpPr>
        <p:spPr>
          <a:xfrm>
            <a:off x="7772400" y="2926080"/>
            <a:ext cx="3657600" cy="411480"/>
          </a:xfrm>
          <a:prstGeom prst="rect">
            <a:avLst/>
          </a:prstGeom>
          <a:noFill/>
          <a:ln/>
        </p:spPr>
        <p:txBody>
          <a:bodyPr wrap="square" lIns="0" tIns="0" rIns="0" bIns="0" rtlCol="0" anchor="t"/>
          <a:lstStyle/>
          <a:p>
            <a:pPr indent="0" marL="0">
              <a:buNone/>
            </a:pPr>
            <a:r>
              <a:rPr lang="en-US" sz="1100" dirty="0">
                <a:solidFill>
                  <a:srgbClr val="FFFFFF"/>
                </a:solidFill>
                <a:latin typeface="Calibri Light" pitchFamily="34" charset="0"/>
                <a:ea typeface="Calibri Light" pitchFamily="34" charset="-122"/>
                <a:cs typeface="Calibri Light" pitchFamily="34" charset="-120"/>
              </a:rPr>
              <a:t>Dynamic Search Ads — no manual keywords</a:t>
            </a:r>
            <a:endParaRPr lang="en-US" sz="1100" dirty="0"/>
          </a:p>
        </p:txBody>
      </p:sp>
      <p:sp>
        <p:nvSpPr>
          <p:cNvPr id="11" name="Text 9"/>
          <p:cNvSpPr/>
          <p:nvPr/>
        </p:nvSpPr>
        <p:spPr>
          <a:xfrm>
            <a:off x="7772400" y="3383280"/>
            <a:ext cx="3657600" cy="228600"/>
          </a:xfrm>
          <a:prstGeom prst="rect">
            <a:avLst/>
          </a:prstGeom>
          <a:noFill/>
          <a:ln/>
        </p:spPr>
        <p:txBody>
          <a:bodyPr wrap="square" lIns="0" tIns="0" rIns="0" bIns="0" rtlCol="0" anchor="ctr"/>
          <a:lstStyle/>
          <a:p>
            <a:pPr indent="0" marL="0">
              <a:buNone/>
            </a:pPr>
            <a:r>
              <a:rPr lang="en-US" sz="900" b="1" spc="200" kern="0" dirty="0">
                <a:solidFill>
                  <a:srgbClr val="F4A261"/>
                </a:solidFill>
                <a:latin typeface="Calibri" pitchFamily="34" charset="0"/>
                <a:ea typeface="Calibri" pitchFamily="34" charset="-122"/>
                <a:cs typeface="Calibri" pitchFamily="34" charset="-120"/>
              </a:rPr>
              <a:t>Targets</a:t>
            </a:r>
            <a:endParaRPr lang="en-US" sz="900" dirty="0"/>
          </a:p>
        </p:txBody>
      </p:sp>
      <p:sp>
        <p:nvSpPr>
          <p:cNvPr id="12" name="Text 10"/>
          <p:cNvSpPr/>
          <p:nvPr/>
        </p:nvSpPr>
        <p:spPr>
          <a:xfrm>
            <a:off x="7772400" y="3611880"/>
            <a:ext cx="3657600" cy="777240"/>
          </a:xfrm>
          <a:prstGeom prst="rect">
            <a:avLst/>
          </a:prstGeom>
          <a:noFill/>
          <a:ln/>
        </p:spPr>
        <p:txBody>
          <a:bodyPr wrap="square" lIns="0" tIns="0" rIns="0" bIns="0" rtlCol="0" anchor="t"/>
          <a:lstStyle/>
          <a:p>
            <a:pPr indent="0" marL="0">
              <a:buNone/>
            </a:pPr>
            <a:r>
              <a:rPr lang="en-US" sz="1100" dirty="0">
                <a:solidFill>
                  <a:srgbClr val="FFFFFF"/>
                </a:solidFill>
                <a:latin typeface="Calibri Light" pitchFamily="34" charset="0"/>
                <a:ea typeface="Calibri Light" pitchFamily="34" charset="-122"/>
                <a:cs typeface="Calibri Light" pitchFamily="34" charset="-120"/>
              </a:rPr>
              <a:t>/no/ homepage</a:t>
            </a:r>
            <a:endParaRPr lang="en-US" sz="1100" dirty="0"/>
          </a:p>
          <a:p>
            <a:pPr indent="0" marL="0">
              <a:buNone/>
            </a:pPr>
            <a:r>
              <a:rPr lang="en-US" sz="1100" dirty="0">
                <a:solidFill>
                  <a:srgbClr val="FFFFFF"/>
                </a:solidFill>
                <a:latin typeface="Calibri Light" pitchFamily="34" charset="0"/>
                <a:ea typeface="Calibri Light" pitchFamily="34" charset="-122"/>
                <a:cs typeface="Calibri Light" pitchFamily="34" charset="-120"/>
              </a:rPr>
              <a:t>/no/dental-bright PDP</a:t>
            </a:r>
            <a:endParaRPr lang="en-US" sz="1100" dirty="0"/>
          </a:p>
          <a:p>
            <a:pPr indent="0" marL="0">
              <a:buNone/>
            </a:pPr>
            <a:r>
              <a:rPr lang="en-US" sz="1100" dirty="0">
                <a:solidFill>
                  <a:srgbClr val="FFFFFF"/>
                </a:solidFill>
                <a:latin typeface="Calibri Light" pitchFamily="34" charset="0"/>
                <a:ea typeface="Calibri Light" pitchFamily="34" charset="-122"/>
                <a:cs typeface="Calibri Light" pitchFamily="34" charset="-120"/>
              </a:rPr>
              <a:t>/no/blog/dental-care</a:t>
            </a:r>
            <a:endParaRPr lang="en-US" sz="1100" dirty="0"/>
          </a:p>
        </p:txBody>
      </p:sp>
      <p:sp>
        <p:nvSpPr>
          <p:cNvPr id="13" name="Text 11"/>
          <p:cNvSpPr/>
          <p:nvPr/>
        </p:nvSpPr>
        <p:spPr>
          <a:xfrm>
            <a:off x="7772400" y="4434840"/>
            <a:ext cx="3657600" cy="228600"/>
          </a:xfrm>
          <a:prstGeom prst="rect">
            <a:avLst/>
          </a:prstGeom>
          <a:noFill/>
          <a:ln/>
        </p:spPr>
        <p:txBody>
          <a:bodyPr wrap="square" lIns="0" tIns="0" rIns="0" bIns="0" rtlCol="0" anchor="ctr"/>
          <a:lstStyle/>
          <a:p>
            <a:pPr indent="0" marL="0">
              <a:buNone/>
            </a:pPr>
            <a:r>
              <a:rPr lang="en-US" sz="900" b="1" spc="200" kern="0" dirty="0">
                <a:solidFill>
                  <a:srgbClr val="F4A261"/>
                </a:solidFill>
                <a:latin typeface="Calibri" pitchFamily="34" charset="0"/>
                <a:ea typeface="Calibri" pitchFamily="34" charset="-122"/>
                <a:cs typeface="Calibri" pitchFamily="34" charset="-120"/>
              </a:rPr>
              <a:t>Account-level negatives</a:t>
            </a:r>
            <a:endParaRPr lang="en-US" sz="900" dirty="0"/>
          </a:p>
        </p:txBody>
      </p:sp>
      <p:sp>
        <p:nvSpPr>
          <p:cNvPr id="14" name="Text 12"/>
          <p:cNvSpPr/>
          <p:nvPr/>
        </p:nvSpPr>
        <p:spPr>
          <a:xfrm>
            <a:off x="7772400" y="4663440"/>
            <a:ext cx="3657600" cy="411480"/>
          </a:xfrm>
          <a:prstGeom prst="rect">
            <a:avLst/>
          </a:prstGeom>
          <a:noFill/>
          <a:ln/>
        </p:spPr>
        <p:txBody>
          <a:bodyPr wrap="square" lIns="0" tIns="0" rIns="0" bIns="0" rtlCol="0" anchor="t"/>
          <a:lstStyle/>
          <a:p>
            <a:pPr indent="0" marL="0">
              <a:buNone/>
            </a:pPr>
            <a:r>
              <a:rPr lang="en-US" sz="1100" dirty="0">
                <a:solidFill>
                  <a:srgbClr val="FFFFFF"/>
                </a:solidFill>
                <a:latin typeface="Calibri Light" pitchFamily="34" charset="0"/>
                <a:ea typeface="Calibri Light" pitchFamily="34" charset="-122"/>
                <a:cs typeface="Calibri Light" pitchFamily="34" charset="-120"/>
              </a:rPr>
              <a:t>gratis, diy, katt, hest, veterinær, valp trening  (+ 8 more)</a:t>
            </a:r>
            <a:endParaRPr lang="en-US" sz="1100" dirty="0"/>
          </a:p>
        </p:txBody>
      </p:sp>
      <p:sp>
        <p:nvSpPr>
          <p:cNvPr id="15" name="Text 13"/>
          <p:cNvSpPr/>
          <p:nvPr/>
        </p:nvSpPr>
        <p:spPr>
          <a:xfrm>
            <a:off x="7772400" y="5120640"/>
            <a:ext cx="3657600" cy="228600"/>
          </a:xfrm>
          <a:prstGeom prst="rect">
            <a:avLst/>
          </a:prstGeom>
          <a:noFill/>
          <a:ln/>
        </p:spPr>
        <p:txBody>
          <a:bodyPr wrap="square" lIns="0" tIns="0" rIns="0" bIns="0" rtlCol="0" anchor="ctr"/>
          <a:lstStyle/>
          <a:p>
            <a:pPr indent="0" marL="0">
              <a:buNone/>
            </a:pPr>
            <a:r>
              <a:rPr lang="en-US" sz="900" b="1" spc="200" kern="0" dirty="0">
                <a:solidFill>
                  <a:srgbClr val="F4A261"/>
                </a:solidFill>
                <a:latin typeface="Calibri" pitchFamily="34" charset="0"/>
                <a:ea typeface="Calibri" pitchFamily="34" charset="-122"/>
                <a:cs typeface="Calibri" pitchFamily="34" charset="-120"/>
              </a:rPr>
              <a:t>Ad copy</a:t>
            </a:r>
            <a:endParaRPr lang="en-US" sz="900" dirty="0"/>
          </a:p>
        </p:txBody>
      </p:sp>
      <p:sp>
        <p:nvSpPr>
          <p:cNvPr id="16" name="Text 14"/>
          <p:cNvSpPr/>
          <p:nvPr/>
        </p:nvSpPr>
        <p:spPr>
          <a:xfrm>
            <a:off x="7772400" y="5349240"/>
            <a:ext cx="3657600" cy="411480"/>
          </a:xfrm>
          <a:prstGeom prst="rect">
            <a:avLst/>
          </a:prstGeom>
          <a:noFill/>
          <a:ln/>
        </p:spPr>
        <p:txBody>
          <a:bodyPr wrap="square" lIns="0" tIns="0" rIns="0" bIns="0" rtlCol="0" anchor="t"/>
          <a:lstStyle/>
          <a:p>
            <a:pPr indent="0" marL="0">
              <a:buNone/>
            </a:pPr>
            <a:r>
              <a:rPr lang="en-US" sz="1100" dirty="0">
                <a:solidFill>
                  <a:srgbClr val="FFFFFF"/>
                </a:solidFill>
                <a:latin typeface="Calibri Light" pitchFamily="34" charset="0"/>
                <a:ea typeface="Calibri Light" pitchFamily="34" charset="-122"/>
                <a:cs typeface="Calibri Light" pitchFamily="34" charset="-120"/>
              </a:rPr>
              <a:t>Google auto-writes headline from page content. Description: "Naturlig tannpulver. 4.6/5."</a:t>
            </a:r>
            <a:endParaRPr lang="en-US" sz="1100" dirty="0"/>
          </a:p>
        </p:txBody>
      </p:sp>
      <p:sp>
        <p:nvSpPr>
          <p:cNvPr id="17" name="Text 15"/>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18" name="Text 16"/>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972800" cy="502920"/>
          </a:xfrm>
          <a:prstGeom prst="rect">
            <a:avLst/>
          </a:prstGeom>
          <a:noFill/>
          <a:ln/>
        </p:spPr>
        <p:txBody>
          <a:bodyPr wrap="square" lIns="0" tIns="0" rIns="0" bIns="0" rtlCol="0" anchor="ctr"/>
          <a:lstStyle/>
          <a:p>
            <a:pPr indent="0" marL="0">
              <a:buNone/>
            </a:pPr>
            <a:r>
              <a:rPr lang="en-US" sz="3800" b="1" dirty="0">
                <a:solidFill>
                  <a:srgbClr val="1A2E23"/>
                </a:solidFill>
                <a:latin typeface="Georgia" pitchFamily="34" charset="0"/>
                <a:ea typeface="Georgia" pitchFamily="34" charset="-122"/>
                <a:cs typeface="Georgia" pitchFamily="34" charset="-120"/>
              </a:rPr>
              <a:t>4-week ramp to €1k/day</a:t>
            </a:r>
            <a:endParaRPr lang="en-US" sz="3800" dirty="0"/>
          </a:p>
        </p:txBody>
      </p:sp>
      <p:sp>
        <p:nvSpPr>
          <p:cNvPr id="3" name="Text 1"/>
          <p:cNvSpPr/>
          <p:nvPr/>
        </p:nvSpPr>
        <p:spPr>
          <a:xfrm>
            <a:off x="457200" y="868680"/>
            <a:ext cx="11247120" cy="365760"/>
          </a:xfrm>
          <a:prstGeom prst="rect">
            <a:avLst/>
          </a:prstGeom>
          <a:noFill/>
          <a:ln/>
        </p:spPr>
        <p:txBody>
          <a:bodyPr wrap="square" lIns="0" tIns="0" rIns="0" bIns="0" rtlCol="0" anchor="ctr"/>
          <a:lstStyle/>
          <a:p>
            <a:pPr indent="0" marL="0">
              <a:buNone/>
            </a:pPr>
            <a:r>
              <a:rPr lang="en-US" sz="1600" i="1" dirty="0">
                <a:solidFill>
                  <a:srgbClr val="6C757D"/>
                </a:solidFill>
                <a:latin typeface="Calibri Light" pitchFamily="34" charset="0"/>
                <a:ea typeface="Calibri Light" pitchFamily="34" charset="-122"/>
                <a:cs typeface="Calibri Light" pitchFamily="34" charset="-120"/>
              </a:rPr>
              <a:t>€14,350 spend, €24,913 revenue, blended 1.74×. The dip in Week 2 is the plan, not a risk.</a:t>
            </a:r>
            <a:endParaRPr lang="en-US" sz="1600" dirty="0"/>
          </a:p>
        </p:txBody>
      </p:sp>
      <p:graphicFrame>
        <p:nvGraphicFramePr>
          <p:cNvPr id="4" name="Chart 0" descr=""/>
          <p:cNvGraphicFramePr/>
          <p:nvPr/>
        </p:nvGraphicFramePr>
        <p:xfrm>
          <a:off x="457200" y="141732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89520" y="1417320"/>
            <a:ext cx="4114800" cy="274320"/>
          </a:xfrm>
          <a:prstGeom prst="rect">
            <a:avLst/>
          </a:prstGeom>
          <a:noFill/>
          <a:ln/>
        </p:spPr>
        <p:txBody>
          <a:bodyPr wrap="square" lIns="0" tIns="0" rIns="0" bIns="0" rtlCol="0" anchor="ctr"/>
          <a:lstStyle/>
          <a:p>
            <a:pPr indent="0" marL="0">
              <a:buNone/>
            </a:pPr>
            <a:r>
              <a:rPr lang="en-US" sz="1200" b="1" spc="200" kern="0" dirty="0">
                <a:solidFill>
                  <a:srgbClr val="1A2E23"/>
                </a:solidFill>
                <a:latin typeface="Calibri" pitchFamily="34" charset="0"/>
                <a:ea typeface="Calibri" pitchFamily="34" charset="-122"/>
                <a:cs typeface="Calibri" pitchFamily="34" charset="-120"/>
              </a:rPr>
              <a:t>Week-by-week</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89520" y="1737360"/>
          <a:ext cx="4114800" cy="914400"/>
        </p:xfrm>
        <a:graphic>
          <a:graphicData uri="http://schemas.openxmlformats.org/drawingml/2006/table">
            <a:tbl>
              <a:tblPr/>
              <a:tblGrid>
                <a:gridCol w="731520"/>
                <a:gridCol w="1188720"/>
                <a:gridCol w="1188720"/>
                <a:gridCol w="100584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Week</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Rev.</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ROAS</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2D6A4F"/>
                    </a:solidFill>
                  </a:tcPr>
                </a:tc>
              </a:tr>
              <a:tr h="329184">
                <a:tc>
                  <a:txBody>
                    <a:bodyPr/>
                    <a:lstStyle/>
                    <a:p>
                      <a:pPr algn="l" indent="0" marL="0">
                        <a:buNone/>
                      </a:pPr>
                      <a:r>
                        <a:rPr lang="en-US" sz="1000" dirty="0">
                          <a:solidFill>
                            <a:srgbClr val="1A2E23"/>
                          </a:solidFill>
                          <a:latin typeface="Calibri" pitchFamily="34" charset="0"/>
                          <a:ea typeface="Calibri" pitchFamily="34" charset="-122"/>
                          <a:cs typeface="Calibri" pitchFamily="34" charset="-120"/>
                        </a:rPr>
                        <a:t>W1</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€1,050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€1,575</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2D6A4F"/>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29184">
                <a:tc>
                  <a:txBody>
                    <a:bodyPr/>
                    <a:lstStyle/>
                    <a:p>
                      <a:pPr algn="l" indent="0" marL="0">
                        <a:buNone/>
                      </a:pPr>
                      <a:r>
                        <a:rPr lang="en-US" sz="1000" i="1" dirty="0">
                          <a:solidFill>
                            <a:srgbClr val="E76F51"/>
                          </a:solidFill>
                          <a:latin typeface="Calibri" pitchFamily="34" charset="0"/>
                          <a:ea typeface="Calibri" pitchFamily="34" charset="-122"/>
                          <a:cs typeface="Calibri" pitchFamily="34" charset="-120"/>
                        </a:rPr>
                        <a:t>W2</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€2,100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€2,982</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E76F51"/>
                          </a:solidFill>
                          <a:latin typeface="Calibri" pitchFamily="34" charset="0"/>
                          <a:ea typeface="Calibri" pitchFamily="34" charset="-122"/>
                          <a:cs typeface="Calibri" pitchFamily="34" charset="-120"/>
                        </a:rPr>
                        <a:t>1.42×</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29184">
                <a:tc>
                  <a:txBody>
                    <a:bodyPr/>
                    <a:lstStyle/>
                    <a:p>
                      <a:pPr algn="l" indent="0" marL="0">
                        <a:buNone/>
                      </a:pPr>
                      <a:r>
                        <a:rPr lang="en-US" sz="1000" dirty="0">
                          <a:solidFill>
                            <a:srgbClr val="1A2E23"/>
                          </a:solidFill>
                          <a:latin typeface="Calibri" pitchFamily="34" charset="0"/>
                          <a:ea typeface="Calibri" pitchFamily="34" charset="-122"/>
                          <a:cs typeface="Calibri" pitchFamily="34" charset="-120"/>
                        </a:rPr>
                        <a:t>W3</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€4,200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dirty="0">
                          <a:solidFill>
                            <a:srgbClr val="1A2E23"/>
                          </a:solidFill>
                          <a:latin typeface="Calibri" pitchFamily="34" charset="0"/>
                          <a:ea typeface="Calibri" pitchFamily="34" charset="-122"/>
                          <a:cs typeface="Calibri" pitchFamily="34" charset="-120"/>
                        </a:rPr>
                        <a:t>€7,266</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2D6A4F"/>
                          </a:solidFill>
                          <a:latin typeface="Calibri" pitchFamily="34" charset="0"/>
                          <a:ea typeface="Calibri" pitchFamily="34" charset="-122"/>
                          <a:cs typeface="Calibri" pitchFamily="34" charset="-120"/>
                        </a:rPr>
                        <a:t>1.73×</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29184">
                <a:tc>
                  <a:txBody>
                    <a:bodyPr/>
                    <a:lstStyle/>
                    <a:p>
                      <a:pPr algn="l" indent="0" marL="0">
                        <a:buNone/>
                      </a:pPr>
                      <a:r>
                        <a:rPr lang="en-US" sz="1000" b="1" dirty="0">
                          <a:solidFill>
                            <a:srgbClr val="1A2E23"/>
                          </a:solidFill>
                          <a:latin typeface="Calibri" pitchFamily="34" charset="0"/>
                          <a:ea typeface="Calibri" pitchFamily="34" charset="-122"/>
                          <a:cs typeface="Calibri" pitchFamily="34" charset="-120"/>
                        </a:rPr>
                        <a:t>W4</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1A2E23"/>
                          </a:solidFill>
                          <a:latin typeface="Calibri" pitchFamily="34" charset="0"/>
                          <a:ea typeface="Calibri" pitchFamily="34" charset="-122"/>
                          <a:cs typeface="Calibri" pitchFamily="34" charset="-120"/>
                        </a:rPr>
                        <a:t>€7,000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1A2E23"/>
                          </a:solidFill>
                          <a:latin typeface="Calibri" pitchFamily="34" charset="0"/>
                          <a:ea typeface="Calibri" pitchFamily="34" charset="-122"/>
                          <a:cs typeface="Calibri" pitchFamily="34" charset="-120"/>
                        </a:rPr>
                        <a:t>€13,090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c>
                  <a:txBody>
                    <a:bodyPr/>
                    <a:lstStyle/>
                    <a:p>
                      <a:pPr algn="r" indent="0" marL="0">
                        <a:buNone/>
                      </a:pPr>
                      <a:r>
                        <a:rPr lang="en-US" sz="1000" b="1" dirty="0">
                          <a:solidFill>
                            <a:srgbClr val="2D6A4F"/>
                          </a:solidFill>
                          <a:latin typeface="Calibri" pitchFamily="34" charset="0"/>
                          <a:ea typeface="Calibri" pitchFamily="34" charset="-122"/>
                          <a:cs typeface="Calibri" pitchFamily="34" charset="-120"/>
                        </a:rPr>
                        <a:t>1.87×</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tcPr>
                </a:tc>
              </a:tr>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1B4332"/>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€14,350</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1B4332"/>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€24,913</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1B4332"/>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1.74×</a:t>
                      </a:r>
                      <a:endParaRPr lang="en-US" sz="1000" dirty="0">
                        <a:latin typeface="Calibri" charset="0"/>
                        <a:ea typeface="Calibri" charset="0"/>
                        <a:cs typeface="Calibri" charset="0"/>
                      </a:endParaRPr>
                    </a:p>
                  </a:txBody>
                  <a:tcPr marL="91440" marR="91440" marT="45720" marB="45720">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1B4332"/>
                    </a:solidFill>
                  </a:tcPr>
                </a:tc>
              </a:tr>
            </a:tbl>
          </a:graphicData>
        </a:graphic>
      </p:graphicFrame>
      <p:sp>
        <p:nvSpPr>
          <p:cNvPr id="7" name="Shape 3"/>
          <p:cNvSpPr/>
          <p:nvPr/>
        </p:nvSpPr>
        <p:spPr>
          <a:xfrm>
            <a:off x="7589520" y="4160520"/>
            <a:ext cx="4114800" cy="1371600"/>
          </a:xfrm>
          <a:prstGeom prst="rect">
            <a:avLst/>
          </a:prstGeom>
          <a:solidFill>
            <a:srgbClr val="F8F9FA"/>
          </a:solidFill>
          <a:ln w="12700">
            <a:solidFill>
              <a:srgbClr val="E9ECEF"/>
            </a:solidFill>
            <a:prstDash val="solid"/>
          </a:ln>
        </p:spPr>
      </p:sp>
      <p:sp>
        <p:nvSpPr>
          <p:cNvPr id="8" name="Shape 4"/>
          <p:cNvSpPr/>
          <p:nvPr/>
        </p:nvSpPr>
        <p:spPr>
          <a:xfrm>
            <a:off x="7589520" y="4160520"/>
            <a:ext cx="54864" cy="1371600"/>
          </a:xfrm>
          <a:prstGeom prst="rect">
            <a:avLst/>
          </a:prstGeom>
          <a:solidFill>
            <a:srgbClr val="E76F51"/>
          </a:solidFill>
          <a:ln/>
        </p:spPr>
      </p:sp>
      <p:sp>
        <p:nvSpPr>
          <p:cNvPr id="9" name="Text 5"/>
          <p:cNvSpPr/>
          <p:nvPr/>
        </p:nvSpPr>
        <p:spPr>
          <a:xfrm>
            <a:off x="7726680" y="4251960"/>
            <a:ext cx="3840480" cy="274320"/>
          </a:xfrm>
          <a:prstGeom prst="rect">
            <a:avLst/>
          </a:prstGeom>
          <a:noFill/>
          <a:ln/>
        </p:spPr>
        <p:txBody>
          <a:bodyPr wrap="square" lIns="0" tIns="0" rIns="0" bIns="0" rtlCol="0" anchor="ctr"/>
          <a:lstStyle/>
          <a:p>
            <a:pPr indent="0" marL="0">
              <a:buNone/>
            </a:pPr>
            <a:r>
              <a:rPr lang="en-US" sz="1000" b="1" spc="300" kern="0" dirty="0">
                <a:solidFill>
                  <a:srgbClr val="E76F51"/>
                </a:solidFill>
                <a:latin typeface="Calibri" pitchFamily="34" charset="0"/>
                <a:ea typeface="Calibri" pitchFamily="34" charset="-122"/>
                <a:cs typeface="Calibri" pitchFamily="34" charset="-120"/>
              </a:rPr>
              <a:t>WHY W2 DIPS</a:t>
            </a:r>
            <a:endParaRPr lang="en-US" sz="1000" dirty="0"/>
          </a:p>
        </p:txBody>
      </p:sp>
      <p:sp>
        <p:nvSpPr>
          <p:cNvPr id="10" name="Text 6"/>
          <p:cNvSpPr/>
          <p:nvPr/>
        </p:nvSpPr>
        <p:spPr>
          <a:xfrm>
            <a:off x="7726680" y="4526280"/>
            <a:ext cx="3840480" cy="960120"/>
          </a:xfrm>
          <a:prstGeom prst="rect">
            <a:avLst/>
          </a:prstGeom>
          <a:noFill/>
          <a:ln/>
        </p:spPr>
        <p:txBody>
          <a:bodyPr wrap="square" lIns="0" tIns="0" rIns="0" bIns="0" rtlCol="0" anchor="t"/>
          <a:lstStyle/>
          <a:p>
            <a:pPr indent="0" marL="0">
              <a:buNone/>
            </a:pPr>
            <a:r>
              <a:rPr lang="en-US" sz="1050" dirty="0">
                <a:solidFill>
                  <a:srgbClr val="1A2E23"/>
                </a:solidFill>
                <a:latin typeface="Calibri Light" pitchFamily="34" charset="0"/>
                <a:ea typeface="Calibri Light" pitchFamily="34" charset="-122"/>
                <a:cs typeface="Calibri Light" pitchFamily="34" charset="-120"/>
              </a:rPr>
              <a:t>W1 runs tight on the 12 highest-intent keywords. W2 we double spend and add long-tail variants to learn — mix shifts toward lower-CVR terms, so ROAS dips even as revenue grows. In W3 we cut what didn't work. Without the dip there's no signal.</a:t>
            </a:r>
            <a:endParaRPr lang="en-US" sz="1050" dirty="0"/>
          </a:p>
        </p:txBody>
      </p:sp>
      <p:sp>
        <p:nvSpPr>
          <p:cNvPr id="11" name="Shape 7"/>
          <p:cNvSpPr/>
          <p:nvPr/>
        </p:nvSpPr>
        <p:spPr>
          <a:xfrm>
            <a:off x="457200" y="5760720"/>
            <a:ext cx="11247120" cy="594360"/>
          </a:xfrm>
          <a:prstGeom prst="rect">
            <a:avLst/>
          </a:prstGeom>
          <a:solidFill>
            <a:srgbClr val="1B4332"/>
          </a:solidFill>
          <a:ln/>
        </p:spPr>
      </p:sp>
      <p:sp>
        <p:nvSpPr>
          <p:cNvPr id="12" name="Text 8"/>
          <p:cNvSpPr/>
          <p:nvPr/>
        </p:nvSpPr>
        <p:spPr>
          <a:xfrm>
            <a:off x="685800" y="5806440"/>
            <a:ext cx="10972800" cy="502920"/>
          </a:xfrm>
          <a:prstGeom prst="rect">
            <a:avLst/>
          </a:prstGeom>
          <a:noFill/>
          <a:ln/>
        </p:spPr>
        <p:txBody>
          <a:bodyPr wrap="square" lIns="0" tIns="0" rIns="0" bIns="0" rtlCol="0" anchor="ctr"/>
          <a:lstStyle/>
          <a:p>
            <a:pPr indent="0" marL="0">
              <a:buNone/>
            </a:pPr>
            <a:r>
              <a:rPr lang="en-US" sz="1300" b="1" dirty="0">
                <a:solidFill>
                  <a:srgbClr val="F4A261"/>
                </a:solidFill>
                <a:latin typeface="Calibri Light" pitchFamily="34" charset="0"/>
                <a:ea typeface="Calibri Light" pitchFamily="34" charset="-122"/>
                <a:cs typeface="Calibri Light" pitchFamily="34" charset="-120"/>
              </a:rPr>
              <a:t>Break-even sits at CVR 3.5%.  </a:t>
            </a:r>
            <a:pPr indent="0" marL="0">
              <a:buNone/>
            </a:pPr>
            <a:r>
              <a:rPr lang="en-US" sz="1200" dirty="0">
                <a:solidFill>
                  <a:srgbClr val="FFFFFF"/>
                </a:solidFill>
                <a:latin typeface="Calibri Light" pitchFamily="34" charset="0"/>
                <a:ea typeface="Calibri Light" pitchFamily="34" charset="-122"/>
                <a:cs typeface="Calibri Light" pitchFamily="34" charset="-120"/>
              </a:rPr>
              <a:t>Baseline assumes 4.2% (a 25% haircut vs NL). Even if NO CVR lands 40% below NL we still clear the 1.5× target — which is why the plan starts at €150/day, not €1,000.</a:t>
            </a:r>
            <a:endParaRPr lang="en-US" sz="1300" dirty="0"/>
          </a:p>
        </p:txBody>
      </p:sp>
      <p:sp>
        <p:nvSpPr>
          <p:cNvPr id="13" name="Text 9"/>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14" name="Text 10"/>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3400" b="1" dirty="0">
                <a:solidFill>
                  <a:srgbClr val="1A2E23"/>
                </a:solidFill>
                <a:latin typeface="Georgia" pitchFamily="34" charset="0"/>
                <a:ea typeface="Georgia" pitchFamily="34" charset="-122"/>
                <a:cs typeface="Georgia" pitchFamily="34" charset="-120"/>
              </a:rPr>
              <a:t>What could kill this, and what I'd build first</a:t>
            </a:r>
            <a:endParaRPr lang="en-US" sz="3400" dirty="0"/>
          </a:p>
        </p:txBody>
      </p:sp>
      <p:sp>
        <p:nvSpPr>
          <p:cNvPr id="3" name="Text 1"/>
          <p:cNvSpPr/>
          <p:nvPr/>
        </p:nvSpPr>
        <p:spPr>
          <a:xfrm>
            <a:off x="457200" y="868680"/>
            <a:ext cx="11247120" cy="365760"/>
          </a:xfrm>
          <a:prstGeom prst="rect">
            <a:avLst/>
          </a:prstGeom>
          <a:noFill/>
          <a:ln/>
        </p:spPr>
        <p:txBody>
          <a:bodyPr wrap="square" lIns="0" tIns="0" rIns="0" bIns="0" rtlCol="0" anchor="ctr"/>
          <a:lstStyle/>
          <a:p>
            <a:pPr indent="0" marL="0">
              <a:buNone/>
            </a:pPr>
            <a:r>
              <a:rPr lang="en-US" sz="1500" i="1" dirty="0">
                <a:solidFill>
                  <a:srgbClr val="6C757D"/>
                </a:solidFill>
                <a:latin typeface="Calibri Light" pitchFamily="34" charset="0"/>
                <a:ea typeface="Calibri Light" pitchFamily="34" charset="-122"/>
                <a:cs typeface="Calibri Light" pitchFamily="34" charset="-120"/>
              </a:rPr>
              <a:t>Three risks I can name. One automation I'd commit to in Week 1. The rest waits until data earns it.</a:t>
            </a:r>
            <a:endParaRPr lang="en-US" sz="1500" dirty="0"/>
          </a:p>
        </p:txBody>
      </p:sp>
      <p:pic>
        <p:nvPicPr>
          <p:cNvPr id="4" name="Image 0" descr="preencoded.png">    </p:cNvPr>
          <p:cNvPicPr>
            <a:picLocks noChangeAspect="1"/>
          </p:cNvPicPr>
          <p:nvPr/>
        </p:nvPicPr>
        <p:blipFill>
          <a:blip r:embed="rId1"/>
          <a:stretch>
            <a:fillRect/>
          </a:stretch>
        </p:blipFill>
        <p:spPr>
          <a:xfrm>
            <a:off x="457200" y="1508760"/>
            <a:ext cx="365760" cy="365760"/>
          </a:xfrm>
          <a:prstGeom prst="rect">
            <a:avLst/>
          </a:prstGeom>
        </p:spPr>
      </p:pic>
      <p:sp>
        <p:nvSpPr>
          <p:cNvPr id="5" name="Text 2"/>
          <p:cNvSpPr/>
          <p:nvPr/>
        </p:nvSpPr>
        <p:spPr>
          <a:xfrm>
            <a:off x="914400" y="1554480"/>
            <a:ext cx="4572000" cy="36576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Three things that break it</a:t>
            </a:r>
            <a:endParaRPr lang="en-US" sz="1800" dirty="0"/>
          </a:p>
        </p:txBody>
      </p:sp>
      <p:sp>
        <p:nvSpPr>
          <p:cNvPr id="6" name="Shape 3"/>
          <p:cNvSpPr/>
          <p:nvPr/>
        </p:nvSpPr>
        <p:spPr>
          <a:xfrm>
            <a:off x="457200" y="2057400"/>
            <a:ext cx="54864" cy="1234440"/>
          </a:xfrm>
          <a:prstGeom prst="rect">
            <a:avLst/>
          </a:prstGeom>
          <a:solidFill>
            <a:srgbClr val="E76F51"/>
          </a:solidFill>
          <a:ln/>
        </p:spPr>
      </p:sp>
      <p:sp>
        <p:nvSpPr>
          <p:cNvPr id="7" name="Text 4"/>
          <p:cNvSpPr/>
          <p:nvPr/>
        </p:nvSpPr>
        <p:spPr>
          <a:xfrm>
            <a:off x="640080" y="2057400"/>
            <a:ext cx="5029200" cy="36576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CVR drops below 3.5%</a:t>
            </a:r>
            <a:endParaRPr lang="en-US" sz="1400" dirty="0"/>
          </a:p>
        </p:txBody>
      </p:sp>
      <p:sp>
        <p:nvSpPr>
          <p:cNvPr id="8" name="Text 5"/>
          <p:cNvSpPr/>
          <p:nvPr/>
        </p:nvSpPr>
        <p:spPr>
          <a:xfrm>
            <a:off x="640080" y="2423160"/>
            <a:ext cx="5029200" cy="868680"/>
          </a:xfrm>
          <a:prstGeom prst="rect">
            <a:avLst/>
          </a:prstGeom>
          <a:noFill/>
          <a:ln/>
        </p:spPr>
        <p:txBody>
          <a:bodyPr wrap="square" lIns="0" tIns="0" rIns="0" bIns="0" rtlCol="0" anchor="t"/>
          <a:lstStyle/>
          <a:p>
            <a:pPr indent="0" marL="0">
              <a:buNone/>
            </a:pPr>
            <a:r>
              <a:rPr lang="en-US" sz="1150" dirty="0">
                <a:solidFill>
                  <a:srgbClr val="1A2E23"/>
                </a:solidFill>
                <a:latin typeface="Calibri Light" pitchFamily="34" charset="0"/>
                <a:ea typeface="Calibri Light" pitchFamily="34" charset="-122"/>
                <a:cs typeface="Calibri Light" pitchFamily="34" charset="-120"/>
              </a:rPr>
              <a:t>Landing page isn't localized well enough, or NO users don't trust an unknown brand. Fix: Trustpilot widget above the fold Day 1, first-purchase 20% off in checkout.</a:t>
            </a:r>
            <a:endParaRPr lang="en-US" sz="1150" dirty="0"/>
          </a:p>
        </p:txBody>
      </p:sp>
      <p:sp>
        <p:nvSpPr>
          <p:cNvPr id="9" name="Shape 6"/>
          <p:cNvSpPr/>
          <p:nvPr/>
        </p:nvSpPr>
        <p:spPr>
          <a:xfrm>
            <a:off x="457200" y="3474720"/>
            <a:ext cx="54864" cy="1234440"/>
          </a:xfrm>
          <a:prstGeom prst="rect">
            <a:avLst/>
          </a:prstGeom>
          <a:solidFill>
            <a:srgbClr val="E76F51"/>
          </a:solidFill>
          <a:ln/>
        </p:spPr>
      </p:sp>
      <p:sp>
        <p:nvSpPr>
          <p:cNvPr id="10" name="Text 7"/>
          <p:cNvSpPr/>
          <p:nvPr/>
        </p:nvSpPr>
        <p:spPr>
          <a:xfrm>
            <a:off x="640080" y="3474720"/>
            <a:ext cx="5029200" cy="36576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CPC inflates above €1.80</a:t>
            </a:r>
            <a:endParaRPr lang="en-US" sz="1400" dirty="0"/>
          </a:p>
        </p:txBody>
      </p:sp>
      <p:sp>
        <p:nvSpPr>
          <p:cNvPr id="11" name="Text 8"/>
          <p:cNvSpPr/>
          <p:nvPr/>
        </p:nvSpPr>
        <p:spPr>
          <a:xfrm>
            <a:off x="640080" y="3840480"/>
            <a:ext cx="5029200" cy="868680"/>
          </a:xfrm>
          <a:prstGeom prst="rect">
            <a:avLst/>
          </a:prstGeom>
          <a:noFill/>
          <a:ln/>
        </p:spPr>
        <p:txBody>
          <a:bodyPr wrap="square" lIns="0" tIns="0" rIns="0" bIns="0" rtlCol="0" anchor="t"/>
          <a:lstStyle/>
          <a:p>
            <a:pPr indent="0" marL="0">
              <a:buNone/>
            </a:pPr>
            <a:r>
              <a:rPr lang="en-US" sz="1150" dirty="0">
                <a:solidFill>
                  <a:srgbClr val="1A2E23"/>
                </a:solidFill>
                <a:latin typeface="Calibri Light" pitchFamily="34" charset="0"/>
                <a:ea typeface="Calibri Light" pitchFamily="34" charset="-122"/>
                <a:cs typeface="Calibri Light" pitchFamily="34" charset="-120"/>
              </a:rPr>
              <a:t>Nordic auction heats up, or broad match leaks budget. Fix: strict phrase match from Day 1, tROAS bidding from Day 7 once we have ≥15 conversions for the algo to learn on.</a:t>
            </a:r>
            <a:endParaRPr lang="en-US" sz="1150" dirty="0"/>
          </a:p>
        </p:txBody>
      </p:sp>
      <p:sp>
        <p:nvSpPr>
          <p:cNvPr id="12" name="Shape 9"/>
          <p:cNvSpPr/>
          <p:nvPr/>
        </p:nvSpPr>
        <p:spPr>
          <a:xfrm>
            <a:off x="457200" y="4892040"/>
            <a:ext cx="54864" cy="1234440"/>
          </a:xfrm>
          <a:prstGeom prst="rect">
            <a:avLst/>
          </a:prstGeom>
          <a:solidFill>
            <a:srgbClr val="E76F51"/>
          </a:solidFill>
          <a:ln/>
        </p:spPr>
      </p:sp>
      <p:sp>
        <p:nvSpPr>
          <p:cNvPr id="13" name="Text 10"/>
          <p:cNvSpPr/>
          <p:nvPr/>
        </p:nvSpPr>
        <p:spPr>
          <a:xfrm>
            <a:off x="640080" y="4892040"/>
            <a:ext cx="5029200" cy="365760"/>
          </a:xfrm>
          <a:prstGeom prst="rect">
            <a:avLst/>
          </a:prstGeom>
          <a:noFill/>
          <a:ln/>
        </p:spPr>
        <p:txBody>
          <a:bodyPr wrap="square" lIns="0" tIns="0" rIns="0" bIns="0" rtlCol="0" anchor="ctr"/>
          <a:lstStyle/>
          <a:p>
            <a:pPr indent="0" marL="0">
              <a:buNone/>
            </a:pPr>
            <a:r>
              <a:rPr lang="en-US" sz="1400" b="1" dirty="0">
                <a:solidFill>
                  <a:srgbClr val="1A2E23"/>
                </a:solidFill>
                <a:latin typeface="Calibri" pitchFamily="34" charset="0"/>
                <a:ea typeface="Calibri" pitchFamily="34" charset="-122"/>
                <a:cs typeface="Calibri" pitchFamily="34" charset="-120"/>
              </a:rPr>
              <a:t>NO search volume caps the plan at €600/day</a:t>
            </a:r>
            <a:endParaRPr lang="en-US" sz="1400" dirty="0"/>
          </a:p>
        </p:txBody>
      </p:sp>
      <p:sp>
        <p:nvSpPr>
          <p:cNvPr id="14" name="Text 11"/>
          <p:cNvSpPr/>
          <p:nvPr/>
        </p:nvSpPr>
        <p:spPr>
          <a:xfrm>
            <a:off x="640080" y="5257800"/>
            <a:ext cx="5029200" cy="868680"/>
          </a:xfrm>
          <a:prstGeom prst="rect">
            <a:avLst/>
          </a:prstGeom>
          <a:noFill/>
          <a:ln/>
        </p:spPr>
        <p:txBody>
          <a:bodyPr wrap="square" lIns="0" tIns="0" rIns="0" bIns="0" rtlCol="0" anchor="t"/>
          <a:lstStyle/>
          <a:p>
            <a:pPr indent="0" marL="0">
              <a:buNone/>
            </a:pPr>
            <a:r>
              <a:rPr lang="en-US" sz="1150" dirty="0">
                <a:solidFill>
                  <a:srgbClr val="1A2E23"/>
                </a:solidFill>
                <a:latin typeface="Calibri Light" pitchFamily="34" charset="0"/>
                <a:ea typeface="Calibri Light" pitchFamily="34" charset="-122"/>
                <a:cs typeface="Calibri Light" pitchFamily="34" charset="-120"/>
              </a:rPr>
              <a:t>Norway is 5.5M people. If demand is thinner than I modeled, we hit a ceiling. Fix: Sweden and Denmark next — same pipeline, similar dental-care habits, 3× the combined population.</a:t>
            </a:r>
            <a:endParaRPr lang="en-US" sz="1150" dirty="0"/>
          </a:p>
        </p:txBody>
      </p:sp>
      <p:pic>
        <p:nvPicPr>
          <p:cNvPr id="15" name="Image 1" descr="preencoded.png">    </p:cNvPr>
          <p:cNvPicPr>
            <a:picLocks noChangeAspect="1"/>
          </p:cNvPicPr>
          <p:nvPr/>
        </p:nvPicPr>
        <p:blipFill>
          <a:blip r:embed="rId2"/>
          <a:stretch>
            <a:fillRect/>
          </a:stretch>
        </p:blipFill>
        <p:spPr>
          <a:xfrm>
            <a:off x="6217920" y="1508760"/>
            <a:ext cx="365760" cy="365760"/>
          </a:xfrm>
          <a:prstGeom prst="rect">
            <a:avLst/>
          </a:prstGeom>
        </p:spPr>
      </p:pic>
      <p:sp>
        <p:nvSpPr>
          <p:cNvPr id="16" name="Text 12"/>
          <p:cNvSpPr/>
          <p:nvPr/>
        </p:nvSpPr>
        <p:spPr>
          <a:xfrm>
            <a:off x="6675120" y="1554480"/>
            <a:ext cx="5486400" cy="365760"/>
          </a:xfrm>
          <a:prstGeom prst="rect">
            <a:avLst/>
          </a:prstGeom>
          <a:noFill/>
          <a:ln/>
        </p:spPr>
        <p:txBody>
          <a:bodyPr wrap="square" lIns="0" tIns="0" rIns="0" bIns="0" rtlCol="0" anchor="ctr"/>
          <a:lstStyle/>
          <a:p>
            <a:pPr indent="0" marL="0">
              <a:buNone/>
            </a:pPr>
            <a:r>
              <a:rPr lang="en-US" sz="1800" b="1" dirty="0">
                <a:solidFill>
                  <a:srgbClr val="1A2E23"/>
                </a:solidFill>
                <a:latin typeface="Georgia" pitchFamily="34" charset="0"/>
                <a:ea typeface="Georgia" pitchFamily="34" charset="-122"/>
                <a:cs typeface="Georgia" pitchFamily="34" charset="-120"/>
              </a:rPr>
              <a:t>The one thing I'd build in Week 1</a:t>
            </a:r>
            <a:endParaRPr lang="en-US" sz="1800" dirty="0"/>
          </a:p>
        </p:txBody>
      </p:sp>
      <p:sp>
        <p:nvSpPr>
          <p:cNvPr id="17" name="Shape 13"/>
          <p:cNvSpPr/>
          <p:nvPr/>
        </p:nvSpPr>
        <p:spPr>
          <a:xfrm>
            <a:off x="6217920" y="2057400"/>
            <a:ext cx="5486400" cy="2286000"/>
          </a:xfrm>
          <a:prstGeom prst="rect">
            <a:avLst/>
          </a:prstGeom>
          <a:solidFill>
            <a:srgbClr val="1B4332"/>
          </a:solidFill>
          <a:ln/>
        </p:spPr>
      </p:sp>
      <p:sp>
        <p:nvSpPr>
          <p:cNvPr id="18" name="Shape 14"/>
          <p:cNvSpPr/>
          <p:nvPr/>
        </p:nvSpPr>
        <p:spPr>
          <a:xfrm>
            <a:off x="6217920" y="2057400"/>
            <a:ext cx="73152" cy="2286000"/>
          </a:xfrm>
          <a:prstGeom prst="rect">
            <a:avLst/>
          </a:prstGeom>
          <a:solidFill>
            <a:srgbClr val="F4A261"/>
          </a:solidFill>
          <a:ln/>
        </p:spPr>
      </p:sp>
      <p:sp>
        <p:nvSpPr>
          <p:cNvPr id="19" name="Text 15"/>
          <p:cNvSpPr/>
          <p:nvPr/>
        </p:nvSpPr>
        <p:spPr>
          <a:xfrm>
            <a:off x="6446520" y="2194560"/>
            <a:ext cx="5212080" cy="41148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Daily pacing &amp; ROAS Slack bot</a:t>
            </a:r>
            <a:endParaRPr lang="en-US" sz="1700" dirty="0"/>
          </a:p>
        </p:txBody>
      </p:sp>
      <p:sp>
        <p:nvSpPr>
          <p:cNvPr id="20" name="Text 16"/>
          <p:cNvSpPr/>
          <p:nvPr/>
        </p:nvSpPr>
        <p:spPr>
          <a:xfrm>
            <a:off x="6446520" y="2606040"/>
            <a:ext cx="5212080" cy="1600200"/>
          </a:xfrm>
          <a:prstGeom prst="rect">
            <a:avLst/>
          </a:prstGeom>
          <a:noFill/>
          <a:ln/>
        </p:spPr>
        <p:txBody>
          <a:bodyPr wrap="square" lIns="0" tIns="0" rIns="0" bIns="0" rtlCol="0" anchor="t"/>
          <a:lstStyle/>
          <a:p>
            <a:pPr indent="0" marL="0">
              <a:buNone/>
            </a:pPr>
            <a:r>
              <a:rPr lang="en-US" sz="1200" dirty="0">
                <a:solidFill>
                  <a:srgbClr val="FFFFFF"/>
                </a:solidFill>
                <a:latin typeface="Calibri Light" pitchFamily="34" charset="0"/>
                <a:ea typeface="Calibri Light" pitchFamily="34" charset="-122"/>
                <a:cs typeface="Calibri Light" pitchFamily="34" charset="-120"/>
              </a:rPr>
              <a:t>Python + Google Ads API + Slack webhook. At 09:00 it posts yesterday's spend, revenue, orders and ROAS broken out by campaign. Red if any campaign is &lt;1.3× ROAS or pacing ±20% off budget. One screenshot per day that replaces a spreadsheet check.</a:t>
            </a:r>
            <a:endParaRPr lang="en-US" sz="1200" dirty="0"/>
          </a:p>
          <a:p>
            <a:pPr indent="0" marL="0">
              <a:buNone/>
            </a:pPr>
            <a:r>
              <a:rPr lang="en-US" sz="600" dirty="0">
                <a:solidFill>
                  <a:srgbClr val="000000"/>
                </a:solidFill>
                <a:latin typeface="Calibri Light" pitchFamily="34" charset="0"/>
                <a:ea typeface="Calibri Light" pitchFamily="34" charset="-122"/>
                <a:cs typeface="Calibri Light" pitchFamily="34" charset="-120"/>
              </a:rPr>
              <a:t>
</a:t>
            </a:r>
            <a:endParaRPr lang="en-US" sz="1200" dirty="0"/>
          </a:p>
          <a:p>
            <a:pPr indent="0" marL="0">
              <a:buNone/>
            </a:pPr>
            <a:r>
              <a:rPr lang="en-US" sz="1200" b="1" i="1" dirty="0">
                <a:solidFill>
                  <a:srgbClr val="F4A261"/>
                </a:solidFill>
                <a:latin typeface="Calibri Light" pitchFamily="34" charset="0"/>
                <a:ea typeface="Calibri Light" pitchFamily="34" charset="-122"/>
                <a:cs typeface="Calibri Light" pitchFamily="34" charset="-120"/>
              </a:rPr>
              <a:t>Build time: 1 evening. Saves 15 min/day. Pays for itself Week 1.</a:t>
            </a:r>
            <a:endParaRPr lang="en-US" sz="1200" dirty="0"/>
          </a:p>
        </p:txBody>
      </p:sp>
      <p:sp>
        <p:nvSpPr>
          <p:cNvPr id="21" name="Text 17"/>
          <p:cNvSpPr/>
          <p:nvPr/>
        </p:nvSpPr>
        <p:spPr>
          <a:xfrm>
            <a:off x="6217920" y="4572000"/>
            <a:ext cx="5486400" cy="274320"/>
          </a:xfrm>
          <a:prstGeom prst="rect">
            <a:avLst/>
          </a:prstGeom>
          <a:noFill/>
          <a:ln/>
        </p:spPr>
        <p:txBody>
          <a:bodyPr wrap="square" lIns="0" tIns="0" rIns="0" bIns="0" rtlCol="0" anchor="ctr"/>
          <a:lstStyle/>
          <a:p>
            <a:pPr indent="0" marL="0">
              <a:buNone/>
            </a:pPr>
            <a:r>
              <a:rPr lang="en-US" sz="1000" b="1" spc="300" kern="0" dirty="0">
                <a:solidFill>
                  <a:srgbClr val="E76F51"/>
                </a:solidFill>
                <a:latin typeface="Calibri" pitchFamily="34" charset="0"/>
                <a:ea typeface="Calibri" pitchFamily="34" charset="-122"/>
                <a:cs typeface="Calibri" pitchFamily="34" charset="-120"/>
              </a:rPr>
              <a:t>WHY NOT A LIST OF FIVE MORE</a:t>
            </a:r>
            <a:endParaRPr lang="en-US" sz="1000" dirty="0"/>
          </a:p>
        </p:txBody>
      </p:sp>
      <p:sp>
        <p:nvSpPr>
          <p:cNvPr id="22" name="Text 18"/>
          <p:cNvSpPr/>
          <p:nvPr/>
        </p:nvSpPr>
        <p:spPr>
          <a:xfrm>
            <a:off x="6217920" y="4846320"/>
            <a:ext cx="5486400" cy="1371600"/>
          </a:xfrm>
          <a:prstGeom prst="rect">
            <a:avLst/>
          </a:prstGeom>
          <a:noFill/>
          <a:ln/>
        </p:spPr>
        <p:txBody>
          <a:bodyPr wrap="square" lIns="0" tIns="0" rIns="0" bIns="0" rtlCol="0" anchor="t"/>
          <a:lstStyle/>
          <a:p>
            <a:pPr indent="0" marL="0">
              <a:buNone/>
            </a:pPr>
            <a:r>
              <a:rPr lang="en-US" sz="1150" i="1" dirty="0">
                <a:solidFill>
                  <a:srgbClr val="1A2E23"/>
                </a:solidFill>
                <a:latin typeface="Calibri Light" pitchFamily="34" charset="0"/>
                <a:ea typeface="Calibri Light" pitchFamily="34" charset="-122"/>
                <a:cs typeface="Calibri Light" pitchFamily="34" charset="-120"/>
              </a:rPr>
              <a:t>Search-term harvesting, feed generation, translation pipelines — I have ideas, but automating things I don't have data for yet is how teams build shelfware. These come in Week 4+ once I know what the real failure modes look like.</a:t>
            </a:r>
            <a:endParaRPr lang="en-US" sz="1150" dirty="0"/>
          </a:p>
        </p:txBody>
      </p:sp>
      <p:sp>
        <p:nvSpPr>
          <p:cNvPr id="23" name="Shape 19"/>
          <p:cNvSpPr/>
          <p:nvPr/>
        </p:nvSpPr>
        <p:spPr>
          <a:xfrm>
            <a:off x="457200" y="6217920"/>
            <a:ext cx="11247120" cy="320040"/>
          </a:xfrm>
          <a:prstGeom prst="rect">
            <a:avLst/>
          </a:prstGeom>
          <a:solidFill>
            <a:srgbClr val="D8F3DC"/>
          </a:solidFill>
          <a:ln/>
        </p:spPr>
      </p:sp>
      <p:sp>
        <p:nvSpPr>
          <p:cNvPr id="24" name="Text 20"/>
          <p:cNvSpPr/>
          <p:nvPr/>
        </p:nvSpPr>
        <p:spPr>
          <a:xfrm>
            <a:off x="685800" y="6245352"/>
            <a:ext cx="10972800" cy="274320"/>
          </a:xfrm>
          <a:prstGeom prst="rect">
            <a:avLst/>
          </a:prstGeom>
          <a:noFill/>
          <a:ln/>
        </p:spPr>
        <p:txBody>
          <a:bodyPr wrap="square" lIns="0" tIns="0" rIns="0" bIns="0" rtlCol="0" anchor="ctr"/>
          <a:lstStyle/>
          <a:p>
            <a:pPr indent="0" marL="0">
              <a:buNone/>
            </a:pPr>
            <a:r>
              <a:rPr lang="en-US" sz="1100" dirty="0">
                <a:solidFill>
                  <a:srgbClr val="1B4332"/>
                </a:solidFill>
                <a:latin typeface="Calibri" pitchFamily="34" charset="0"/>
                <a:ea typeface="Calibri" pitchFamily="34" charset="-122"/>
                <a:cs typeface="Calibri" pitchFamily="34" charset="-120"/>
              </a:rPr>
              <a:t>Full notebook, data, and this deck: </a:t>
            </a:r>
            <a:pPr indent="0" marL="0">
              <a:buNone/>
            </a:pPr>
            <a:r>
              <a:rPr lang="en-US" sz="1100" b="1" dirty="0">
                <a:solidFill>
                  <a:srgbClr val="2D6A4F"/>
                </a:solidFill>
                <a:latin typeface="Calibri" pitchFamily="34" charset="0"/>
                <a:ea typeface="Calibri" pitchFamily="34" charset="-122"/>
                <a:cs typeface="Calibri" pitchFamily="34" charset="-120"/>
              </a:rPr>
              <a:t>github.com/willbebettertoday/dogsuppy-no-case-study</a:t>
            </a:r>
            <a:pPr indent="0" marL="0">
              <a:buNone/>
            </a:pPr>
            <a:r>
              <a:rPr lang="en-US" sz="1100" i="1" dirty="0">
                <a:solidFill>
                  <a:srgbClr val="1B4332"/>
                </a:solidFill>
                <a:latin typeface="Calibri" pitchFamily="34" charset="0"/>
                <a:ea typeface="Calibri" pitchFamily="34" charset="-122"/>
                <a:cs typeface="Calibri" pitchFamily="34" charset="-120"/>
              </a:rPr>
              <a:t>  ·  Happy to walk through any slide over coffee.</a:t>
            </a:r>
            <a:endParaRPr lang="en-US" sz="1100" dirty="0"/>
          </a:p>
        </p:txBody>
      </p:sp>
      <p:sp>
        <p:nvSpPr>
          <p:cNvPr id="25" name="Text 21"/>
          <p:cNvSpPr/>
          <p:nvPr/>
        </p:nvSpPr>
        <p:spPr>
          <a:xfrm>
            <a:off x="457200" y="6537960"/>
            <a:ext cx="9144000" cy="228600"/>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Dental Bright → Norway  ·  Danil Sysenko  ·  April 2026</a:t>
            </a:r>
            <a:endParaRPr lang="en-US" sz="900" dirty="0"/>
          </a:p>
        </p:txBody>
      </p:sp>
      <p:sp>
        <p:nvSpPr>
          <p:cNvPr id="26" name="Text 22"/>
          <p:cNvSpPr/>
          <p:nvPr/>
        </p:nvSpPr>
        <p:spPr>
          <a:xfrm>
            <a:off x="11247120" y="6537960"/>
            <a:ext cx="548640" cy="228600"/>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 Bright → Norway case study</dc:title>
  <dc:subject>PptxGenJS Presentation</dc:subject>
  <dc:creator>Danil Sysenko</dc:creator>
  <cp:lastModifiedBy>Danil Sysenko</cp:lastModifiedBy>
  <cp:revision>1</cp:revision>
  <dcterms:created xsi:type="dcterms:W3CDTF">2026-04-19T18:30:05Z</dcterms:created>
  <dcterms:modified xsi:type="dcterms:W3CDTF">2026-04-19T18:30:05Z</dcterms:modified>
</cp:coreProperties>
</file>